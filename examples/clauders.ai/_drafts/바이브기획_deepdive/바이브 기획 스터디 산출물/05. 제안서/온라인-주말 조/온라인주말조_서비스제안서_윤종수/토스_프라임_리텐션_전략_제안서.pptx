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"/>
            <a:ext cx="3200400" cy="3200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01168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INVESTOR PROPOSAL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토스 프라임 멤버십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리텐션 상승 전략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UX 심리학 기반 12대 핵심 전략으로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멤버십을 생활 필수품으로 전환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2026  |  토스 프라임 멤버십팀  |  Investor Briefing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2286000" cy="502920"/>
          </a:xfrm>
          <a:prstGeom prst="rect">
            <a:avLst/>
          </a:prstGeom>
          <a:solidFill>
            <a:srgbClr val="1A357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752344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12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핵심 전략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3337560"/>
            <a:ext cx="2286000" cy="502920"/>
          </a:xfrm>
          <a:prstGeom prst="rect">
            <a:avLst/>
          </a:prstGeom>
          <a:solidFill>
            <a:srgbClr val="1A357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3346704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↑30%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목표 리텐션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3931920"/>
            <a:ext cx="2286000" cy="502920"/>
          </a:xfrm>
          <a:prstGeom prst="rect">
            <a:avLst/>
          </a:prstGeom>
          <a:solidFill>
            <a:srgbClr val="1A357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941064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₩38K+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월 절약 가치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문제 인식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프라임 멤버십 해지율 증가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혜택 인지도·활용도 낮음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단순 구독 서비스 이미지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전략 방향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7830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UX 심리학 12대 원칙 적용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습관 형성 → 정체성 강화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이탈 방어 + 감성 연결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기대 효과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7830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Day 90 리텐션 30%↑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월 혜택 사용 3배↑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"생활 필수품" 브랜드 전환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온보딩 전략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초기 가치 각인으로 7일 내 핵심 혜택 경험 유도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Progress Bar Effect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첫 ATM 무료 출금 경험하기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292608" cy="29260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231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프라임 전용 이벤트 참여하기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154680"/>
            <a:ext cx="292608" cy="29260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친구에게 혜택 공유하기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3383280"/>
            <a:ext cx="35661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383280"/>
            <a:ext cx="1188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33% 완료 — 보상까지 2단계 남음!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1430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143000"/>
            <a:ext cx="4114800" cy="41148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Endowed Progress Effect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737360"/>
            <a:ext cx="374904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7739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레벨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17739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⭐ 현재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084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가입 즉시 부여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560320"/>
            <a:ext cx="37490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59689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레벨 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29077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30일 사용 시 승급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37490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198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레벨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3730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90일 사용 시 VIP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206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9488"/>
                </a:solidFill>
              </a:rPr>
              <a:t>→ 이미 시작된 느낌으로 이탈 방지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습관 형성: Hooked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011680" cy="3566160"/>
          </a:xfrm>
          <a:prstGeom prst="rect">
            <a:avLst/>
          </a:prstGeom>
          <a:solidFill>
            <a:srgbClr val="1A357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</a:rPr>
              <a:t>Trigger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트리거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매주 월요일 '이번 주 혜택' 푸시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결제 시점 실시간 절약액 표시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상황 연결 내부 트리거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651760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514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1143000"/>
            <a:ext cx="2011680" cy="3566160"/>
          </a:xfrm>
          <a:prstGeom prst="rect">
            <a:avLst/>
          </a:prstGeom>
          <a:solidFill>
            <a:srgbClr val="1A357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43000"/>
            <a:ext cx="201168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</a:rPr>
              <a:t>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5603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행동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27432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혜택 사용 원클릭 설계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자주 쓰는 혜택 홈 화면 배치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마찰 최소화로 즉시 사용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651760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514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2011680" cy="3566160"/>
          </a:xfrm>
          <a:prstGeom prst="rect">
            <a:avLst/>
          </a:prstGeom>
          <a:solidFill>
            <a:srgbClr val="1A357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43000"/>
            <a:ext cx="20116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</a:rPr>
              <a:t>Variable Reward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🎲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75488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가변적 보상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7432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매주 랜덤 추가 혜택 제공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월 1회 '프라임 럭키박스'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예측 불가 서프라이즈 혜택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2651760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5146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1143000"/>
            <a:ext cx="2011680" cy="3566160"/>
          </a:xfrm>
          <a:prstGeom prst="rect">
            <a:avLst/>
          </a:prstGeom>
          <a:solidFill>
            <a:srgbClr val="1A357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1143000"/>
            <a:ext cx="201168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</a:rPr>
              <a:t>Investment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💎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94944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투자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86600" y="27432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혜택 히스토리 누적 표시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총 절약 금액 시각화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맞춤 혜택 프로필 저장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70916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💡 Hooked Model 완성 시 → 사용자가 스스로 돌아오는 자기강화 사이클 형성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손실 회피 &amp; 매몰 비용 효과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4572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나의 프라임 리포트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114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가입일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2024.03.15 (324일째)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총 절약 금액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₩156,780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114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사용한 혜택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47회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프라임 레벨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⭐⭐⭐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114800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해지하면 사라지는 혜택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023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레벨 3 우대금리 (+0.3%)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누적 포인트 12,450P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VIP 이벤트 참여 자격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43000"/>
            <a:ext cx="41148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Loss Aversion 해지 화면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1645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⏰ 해지 전 확인하세요!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이번 달 혜택 기한: 3일 남음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사용 안 한 쿠폰: 2개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다음 달 예정: VIP 이벤트 초대 🎫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83464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834640"/>
            <a:ext cx="4114800" cy="41148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8346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심리학적 근거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3375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손실에 대한 심리적 무게는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이익보다 2배 크다 (Kahneman)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→ 해지 화면에서 '잃게 되는 것'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시각화로 이탈률 평균 25~35%↓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게임화 &amp; 사회적 증거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🏆 이번 달 챌린지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10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7190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ATM 출금 3회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83280" y="171907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1/3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2112264"/>
            <a:ext cx="329184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112264"/>
            <a:ext cx="109728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23744"/>
            <a:ext cx="256032" cy="25603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4323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제휴 쇼핑 1회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24323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0/1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2825496"/>
            <a:ext cx="329184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236976"/>
            <a:ext cx="256032" cy="25603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36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1455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친구 1명 초대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314553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0/1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" y="3538728"/>
            <a:ext cx="329184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840480"/>
            <a:ext cx="379476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862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완료 시: 다음 달 50% 할인 + 보너스 포인트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🔥 연속 3개월 = 특별 배지, 6개월 = 1개월 무료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1430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143000"/>
            <a:ext cx="4114800" cy="438912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1430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💬 실시간 멤버 활동 피드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1737360"/>
            <a:ext cx="3749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7556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방금 ATM 수수료 ₩3,000 절약!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20391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5분 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423160"/>
            <a:ext cx="3749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441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해외여행 보험 덕분에 안심 ✈️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27249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12분 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108960"/>
            <a:ext cx="3749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1272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커피 할인으로 ₩15,000 절약 중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4107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1시간 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858768"/>
            <a:ext cx="4114800" cy="56692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8587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👥 오늘 12,453명이 프라임 혜택 사용 중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4498848"/>
            <a:ext cx="41148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49884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3570"/>
                </a:solidFill>
              </a:rPr>
              <a:t>→ FOMO(놓침 불안) 유발로 재방문율 향상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앵커링 &amp; 프레이밍 전략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2743200"/>
          </a:xfrm>
          <a:prstGeom prst="rect">
            <a:avLst/>
          </a:prstGeom>
          <a:solidFill>
            <a:srgbClr val="1A357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가격 재구성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749040" cy="384048"/>
          </a:xfrm>
          <a:prstGeom prst="rect">
            <a:avLst/>
          </a:prstGeom>
          <a:solidFill>
            <a:srgbClr val="3D151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✗ </a:t>
            </a:r>
            <a:pPr indent="0" marL="0">
              <a:buNone/>
            </a:pPr>
            <a:r>
              <a:rPr lang="en-US" sz="1250" dirty="0">
                <a:solidFill>
                  <a:srgbClr val="FF6B6B"/>
                </a:solidFill>
              </a:rPr>
              <a:t>월 ₩5,900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67128"/>
            <a:ext cx="3749040" cy="384048"/>
          </a:xfrm>
          <a:prstGeom prst="rect">
            <a:avLst/>
          </a:prstGeom>
          <a:solidFill>
            <a:srgbClr val="0D30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67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✓ </a:t>
            </a:r>
            <a:pPr indent="0" marL="0">
              <a:buNone/>
            </a:pPr>
            <a:r>
              <a:rPr lang="en-US" sz="1250" dirty="0">
                <a:solidFill>
                  <a:srgbClr val="14B8A6"/>
                </a:solidFill>
              </a:rPr>
              <a:t>하루 ₩197로 무제한 혜택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42616"/>
            <a:ext cx="3749040" cy="384048"/>
          </a:xfrm>
          <a:prstGeom prst="rect">
            <a:avLst/>
          </a:prstGeom>
          <a:solidFill>
            <a:srgbClr val="0D30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426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✓ </a:t>
            </a:r>
            <a:pPr indent="0" marL="0">
              <a:buNone/>
            </a:pPr>
            <a:r>
              <a:rPr lang="en-US" sz="1250" dirty="0">
                <a:solidFill>
                  <a:srgbClr val="14B8A6"/>
                </a:solidFill>
              </a:rPr>
              <a:t>커피 1.5잔 가격으로 한 달 프라임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118104"/>
            <a:ext cx="3749040" cy="384048"/>
          </a:xfrm>
          <a:prstGeom prst="rect">
            <a:avLst/>
          </a:prstGeom>
          <a:solidFill>
            <a:srgbClr val="0D30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181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✓ </a:t>
            </a:r>
            <a:pPr indent="0" marL="0">
              <a:buNone/>
            </a:pPr>
            <a:r>
              <a:rPr lang="en-US" sz="1250" dirty="0">
                <a:solidFill>
                  <a:srgbClr val="14B8A6"/>
                </a:solidFill>
              </a:rPr>
              <a:t>1번만 써도 본전!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114800" cy="2743200"/>
          </a:xfrm>
          <a:prstGeom prst="rect">
            <a:avLst/>
          </a:prstGeom>
          <a:solidFill>
            <a:srgbClr val="1A357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혜택 가치 비교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1664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일반  vs      프라임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029968"/>
            <a:ext cx="3749040" cy="347472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029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ATM 출금 3회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0299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₩9,000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2029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₩0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432304"/>
            <a:ext cx="3749040" cy="347472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323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계좌이체 10회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4323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₩5,000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24323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₩0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834640"/>
            <a:ext cx="3749040" cy="347472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834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해외송금 1회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8346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₩30,000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28346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₩0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273552"/>
            <a:ext cx="37490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735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실질 이득 ₩38,100 / 월 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Peak-End Rule: 월말 '프라임 리포트' 자동 생성 → 절약 금액 시각화 → 기념일 이벤트로 감동 포인트 설계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해지 방어 &amp; 개인화 전략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75488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Retention 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73936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73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7190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미사용 혜택 보여주기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665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"이번 달 이것 안 써봤어요!"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" y="2057400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예정 가치 제시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6791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"다음 달 특별 혜택이 기다려요"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" y="2670048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99923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9443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50% 할인 제안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291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"1개월만 더 써보시겠어요?"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" y="328269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5570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맞춤 해결책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904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"수수료가 비싸요" → 3개월 30% 할인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" y="3895344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224528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1696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휴면 옵션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517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해지 대신 1개월 쉬어가기 제안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03520" y="114300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03520" y="1143000"/>
            <a:ext cx="3474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11430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개인화 추천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40680" y="1719072"/>
            <a:ext cx="32004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171907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✈️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943600" y="1764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70"/>
                </a:solidFill>
              </a:rPr>
              <a:t>사용자 A — 해외여행 多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0" y="2112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→ 해외 혜택 집중 노출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40680" y="2587752"/>
            <a:ext cx="32004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258775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🛵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943600" y="2633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70"/>
                </a:solidFill>
              </a:rPr>
              <a:t>사용자 B — 배달 多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43600" y="2980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→ 배달 할인 강조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40680" y="3456432"/>
            <a:ext cx="32004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345643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943600" y="3502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70"/>
                </a:solidFill>
              </a:rPr>
              <a:t>사용자 C — ATM 多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43600" y="38496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→ 수수료 절감액 강조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40680" y="4370832"/>
            <a:ext cx="32004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0680" y="43708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사용 패턴 분석 → 적시 푸시 알림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&amp; 실행 로드맵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1280160"/>
          </a:xfrm>
          <a:prstGeom prst="rect">
            <a:avLst/>
          </a:prstGeom>
          <a:solidFill>
            <a:srgbClr val="0B1F4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30%↑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Day 90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Retention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143000"/>
            <a:ext cx="1920240" cy="1280160"/>
          </a:xfrm>
          <a:prstGeom prst="rect">
            <a:avLst/>
          </a:prstGeom>
          <a:solidFill>
            <a:srgbClr val="0B1F4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월 혜택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사용 횟수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1920240" cy="1280160"/>
          </a:xfrm>
          <a:prstGeom prst="rect">
            <a:avLst/>
          </a:prstGeom>
          <a:solidFill>
            <a:srgbClr val="0B1F4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↓40%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해지율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(Churn)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1920240" cy="1280160"/>
          </a:xfrm>
          <a:prstGeom prst="rect">
            <a:avLst/>
          </a:prstGeom>
          <a:solidFill>
            <a:srgbClr val="0B1F4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50↑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4944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순추천지수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8412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06040"/>
            <a:ext cx="8412480" cy="41148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실행 로드맵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804672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31363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38328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01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1~2개월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8587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온보딩 재설계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Hooked Model 구축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프라임 대시보드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1363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338328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401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3~4개월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8587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게임화 시스템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해지 방어 플로우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Social Feed 오픈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0" y="3136392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338328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401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5~6개월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38587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AI 개인화 엔진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커뮤니티 기능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연간 VIP 프로그램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* Day 7, 30, 90 Retention | Churn Rate | Feature Adoption Rate | NPS 지속 추적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5486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프라임을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생활 필수품으로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UX 심리학 12대 원칙 기반 전략으로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리텐션을 구조적으로 개선합니다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45920" y="3383280"/>
            <a:ext cx="1188720" cy="11887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3832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45920" y="4069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심리학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설계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3383280"/>
            <a:ext cx="1188720" cy="11887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33832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4069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습관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형성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1188720" cy="11887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3832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💎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4069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가치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각인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916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© 2026 Toss Prime Membership Team  |  본 자료는 투자자 대상 제안서입니다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토스 프라임 멤버십 리텐션 전략 제안서</dc:title>
  <dc:subject>PptxGenJS Presentation</dc:subject>
  <dc:creator>PptxGenJS</dc:creator>
  <cp:lastModifiedBy>PptxGenJS</cp:lastModifiedBy>
  <cp:revision>1</cp:revision>
  <dcterms:created xsi:type="dcterms:W3CDTF">2026-02-22T06:56:23Z</dcterms:created>
  <dcterms:modified xsi:type="dcterms:W3CDTF">2026-02-22T06:56:23Z</dcterms:modified>
</cp:coreProperties>
</file>