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QjnkIxAqXGUqXs4q+44zCJ4PA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46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D3B8F">
              <a:alpha val="60000"/>
            </a:srgbClr>
          </a:solidFill>
          <a:ln cap="flat" cmpd="sng" w="12700">
            <a:solidFill>
              <a:srgbClr val="0D3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0" y="3200400"/>
            <a:ext cx="1828800" cy="1828800"/>
          </a:xfrm>
          <a:prstGeom prst="ellipse">
            <a:avLst/>
          </a:prstGeom>
          <a:solidFill>
            <a:srgbClr val="00BCD4">
              <a:alpha val="40000"/>
            </a:srgbClr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914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057400"/>
            <a:ext cx="914400" cy="4572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21945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F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8C8F0"/>
                </a:solidFill>
                <a:latin typeface="Calibri"/>
                <a:ea typeface="Calibri"/>
                <a:cs typeface="Calibri"/>
                <a:sym typeface="Calibri"/>
              </a:rPr>
              <a:t>가입 · 이용 · 해지 전 단계 UX 개선을 통한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57860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전환율 1% → 3% 달성 로드맵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200400"/>
            <a:ext cx="1828800" cy="292608"/>
          </a:xfrm>
          <a:prstGeom prst="roundRect">
            <a:avLst>
              <a:gd fmla="val 46875" name="adj"/>
            </a:avLst>
          </a:prstGeom>
          <a:solidFill>
            <a:srgbClr val="1565C0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32004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UX 개선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560320" y="3200400"/>
            <a:ext cx="1828800" cy="292608"/>
          </a:xfrm>
          <a:prstGeom prst="roundRect">
            <a:avLst>
              <a:gd fmla="val 46875" name="adj"/>
            </a:avLst>
          </a:prstGeom>
          <a:solidFill>
            <a:srgbClr val="1565C0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560320" y="32004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정책 재설계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0" y="3200400"/>
            <a:ext cx="1828800" cy="292608"/>
          </a:xfrm>
          <a:prstGeom prst="roundRect">
            <a:avLst>
              <a:gd fmla="val 46875" name="adj"/>
            </a:avLst>
          </a:prstGeom>
          <a:solidFill>
            <a:srgbClr val="1565C0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572000" y="32004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전환율 3배 목표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A8D8"/>
                </a:solidFill>
                <a:latin typeface="Calibri"/>
                <a:ea typeface="Calibri"/>
                <a:cs typeface="Calibri"/>
                <a:sym typeface="Calibri"/>
              </a:rPr>
              <a:t>Product Planning Team  |  2026.01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3B8F"/>
          </a:solidFill>
          <a:ln cap="flat" cmpd="sng" w="12700">
            <a:solidFill>
              <a:srgbClr val="0D3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FA8D8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137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핵심 문제와 해결 방향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" y="1051560"/>
            <a:ext cx="27432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20040" y="11887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2,480만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0040" y="1755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Toss MAU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2004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국민 10명 중 6명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46120" y="1051560"/>
            <a:ext cx="27432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46120" y="1051560"/>
            <a:ext cx="2743200" cy="54864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246120" y="11887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30만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46120" y="1755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토스프라임 가입자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4612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전환율 1% 불과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172200" y="1051560"/>
            <a:ext cx="27432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172200" y="1051560"/>
            <a:ext cx="274320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172200" y="11887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3배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172200" y="1755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목표 전환율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7220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1% → 3% 달성 목표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0040" y="2788920"/>
            <a:ext cx="8503920" cy="8229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0040" y="2788920"/>
            <a:ext cx="54864" cy="82296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02920" y="2816352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핵심 진단: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토스는 쿠팡·네이버와 대등한 MAU를 보유하지만, 전환율은 경쟁사 대비 현저히 낮습니다. 이는 시장 구조가 아닌 </a:t>
            </a:r>
            <a:r>
              <a:rPr b="1" i="0" lang="en-US" sz="11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UX·정책 설계의 문제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로, 7가지 Pain Point 해소만으로 전환율 3배 달성이 가능합니다.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0040" y="3749040"/>
            <a:ext cx="2011680" cy="457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20040" y="3749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가입: 즉시 혜택 + 개인화 시뮬레이션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468880" y="3749040"/>
            <a:ext cx="2011680" cy="45720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468880" y="3749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이용: 실시간 대시보드 + 알림 체계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617720" y="3749040"/>
            <a:ext cx="2011680" cy="457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617720" y="3749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해지: 중립 플로우 + 환불 정책 개선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766560" y="3749040"/>
            <a:ext cx="2011680" cy="4572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766560" y="3749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기대: 전환율 3배, NPS 대폭 개선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시장 현황 &amp; 경쟁사 심층 분석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5760" y="109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Market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0040" y="685800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20040" y="685800"/>
            <a:ext cx="2697480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11480" y="7498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" y="9601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6조 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0040" y="129844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한국 핀테크 전체 시장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(4.17B USD)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200400" y="685800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200400" y="685800"/>
            <a:ext cx="2697480" cy="4572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291840" y="7498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00400" y="9601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2,000~3,000억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00400" y="129844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핀테크 구독·멤버십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수익 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080760" y="685800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080760" y="685800"/>
            <a:ext cx="2697480" cy="457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172200" y="7498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080760" y="9601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300~600억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080760" y="129844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실질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공략 가능 시장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0040" y="192024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현재 토스프라임 연간 매출 추정 156~216억 원 → SOM의 30~70% 수준, 성장 여지 충분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0040" y="2212848"/>
            <a:ext cx="8503920" cy="292608"/>
          </a:xfrm>
          <a:prstGeom prst="rect">
            <a:avLst/>
          </a:prstGeom>
          <a:solidFill>
            <a:srgbClr val="0A2463"/>
          </a:solidFill>
          <a:ln cap="flat" cmpd="sng" w="12700">
            <a:solidFill>
              <a:srgbClr val="0A2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20040" y="221284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417320" y="2212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가입자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606040" y="221284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특징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251960" y="2212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월 가격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074920" y="2212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적립율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897880" y="2212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전환율*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720840" y="2212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강점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20040" y="2505456"/>
            <a:ext cx="850392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20040" y="250545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쿠팡 로켓와우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417320" y="250545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수천만 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606040" y="2505456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배송+OTT 번들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251960" y="25054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7,890원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074920" y="25054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897880" y="25054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추정 10%+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720840" y="250545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번들 효과 최고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320040" y="28346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네이버플러스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417320" y="28346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수백만~천만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606040" y="28346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쇼핑+콘텐츠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251960" y="283464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4,900원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074920" y="283464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최대 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897880" y="283464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추정 5~10%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720840" y="28346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쇼핑 연동 강력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20040" y="3163824"/>
            <a:ext cx="8503920" cy="32004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20040" y="3163824"/>
            <a:ext cx="45720" cy="3200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320040" y="3163824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토스프라임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417320" y="3163824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약 30만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606040" y="316382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금융</a:t>
            </a: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+쇼핑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251960" y="3163824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5,900원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074920" y="3163824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최대 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897880" y="3163824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약 1%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720840" y="3163824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금융 </a:t>
            </a: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및 쇼핑</a:t>
            </a: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데이터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20040" y="44348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* 전환율: 비공개 지표로 공식 데이터 없음. 업계 리포트·IR 자료 기반 내부 추정치이며, 실제와 다를 수 있음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20040" y="4663440"/>
            <a:ext cx="8503920" cy="301752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ED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57200" y="4663440"/>
            <a:ext cx="8321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💡  핵심: 번들 모델(배송+콘텐츠+결제)은 전환율 10%+ 달성.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3단계 7가지 Pain Point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20040" y="841248"/>
            <a:ext cx="2788920" cy="3200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20040" y="84124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🚪  가입 단계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20040" y="1234440"/>
            <a:ext cx="27889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320040" y="1234440"/>
            <a:ext cx="45720" cy="10058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2697480" y="1307592"/>
            <a:ext cx="274320" cy="27432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2697480" y="13075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29768" y="1325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적용 시점 불일치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29768" y="16184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결제 즉시 vs 혜택 다음날 00시 (최대 24시간 공백)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20040" y="2350008"/>
            <a:ext cx="27889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320040" y="2350008"/>
            <a:ext cx="45720" cy="10058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2697480" y="2423160"/>
            <a:ext cx="274320" cy="27432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2697480" y="24231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29768" y="24414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시뮬레이션 부재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29768" y="2734056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일반 혜택 나열만 있고 '나에게 이득인지' 판단 불가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246120" y="841248"/>
            <a:ext cx="2788920" cy="32004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3246120" y="84124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이용 단계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246120" y="1234440"/>
            <a:ext cx="27889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3246120" y="1234440"/>
            <a:ext cx="45720" cy="100584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623560" y="1307592"/>
            <a:ext cx="274320" cy="274320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5623560" y="13075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355848" y="1325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적립 구조 복잡성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355848" y="16184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2단계 차등 적립, 구간 전환 알림 없음, 잔여 한도 직접 계산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246120" y="2350008"/>
            <a:ext cx="27889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3246120" y="2350008"/>
            <a:ext cx="45720" cy="100584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623560" y="2423160"/>
            <a:ext cx="274320" cy="274320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623560" y="24231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3355848" y="24414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인지 및 활용도 저하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355848" y="2734056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쿠폰 발급 알림 없어 모르고 소멸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246120" y="3465576"/>
            <a:ext cx="27889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3246120" y="3465576"/>
            <a:ext cx="45720" cy="100584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623560" y="3538728"/>
            <a:ext cx="274320" cy="274320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623560" y="35387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3355848" y="355701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포인트 출금권 혜택 후퇴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355848" y="384962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상시 무료 → 월 1회 쿠폰제로 축소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72200" y="841248"/>
            <a:ext cx="2788920" cy="3200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6172200" y="84124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🚨  해지 단계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172200" y="1234440"/>
            <a:ext cx="27889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172200" y="1234440"/>
            <a:ext cx="45720" cy="10058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8549640" y="1307592"/>
            <a:ext cx="274320" cy="27432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8549640" y="13075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6281928" y="1325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다크 패턴 의심 요소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281928" y="16184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해지까지 5단계, '혜택을 포기하시겠습니까?' 부정적 워딩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172200" y="2350008"/>
            <a:ext cx="278892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172200" y="2350008"/>
            <a:ext cx="45720" cy="10058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8549640" y="2423160"/>
            <a:ext cx="274320" cy="27432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8549640" y="24231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281928" y="24414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환불 정책의 경직성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281928" y="2734056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100원만 적립해도 5,900원 전액 환불 불가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20040" y="4480560"/>
            <a:ext cx="8503920" cy="32004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457200" y="44805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⚠  이 7가지 Pain Point는 새 기능이 아닌 '기존 혜택의 전달 방식' 개선으로 모두 해결 가능합니다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개선 기획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가입 단계 개선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20040" y="86868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혜택 즉시 적용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57200" y="1325880"/>
            <a:ext cx="914400" cy="20116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57200" y="13258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AS-IS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57200" y="1554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결제 즉시 완료 / 혜택은 다음날 00시 (최대 24시간 공백)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57200" y="2057400"/>
            <a:ext cx="914400" cy="20116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457200" y="20574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57200" y="228600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결제 완료 즉시 실시간 활성화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(실시간 회원 상태 플래그 전환)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57200" y="2788920"/>
            <a:ext cx="379476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02920" y="278892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🔧  백엔드: 구독 상태 플래그 동기식 전환 / 예상 개발 공수: 2주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57200" y="3182112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40080" y="31546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당일 이탈률  5% → 2%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57200" y="342900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640080" y="340156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첫 결제율  30% → 50%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57200" y="3675888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40080" y="364845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CS 문의  80% 감소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57200" y="446227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📊  근거: 혜택 지연은 CS 문의의 주요 원인 (내부 CS 로그 분석 기반). 즉시 활성화 구현 시 기대 효과는 A/B 테스트로 검증 예정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617720" y="86868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4617720" y="868680"/>
            <a:ext cx="411480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4617720" y="86868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개인화 혜택 시뮬레이션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754880" y="1325880"/>
            <a:ext cx="914400" cy="20116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4754880" y="13258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AS-IS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754880" y="1554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일반 혜택 리스트 나열 (동일 화면 모든 유저)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754880" y="2057400"/>
            <a:ext cx="914400" cy="20116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4754880" y="20574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754880" y="228600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최근 3개월 결제 데이터 기반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'월 순이익 +5,300원' 자동 계산 화면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754880" y="2788920"/>
            <a:ext cx="379476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4800600" y="278892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🔧  ML: 결제 데이터 집계 API / 예상 개발 공수: 4주 (데이터 파이프라인 포함)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754880" y="3182112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4937760" y="31546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가입 전환율  15% → 25%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754880" y="342900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937760" y="340156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7일 해지율  8% → 3%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754880" y="3675888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4937760" y="364845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판정 로직 3단계 제공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754880" y="446227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📊  근거: 결제 데이터 기반 개인화 시뮬레이션은 가입 전 가치 체감을 높이는 핵심 수단. 수치는 A/B 테스트(2주) 후 검증 예정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개선 기획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이용 단계 개선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20040" y="841248"/>
            <a:ext cx="2743200" cy="3977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320040" y="841248"/>
            <a:ext cx="2743200" cy="347472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320040" y="84124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실시간 적립 대시보드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57200" y="12618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57200" y="14630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프로그레스 바 + '5만원 더 쓰면 4% 구간 완료!' + 구간 전환 푸시 알림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57200" y="2103120"/>
            <a:ext cx="24688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502920" y="21031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🔧  프론트: 적립 구간 시각화 컴포넌트 / 3주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57200" y="2514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84632" y="2761488"/>
            <a:ext cx="109728" cy="109728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649224" y="273405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최대 적립 달성률  25% → 40%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84632" y="3017520"/>
            <a:ext cx="109728" cy="109728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649224" y="29900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CS 문의  300건 → 100건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29768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0"/>
              <a:buFont typeface="Calibri"/>
              <a:buNone/>
            </a:pPr>
            <a:r>
              <a:rPr b="0" i="1" lang="en-US" sz="72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📊  진행 상황 시각화(Progress Bar)는 목표 달성률 평균 30~40% 향상 (Fogg 행동 모델)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227832" y="841248"/>
            <a:ext cx="2743200" cy="3977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3227832" y="841248"/>
            <a:ext cx="2743200" cy="347472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3227832" y="84124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혜택 인지 알림 체계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3364992" y="12618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3364992" y="14630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발급 즉시 푸시 + 만료 D-3/D-1 리마인드 + 월간 혜택 리포트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3364992" y="2103120"/>
            <a:ext cx="24688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3410712" y="21031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🔧  백엔드: 이벤트 드리븐 알림 파이프라인 / 4주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3364992" y="2514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3392424" y="2761488"/>
            <a:ext cx="109728" cy="109728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3557016" y="273405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쿠폰 사용률  40% → 70%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3392424" y="3017520"/>
            <a:ext cx="109728" cy="109728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3557016" y="29900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프라임 만족도  3.5 → 4.2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33756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0"/>
              <a:buFont typeface="Calibri"/>
              <a:buNone/>
            </a:pPr>
            <a:r>
              <a:rPr b="0" i="1" lang="en-US" sz="72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📊  근거: 쿠폰 소멸 주요 원인은 미인지(내부 CS 분석). 발급·만료 알림 도입은 즉시 실행 가능하며 효과는 출시 후 4주 측정 예정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6135624" y="841248"/>
            <a:ext cx="2743200" cy="3977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6135624" y="841248"/>
            <a:ext cx="2743200" cy="347472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6135624" y="84124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 활동 기반 출금권 확대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6272784" y="12618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272784" y="14630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기본 1회 + 결제 30만↑ +1회, 50만↑ +2회, 증권거래 +1회 / 최대 월 4회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6272784" y="2103120"/>
            <a:ext cx="24688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6318504" y="21031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🔧  백엔드: 활동 추적 + 보상 엔진 / 5주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6272784" y="2514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6300216" y="2761488"/>
            <a:ext cx="109728" cy="109728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6464808" y="273405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출금권 사용률  60% → 95%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6300216" y="3017520"/>
            <a:ext cx="109728" cy="109728"/>
          </a:xfrm>
          <a:prstGeom prst="ellipse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6464808" y="29900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헤비유저 비율  15% → 25%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6245352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0"/>
              <a:buFont typeface="Calibri"/>
              <a:buNone/>
            </a:pPr>
            <a:r>
              <a:rPr b="0" i="1" lang="en-US" sz="72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📊  근거: 활동 연동 보상은 고빈도 이용 유도에 효과적 (내부 가설). 헤비유저 전환율 목표치는 3개월 후 재측정 예정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개선 기획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해지 단계 개선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20040" y="86868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2단계 중립 해지 플로우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57200" y="1298448"/>
            <a:ext cx="914400" cy="20116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457200" y="1298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AS-IS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457200" y="1517904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5단계 해지 / '혜택을 포기하시겠습니까?' 부정적 워딩 / 다크 패턴 의심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57200" y="1993392"/>
            <a:ext cx="914400" cy="20116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457200" y="19933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02920" y="2267712"/>
            <a:ext cx="1691640" cy="502920"/>
          </a:xfrm>
          <a:prstGeom prst="roundRect">
            <a:avLst>
              <a:gd fmla="val 14545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502920" y="226771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해지 사유 선택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(선택사항)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2240280" y="239572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2423160" y="2267712"/>
            <a:ext cx="1691640" cy="502920"/>
          </a:xfrm>
          <a:prstGeom prst="roundRect">
            <a:avLst>
              <a:gd fmla="val 1454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2423160" y="226771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해지 확인 완료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57200" y="283464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워딩 변경: '혜택 포기' → '해지 확인'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84632" y="3182112"/>
            <a:ext cx="109728" cy="10972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649224" y="31546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해지 소요시간  2분 → 30초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484632" y="3429000"/>
            <a:ext cx="109728" cy="10972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649224" y="340156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부정 리뷰  월 50건 → 10건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84632" y="3675888"/>
            <a:ext cx="109728" cy="10972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649224" y="364845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해지 사유 수집률  0% → 60%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457200" y="448056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📋  공정위 구독 서비스 가이드라인(2024) 준수 사항. 해지 절차 간소화는 규제 리스크 완화와 사용자 신뢰 회복 동시 달성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4709160" y="86868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혜택 차감 환불 정책 도입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846320" y="1298448"/>
            <a:ext cx="914400" cy="20116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4846320" y="1298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AS-IS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846320" y="1517904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7일 이내 + 혜택 미사용 시만 전액 환불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100원 적립해도 전액 환불 불가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4846320" y="1993392"/>
            <a:ext cx="914400" cy="20116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4846320" y="19933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4846320" y="221284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14일 이내 + 혜택 차감 후 환불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신규 '체험 모드' 선택 시 전액 환불 보장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846320" y="2743200"/>
            <a:ext cx="3794760" cy="256032"/>
          </a:xfrm>
          <a:prstGeom prst="rect">
            <a:avLst/>
          </a:prstGeom>
          <a:solidFill>
            <a:srgbClr val="0A2463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4846320" y="27432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항목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5943600" y="27432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현행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7040880" y="27432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개선안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4846320" y="3017520"/>
            <a:ext cx="37947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4846320" y="30175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환불 기간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5943600" y="30175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7일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7040880" y="301752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14일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846320" y="3291840"/>
            <a:ext cx="3794760" cy="2560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4846320" y="32918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사용 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5943600" y="32918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환불 불가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7040880" y="329184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혜택 차감 환불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846320" y="3566160"/>
            <a:ext cx="37947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4846320" y="35661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신규 보호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5943600" y="35661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없음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7040880" y="356616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체험 모드 전액 환불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4873752" y="3913632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5038344" y="3886200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환불 CS  200건 → 50건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4873752" y="4119820"/>
            <a:ext cx="109800" cy="1098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7"/>
          <p:cNvSpPr/>
          <p:nvPr/>
        </p:nvSpPr>
        <p:spPr>
          <a:xfrm>
            <a:off x="5038344" y="4278406"/>
            <a:ext cx="338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신규 전환율  15% → 20%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4873752" y="4337214"/>
            <a:ext cx="109800" cy="1098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5038344" y="4069976"/>
            <a:ext cx="338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재가입률  10% → 20%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4846320" y="448056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📋  환불 정책 개선안은 법무팀 검토 후 확정 필요. 재가입률 목표치는 출시 6개월 후 측정 기준으로 설정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비용 &amp; 리소스 추정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개발 공수 및 예산 추정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320040" y="868680"/>
            <a:ext cx="8503920" cy="292608"/>
          </a:xfrm>
          <a:prstGeom prst="rect">
            <a:avLst/>
          </a:prstGeom>
          <a:solidFill>
            <a:srgbClr val="0A2463"/>
          </a:solidFill>
          <a:ln cap="flat" cmpd="sng" w="12700">
            <a:solidFill>
              <a:srgbClr val="0A2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320040" y="868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개선 항목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148840" y="86868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2788920" y="8686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개발 공수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3977640" y="86868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담당 조직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349240" y="86868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예산 추정 (월)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6720840" y="86868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비고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320040" y="1161288"/>
            <a:ext cx="850392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320040" y="116128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즉시 적용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2221992" y="1225296"/>
            <a:ext cx="493776" cy="201168"/>
          </a:xfrm>
          <a:prstGeom prst="roundRect">
            <a:avLst>
              <a:gd fmla="val 36364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2221992" y="1225296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2788920" y="1161288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3977640" y="116128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백엔드 1명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5349240" y="116128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~200만원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6720840" y="11612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기존 인프라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20040" y="1490472"/>
            <a:ext cx="8503920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320040" y="149047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개인화 시뮬레이션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2221992" y="1554480"/>
            <a:ext cx="493776" cy="201168"/>
          </a:xfrm>
          <a:prstGeom prst="roundRect">
            <a:avLst>
              <a:gd fmla="val 36364" name="adj"/>
            </a:avLst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2221992" y="1554480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788920" y="149047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3977640" y="14904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1 + DS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5349240" y="14904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~600만원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6720840" y="149047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데이터 파이프라인 필요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320040" y="1819656"/>
            <a:ext cx="850392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320040" y="18196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적립 대시보드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2221992" y="1883664"/>
            <a:ext cx="493776" cy="201168"/>
          </a:xfrm>
          <a:prstGeom prst="roundRect">
            <a:avLst>
              <a:gd fmla="val 36364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2221992" y="1883664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2788920" y="181965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3977640" y="181965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 1 + BE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5349240" y="181965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~400만원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6720840" y="181965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디자인 시스템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320040" y="2148840"/>
            <a:ext cx="8503920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32004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알림 체계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2221992" y="2212848"/>
            <a:ext cx="493776" cy="201168"/>
          </a:xfrm>
          <a:prstGeom prst="roundRect">
            <a:avLst>
              <a:gd fmla="val 36364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8"/>
          <p:cNvSpPr/>
          <p:nvPr/>
        </p:nvSpPr>
        <p:spPr>
          <a:xfrm>
            <a:off x="2221992" y="2212848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2788920" y="2148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3977640" y="21488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1 + PM 0.5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5349240" y="21488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~350만원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6720840" y="21488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기존 푸시 인프라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320040" y="2478024"/>
            <a:ext cx="850392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8"/>
          <p:cNvSpPr/>
          <p:nvPr/>
        </p:nvSpPr>
        <p:spPr>
          <a:xfrm>
            <a:off x="320040" y="247802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활동 기반 출금권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2221992" y="2542032"/>
            <a:ext cx="493776" cy="201168"/>
          </a:xfrm>
          <a:prstGeom prst="roundRect">
            <a:avLst>
              <a:gd fmla="val 36364" name="adj"/>
            </a:avLst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2221992" y="2542032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2788920" y="2478024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3977640" y="247802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1 + PM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5349240" y="247802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~500만원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6720840" y="247802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보상 엔진 신규 개발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320040" y="2807208"/>
            <a:ext cx="8503920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320040" y="28072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해지 플로우 개선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2221992" y="2871216"/>
            <a:ext cx="493776" cy="201168"/>
          </a:xfrm>
          <a:prstGeom prst="roundRect">
            <a:avLst>
              <a:gd fmla="val 36364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2221992" y="2871216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2788920" y="2807208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3977640" y="28072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 1 + PM 0.5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5349240" y="28072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~200만원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6720840" y="28072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UX 리서치 병행 필요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320040" y="3136392"/>
            <a:ext cx="850392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320040" y="313639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환불 정책 변경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2221992" y="3200400"/>
            <a:ext cx="493776" cy="201168"/>
          </a:xfrm>
          <a:prstGeom prst="roundRect">
            <a:avLst>
              <a:gd fmla="val 36364" name="adj"/>
            </a:avLst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2221992" y="3200400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2788920" y="313639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3977640" y="31363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1 + 법무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5349240" y="31363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~300만원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6720840" y="313639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약관 변경 심의 필요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320040" y="3456432"/>
            <a:ext cx="850392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320040" y="34564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총 예산 추정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2606040" y="345643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약 2,550만원 / 6개월  (개발 인건비 기준, 인프라 비용 별도)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320040" y="3785616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※ 위 예산은 외부 시장 단가 기준 추정치입니다. 사내 인건비 단가 적용 시 실제 비용과 다를 수 있으며, 확정 전 재무팀 검토가 필요합니다.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320040" y="3886200"/>
            <a:ext cx="8503920" cy="8412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320040" y="3886200"/>
            <a:ext cx="45720" cy="84124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502920" y="391363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ROI 추정 (낙관 시나리오)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502920" y="4142232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전환율 1% → 3% 달성 시: </a:t>
            </a: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가입자 30만 → 74만 명</a:t>
            </a: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(+44만)  ×  월 5,900원 = </a:t>
            </a: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월 최대 +26억원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추가 매출 (가입자 수 가정 기준, 이탈율·비용 미차감)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502920" y="440740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※ 보수 시나리오(전환율 2% 달성 시): 월 +13억 추가 매출 / 투자회수 약 2개월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※ 위 수치는 가입자 증가분 기준이며, Churn·혜택 비용 차감 후 실제 순이익은 별도 재무 모델링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Risk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리스크 분석 및 대응 전략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320040" y="868680"/>
            <a:ext cx="8503920" cy="749808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384048" y="960120"/>
            <a:ext cx="658368" cy="219456"/>
          </a:xfrm>
          <a:prstGeom prst="roundRect">
            <a:avLst>
              <a:gd fmla="val 33333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384048" y="96012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1115568" y="94183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즉시 혜택 적용: 시스템 동시 처리 부하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6400800" y="9418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담당: 인프라팀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1115568" y="121615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영향: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결제 동시 급증 시 서버 지연 가능   </a:t>
            </a:r>
            <a:r>
              <a:rPr b="1" i="0" lang="en-US" sz="88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대응: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단계적 롤아웃 (5% → 20% → 100%) + 서킷브레이커 패턴 적용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384048" y="1783080"/>
            <a:ext cx="658368" cy="219456"/>
          </a:xfrm>
          <a:prstGeom prst="roundRect">
            <a:avLst>
              <a:gd fmla="val 33333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384048" y="178308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1115568" y="176479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환불 정책 변경: 법적 검토 필요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6400800" y="17647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담당: 법무팀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1115568" y="203911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영향: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약관 미준수 시 소비자 분쟁 발생 위험   </a:t>
            </a:r>
            <a:r>
              <a:rPr b="1" i="0" lang="en-US" sz="88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대응: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법무팀 검토 → 공정위 기준 확인 → 약관 재작성 (P2 전 완료 필수)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320040" y="2514600"/>
            <a:ext cx="8503920" cy="749808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384048" y="2606040"/>
            <a:ext cx="658368" cy="219456"/>
          </a:xfrm>
          <a:prstGeom prst="roundRect">
            <a:avLst>
              <a:gd fmla="val 33333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384048" y="260604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1115568" y="258775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활동 기반 출금권: 비용 증가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6400800" y="258775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담당: 재무팀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1115568" y="286207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영향: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헤비유저 출금권 사용 증가로 수수료 비용 상승   </a:t>
            </a:r>
            <a:r>
              <a:rPr b="1" i="0" lang="en-US" sz="88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대응: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월 총 비용 상한선 설정 (예: 가입자당 월 최대 200원 한도) / 재무 시뮬레이션 선행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320040" y="3337560"/>
            <a:ext cx="8503920" cy="749808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384048" y="3429000"/>
            <a:ext cx="658368" cy="219456"/>
          </a:xfrm>
          <a:prstGeom prst="roundRect">
            <a:avLst>
              <a:gd fmla="val 33333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384048" y="342900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1115568" y="341071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개인화 시뮬레이션: 개인정보 활용 동의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6400800" y="341071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담당: 법무+개인정보팀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1115568" y="368503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영향: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결제 데이터 활용 시 개인정보보호법 저촉 가능   </a:t>
            </a:r>
            <a:r>
              <a:rPr b="1" i="0" lang="en-US" sz="88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대응: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결제 데이터 활용 동의 팝업 추가 / PIPA 법무 검토 / 익명화 처리 방식 확립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320040" y="4160520"/>
            <a:ext cx="8503920" cy="74980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384048" y="4251960"/>
            <a:ext cx="658368" cy="219456"/>
          </a:xfrm>
          <a:prstGeom prst="roundRect">
            <a:avLst>
              <a:gd fmla="val 33333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384048" y="425196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1115568" y="42336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전환율 목표 미달 리스크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6400800" y="423367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담당: PM팀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1115568" y="450799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영향: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개선 후에도 2% 미만 달성 가능성   </a:t>
            </a:r>
            <a:r>
              <a:rPr b="1" i="0" lang="en-US" sz="88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대응: </a:t>
            </a:r>
            <a:r>
              <a:rPr b="0" i="0" lang="en-US" sz="88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A/B 테스트 선행 (각 기능 2주) → 전환율 기준 미충족 시 중단 기준(Kill Switch) 사전 합의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실행 로드맵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6개월 Phase별 실행 계획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320040" y="868680"/>
            <a:ext cx="2788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320040" y="868680"/>
            <a:ext cx="2788920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320040" y="86868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320040" y="112471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5"/>
                </a:solidFill>
                <a:latin typeface="Calibri"/>
                <a:ea typeface="Calibri"/>
                <a:cs typeface="Calibri"/>
                <a:sym typeface="Calibri"/>
              </a:rPr>
              <a:t>1~2개월  ·  즉시 효과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457200" y="1444752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0"/>
          <p:cNvSpPr/>
          <p:nvPr/>
        </p:nvSpPr>
        <p:spPr>
          <a:xfrm>
            <a:off x="457200" y="1444752"/>
            <a:ext cx="36576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548640" y="148132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가입 즉시 혜택 적용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(2주, 백엔드 1명)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457200" y="2011680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457200" y="2011680"/>
            <a:ext cx="36576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0"/>
          <p:cNvSpPr/>
          <p:nvPr/>
        </p:nvSpPr>
        <p:spPr>
          <a:xfrm>
            <a:off x="548640" y="204825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적립 현황 대시보드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(3주, FE 1 + BE 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457200" y="2578608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0"/>
          <p:cNvSpPr/>
          <p:nvPr/>
        </p:nvSpPr>
        <p:spPr>
          <a:xfrm>
            <a:off x="457200" y="2578608"/>
            <a:ext cx="36576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548640" y="261518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알림 체계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(4주, BE 1 + PM 0.5)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457200" y="3145536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0"/>
          <p:cNvSpPr/>
          <p:nvPr/>
        </p:nvSpPr>
        <p:spPr>
          <a:xfrm>
            <a:off x="457200" y="3145536"/>
            <a:ext cx="36576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548640" y="318211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해지 절차 간소화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(2주, FE 1 + PM 0.5)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411480" y="3822192"/>
            <a:ext cx="2606040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0"/>
          <p:cNvSpPr/>
          <p:nvPr/>
        </p:nvSpPr>
        <p:spPr>
          <a:xfrm>
            <a:off x="411480" y="382219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전환율 1% → 1.7%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 문의 50% 감소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3227832" y="868680"/>
            <a:ext cx="2788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3227832" y="868680"/>
            <a:ext cx="2788920" cy="50292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0"/>
          <p:cNvSpPr/>
          <p:nvPr/>
        </p:nvSpPr>
        <p:spPr>
          <a:xfrm>
            <a:off x="3227832" y="86868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3227832" y="112471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5"/>
                </a:solidFill>
                <a:latin typeface="Calibri"/>
                <a:ea typeface="Calibri"/>
                <a:cs typeface="Calibri"/>
                <a:sym typeface="Calibri"/>
              </a:rPr>
              <a:t>3~4개월  ·  전환율 향상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3364992" y="1444752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0"/>
          <p:cNvSpPr/>
          <p:nvPr/>
        </p:nvSpPr>
        <p:spPr>
          <a:xfrm>
            <a:off x="3364992" y="1444752"/>
            <a:ext cx="36576" cy="50292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0"/>
          <p:cNvSpPr/>
          <p:nvPr/>
        </p:nvSpPr>
        <p:spPr>
          <a:xfrm>
            <a:off x="3456432" y="148132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개인화 혜택 시뮬레이션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(4주, BE 1 + DS 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3364992" y="2011680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0"/>
          <p:cNvSpPr/>
          <p:nvPr/>
        </p:nvSpPr>
        <p:spPr>
          <a:xfrm>
            <a:off x="3364992" y="2011680"/>
            <a:ext cx="36576" cy="50292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3456432" y="204825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환불 정책 개선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(3주 + 법무, BE 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3364992" y="2578608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"/>
          <p:cNvSpPr/>
          <p:nvPr/>
        </p:nvSpPr>
        <p:spPr>
          <a:xfrm>
            <a:off x="3364992" y="2578608"/>
            <a:ext cx="36576" cy="50292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0"/>
          <p:cNvSpPr/>
          <p:nvPr/>
        </p:nvSpPr>
        <p:spPr>
          <a:xfrm>
            <a:off x="3456432" y="261518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활동 기반 출금권 체계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(5주, BE 1 + PM 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319272" y="3822192"/>
            <a:ext cx="2606040" cy="50292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0"/>
          <p:cNvSpPr/>
          <p:nvPr/>
        </p:nvSpPr>
        <p:spPr>
          <a:xfrm>
            <a:off x="3319272" y="382219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전환율 1.7% → 2.5%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재가입률 2배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6135624" y="868680"/>
            <a:ext cx="2788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"/>
          <p:cNvSpPr/>
          <p:nvPr/>
        </p:nvSpPr>
        <p:spPr>
          <a:xfrm>
            <a:off x="6135624" y="868680"/>
            <a:ext cx="278892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"/>
          <p:cNvSpPr/>
          <p:nvPr/>
        </p:nvSpPr>
        <p:spPr>
          <a:xfrm>
            <a:off x="6135624" y="86868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6135624" y="112471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F5"/>
                </a:solidFill>
                <a:latin typeface="Calibri"/>
                <a:ea typeface="Calibri"/>
                <a:cs typeface="Calibri"/>
                <a:sym typeface="Calibri"/>
              </a:rPr>
              <a:t>5~6개월  ·  만족도 극대화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6272784" y="1444752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6272784" y="1444752"/>
            <a:ext cx="36576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6364224" y="148132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월간 혜택 리포트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(3주, FE 1 + DS 0.5)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6272784" y="2011680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6272784" y="2011680"/>
            <a:ext cx="36576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6364224" y="204825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프라임 활용 가이드 콘텐츠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(2주, PM 1 + 마케팅)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6272784" y="2578608"/>
            <a:ext cx="2514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6272784" y="2578608"/>
            <a:ext cx="36576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0"/>
          <p:cNvSpPr/>
          <p:nvPr/>
        </p:nvSpPr>
        <p:spPr>
          <a:xfrm>
            <a:off x="6364224" y="261518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성과 측정 및 추가 고도화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6227064" y="3822192"/>
            <a:ext cx="260604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6227064" y="382219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전환율 3% 달성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만족도 4.0/5.0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10"/>
          <p:cNvCxnSpPr/>
          <p:nvPr/>
        </p:nvCxnSpPr>
        <p:spPr>
          <a:xfrm>
            <a:off x="3017520" y="260604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9" name="Google Shape;529;p10"/>
          <p:cNvCxnSpPr/>
          <p:nvPr/>
        </p:nvCxnSpPr>
        <p:spPr>
          <a:xfrm>
            <a:off x="5925312" y="260604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기대 효과 종합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정량 목표 &amp; 정성적 효과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1"/>
          <p:cNvSpPr/>
          <p:nvPr/>
        </p:nvSpPr>
        <p:spPr>
          <a:xfrm>
            <a:off x="320040" y="886968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320040" y="886968"/>
            <a:ext cx="2697480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411480" y="97840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📈  프라임 전환율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411480" y="127101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1%  →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1325880" y="127101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2148840" y="1344168"/>
            <a:ext cx="749808" cy="256032"/>
          </a:xfrm>
          <a:prstGeom prst="roundRect">
            <a:avLst>
              <a:gd fmla="val 42857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2148840" y="1344168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+200%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3172968" y="886968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3172968" y="886968"/>
            <a:ext cx="2697480" cy="457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3264408" y="97840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📉  7일 해지율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3264408" y="127101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8%  →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4178808" y="127101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/>
          <p:nvPr/>
        </p:nvSpPr>
        <p:spPr>
          <a:xfrm>
            <a:off x="5001768" y="1344168"/>
            <a:ext cx="749808" cy="256032"/>
          </a:xfrm>
          <a:prstGeom prst="roundRect">
            <a:avLst>
              <a:gd fmla="val 42857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1"/>
          <p:cNvSpPr/>
          <p:nvPr/>
        </p:nvSpPr>
        <p:spPr>
          <a:xfrm>
            <a:off x="5001768" y="1344168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-62%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1"/>
          <p:cNvSpPr/>
          <p:nvPr/>
        </p:nvSpPr>
        <p:spPr>
          <a:xfrm>
            <a:off x="6025896" y="886968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1"/>
          <p:cNvSpPr/>
          <p:nvPr/>
        </p:nvSpPr>
        <p:spPr>
          <a:xfrm>
            <a:off x="6025896" y="886968"/>
            <a:ext cx="2697480" cy="4572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1"/>
          <p:cNvSpPr/>
          <p:nvPr/>
        </p:nvSpPr>
        <p:spPr>
          <a:xfrm>
            <a:off x="6117336" y="97840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🎟️  쿠폰 사용률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6117336" y="127101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40%  →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7031736" y="127101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7854696" y="1344168"/>
            <a:ext cx="749808" cy="256032"/>
          </a:xfrm>
          <a:prstGeom prst="roundRect">
            <a:avLst>
              <a:gd fmla="val 42857" name="adj"/>
            </a:avLst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7854696" y="1344168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+75%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320040" y="2240280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1"/>
          <p:cNvSpPr/>
          <p:nvPr/>
        </p:nvSpPr>
        <p:spPr>
          <a:xfrm>
            <a:off x="320040" y="2240280"/>
            <a:ext cx="2697480" cy="457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1"/>
          <p:cNvSpPr/>
          <p:nvPr/>
        </p:nvSpPr>
        <p:spPr>
          <a:xfrm>
            <a:off x="411480" y="233172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💰  월 최대 적립 달성률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411480" y="262432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25%  →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1325880" y="262432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2148840" y="2697480"/>
            <a:ext cx="749808" cy="256032"/>
          </a:xfrm>
          <a:prstGeom prst="roundRect">
            <a:avLst>
              <a:gd fmla="val 42857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1"/>
          <p:cNvSpPr/>
          <p:nvPr/>
        </p:nvSpPr>
        <p:spPr>
          <a:xfrm>
            <a:off x="2148840" y="269748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+60%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3172968" y="2240280"/>
            <a:ext cx="26974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1"/>
          <p:cNvSpPr/>
          <p:nvPr/>
        </p:nvSpPr>
        <p:spPr>
          <a:xfrm>
            <a:off x="3172968" y="2240280"/>
            <a:ext cx="269748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1"/>
          <p:cNvSpPr/>
          <p:nvPr/>
        </p:nvSpPr>
        <p:spPr>
          <a:xfrm>
            <a:off x="3264408" y="233172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⭐  해지 과정 만족도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1"/>
          <p:cNvSpPr/>
          <p:nvPr/>
        </p:nvSpPr>
        <p:spPr>
          <a:xfrm>
            <a:off x="3264408" y="262432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2.5/5  →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1"/>
          <p:cNvSpPr/>
          <p:nvPr/>
        </p:nvSpPr>
        <p:spPr>
          <a:xfrm>
            <a:off x="4178808" y="262432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4.0/5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1"/>
          <p:cNvSpPr/>
          <p:nvPr/>
        </p:nvSpPr>
        <p:spPr>
          <a:xfrm>
            <a:off x="5001768" y="2697480"/>
            <a:ext cx="749808" cy="256032"/>
          </a:xfrm>
          <a:prstGeom prst="roundRect">
            <a:avLst>
              <a:gd fmla="val 42857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1"/>
          <p:cNvSpPr/>
          <p:nvPr/>
        </p:nvSpPr>
        <p:spPr>
          <a:xfrm>
            <a:off x="5001768" y="269748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+60%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1"/>
          <p:cNvSpPr/>
          <p:nvPr/>
        </p:nvSpPr>
        <p:spPr>
          <a:xfrm>
            <a:off x="320040" y="3547872"/>
            <a:ext cx="850392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1"/>
          <p:cNvSpPr/>
          <p:nvPr/>
        </p:nvSpPr>
        <p:spPr>
          <a:xfrm>
            <a:off x="320040" y="3547872"/>
            <a:ext cx="8503920" cy="292608"/>
          </a:xfrm>
          <a:prstGeom prst="rect">
            <a:avLst/>
          </a:prstGeom>
          <a:solidFill>
            <a:srgbClr val="0A2463"/>
          </a:solidFill>
          <a:ln cap="flat" cmpd="sng" w="12700">
            <a:solidFill>
              <a:srgbClr val="0A2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1"/>
          <p:cNvSpPr/>
          <p:nvPr/>
        </p:nvSpPr>
        <p:spPr>
          <a:xfrm>
            <a:off x="457200" y="3547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정성적 효과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1"/>
          <p:cNvSpPr/>
          <p:nvPr/>
        </p:nvSpPr>
        <p:spPr>
          <a:xfrm>
            <a:off x="457200" y="3858768"/>
            <a:ext cx="19659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🛡️  브랜드 신뢰 회복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투명한 정책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1"/>
          <p:cNvSpPr/>
          <p:nvPr/>
        </p:nvSpPr>
        <p:spPr>
          <a:xfrm>
            <a:off x="2560320" y="3858768"/>
            <a:ext cx="19659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📊  NPS 개선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혜택 체감도 증가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4663440" y="3858768"/>
            <a:ext cx="19659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🔄  재가입률 증가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긍정적 해지 경험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6766560" y="3858768"/>
            <a:ext cx="19659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📢  구전 효과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만족 사용자 자발적 추천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463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D3B8F">
              <a:alpha val="60000"/>
            </a:srgbClr>
          </a:solidFill>
          <a:ln cap="flat" cmpd="sng" w="12700">
            <a:solidFill>
              <a:srgbClr val="0D3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00BCD4">
              <a:alpha val="40000"/>
            </a:srgbClr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548640" y="10058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토스프라임, 진짜 혜택을 주는 서비스로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548640" y="17830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8C8F0"/>
                </a:solidFill>
                <a:latin typeface="Calibri"/>
                <a:ea typeface="Calibri"/>
                <a:cs typeface="Calibri"/>
                <a:sym typeface="Calibri"/>
              </a:rPr>
              <a:t>3단계 개선 로드맵으로 전환율 3배를 달성합니다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/>
          <p:nvPr/>
        </p:nvSpPr>
        <p:spPr>
          <a:xfrm>
            <a:off x="548640" y="2377440"/>
            <a:ext cx="7772400" cy="658368"/>
          </a:xfrm>
          <a:prstGeom prst="rect">
            <a:avLst/>
          </a:prstGeom>
          <a:solidFill>
            <a:srgbClr val="0D3B8F"/>
          </a:solidFill>
          <a:ln cap="flat" cmpd="sng" w="12700">
            <a:solidFill>
              <a:srgbClr val="1E5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731520" y="2377440"/>
            <a:ext cx="7406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새 기능이 아닌, 기존 혜택의 '제대로 된 전달'의 문제 — 7가지 Pain Point 해소로 충분합니다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731520" y="3200400"/>
            <a:ext cx="77724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ROI: 보수 시나리오 기준 투자회수 약 2개월 (재무 모델링 별도 필요)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731520" y="3529584"/>
            <a:ext cx="77724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최우선 P1 항목: 2개월 내 즉시 효과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2"/>
          <p:cNvSpPr/>
          <p:nvPr/>
        </p:nvSpPr>
        <p:spPr>
          <a:xfrm>
            <a:off x="731520" y="3858768"/>
            <a:ext cx="77724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법적 리스크 사전 대응 포함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548640" y="452628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A8D8"/>
                </a:solidFill>
                <a:latin typeface="Calibri"/>
                <a:ea typeface="Calibri"/>
                <a:cs typeface="Calibri"/>
                <a:sym typeface="Calibri"/>
              </a:rPr>
              <a:t>Product Planning Team  |  2026.01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3B8F"/>
          </a:solidFill>
          <a:ln cap="flat" cmpd="sng" w="12700">
            <a:solidFill>
              <a:srgbClr val="0D3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2"/>
          <p:cNvSpPr/>
          <p:nvPr/>
        </p:nvSpPr>
        <p:spPr>
          <a:xfrm>
            <a:off x="274320" y="5029200"/>
            <a:ext cx="822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FA8D8"/>
                </a:solidFill>
                <a:latin typeface="Calibri"/>
                <a:ea typeface="Calibri"/>
                <a:cs typeface="Calibri"/>
                <a:sym typeface="Calibri"/>
              </a:rPr>
              <a:t>토스프라임 멤버십 정책 개선 기획  |  Product Planning Team  |  2026.01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2026-02-22T07:16:13Z</dcterms:created>
  <dc:creator>PptxGenJS</dc:creator>
</cp:coreProperties>
</file>