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0064FF">
              <a:alpha val="15000"/>
            </a:srgbClr>
          </a:solidFill>
          <a:ln w="12700">
            <a:solidFill>
              <a:srgbClr val="0064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064FF">
              <a:alpha val="2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114800"/>
            <a:ext cx="1097280" cy="1097280"/>
          </a:xfrm>
          <a:prstGeom prst="ellipse">
            <a:avLst/>
          </a:prstGeom>
          <a:solidFill>
            <a:srgbClr val="0064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60A5F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417320"/>
            <a:ext cx="73152" cy="201168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기획 제안서  |  Toss Prime Team  |  2025.02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토스프라임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58368" y="221284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웰컴위크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58368" y="3063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Welcome Week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3520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후 7일, 포인트로 프라임의 가치를 직접 경험하게 하다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64FF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가입자 온보딩 &amp; 매출 확대 전략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64008" cy="105156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618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92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제안 및 기대 효과 요약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23160"/>
            <a:ext cx="64008" cy="105156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4963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2807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토스프라임 현황 분석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구조 &amp; 온보딩 문제점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64008" cy="105156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7307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" y="4041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웰컴위크 이벤트 기획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361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미션 구조 &amp; UX 플로우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88720"/>
            <a:ext cx="64008" cy="105156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2618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83480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&amp; 매출 시뮬레이션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1892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시나리오별 ROI 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423160"/>
            <a:ext cx="64008" cy="105156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4963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83480" y="2807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 &amp; KPI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3127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 &amp; 성과 지표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57600"/>
            <a:ext cx="64008" cy="105156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7307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983480" y="4041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&amp; 결론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4361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방안 &amp; 의사결정 요청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토스프라임 웰컴위크 — 핵심 제안 요약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3931920" cy="137160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64008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38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인식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가입 후 1~2주 내 이탈률 높음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초기 혜택 체감 지연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기능 탐색 유도 부재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유료 전환 트리거 미흡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07408" y="2496312"/>
            <a:ext cx="411480" cy="64008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24414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1874520"/>
            <a:ext cx="3886200" cy="1371600"/>
          </a:xfrm>
          <a:prstGeom prst="rect">
            <a:avLst/>
          </a:prstGeom>
          <a:solidFill>
            <a:srgbClr val="E8F0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874520"/>
            <a:ext cx="64008" cy="137160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938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해결책 — 웰컴위크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26771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후 7일간 일별 미션 + 포인트 적립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기능 체험 → 습관 형성 선순환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최대 4,000P 즉시 지급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장기 유지율 +17%p 목표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2651760" cy="13716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65760" y="4187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가입자 목표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3429000"/>
            <a:ext cx="2651760" cy="13716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200400" y="4187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BEP 달성 목표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3429000"/>
            <a:ext cx="2651760" cy="13716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70%+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035040" y="4187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유지율 목표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토스프라임 현황 분석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023360" cy="41148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토스프라임 핵심 혜택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3840480" cy="36576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91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💸  매월 최대 1만원 이상 포인트 적립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3840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305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  토스증권 거래 수수료 우대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42032"/>
            <a:ext cx="3840480" cy="36576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694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🏦  토스뱅크 이자 우대 및 대출 금리 혜택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80944"/>
            <a:ext cx="3840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083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  자동차보험 갱신 시 최대 5만원 캐시백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3840480" cy="36576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4472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👑  전용 고객센터 우선 연결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858768"/>
            <a:ext cx="3840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  파트너사 제휴 할인 우선 제공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1143000"/>
            <a:ext cx="4297680" cy="10058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구독료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4,900원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58000" y="16276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month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18288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58,800원  |  신규 7일 무료 체험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6280" y="2286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구조 문제점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26280" y="2679192"/>
            <a:ext cx="4297680" cy="658368"/>
          </a:xfrm>
          <a:prstGeom prst="rect">
            <a:avLst/>
          </a:prstGeom>
          <a:solidFill>
            <a:srgbClr val="FFF8F8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2788920"/>
            <a:ext cx="438912" cy="438912"/>
          </a:xfrm>
          <a:prstGeom prst="ellipse">
            <a:avLst/>
          </a:prstGeom>
          <a:solidFill>
            <a:srgbClr val="FECACA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38928" y="27706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체감 지연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38928" y="30266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적립이 월 단위 → 즉각 가치 부재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26280" y="3410712"/>
            <a:ext cx="4297680" cy="658368"/>
          </a:xfrm>
          <a:prstGeom prst="rect">
            <a:avLst/>
          </a:prstGeom>
          <a:solidFill>
            <a:srgbClr val="FFF8F8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3520440"/>
            <a:ext cx="438912" cy="438912"/>
          </a:xfrm>
          <a:prstGeom prst="ellipse">
            <a:avLst/>
          </a:prstGeom>
          <a:solidFill>
            <a:srgbClr val="FECACA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38928" y="35021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탐색 미흡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38928" y="37581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후 어떤 기능 쓸지 가이드 없음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26280" y="4142232"/>
            <a:ext cx="4297680" cy="658368"/>
          </a:xfrm>
          <a:prstGeom prst="rect">
            <a:avLst/>
          </a:prstGeom>
          <a:solidFill>
            <a:srgbClr val="FFF8F8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4251960"/>
            <a:ext cx="438912" cy="438912"/>
          </a:xfrm>
          <a:prstGeom prst="ellipse">
            <a:avLst/>
          </a:prstGeom>
          <a:solidFill>
            <a:srgbClr val="FECACA"/>
          </a:solidFill>
          <a:ln/>
        </p:spPr>
      </p:sp>
      <p:sp>
        <p:nvSpPr>
          <p:cNvPr id="38" name="Text 36"/>
          <p:cNvSpPr/>
          <p:nvPr/>
        </p:nvSpPr>
        <p:spPr>
          <a:xfrm>
            <a:off x="4617720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38928" y="4233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전환 트리거 없음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38928" y="44897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무료 종료 후 전환 유인 부족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웰컴위크 이벤트 기획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일별 미션 구조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1097280" cy="2011680"/>
          </a:xfrm>
          <a:prstGeom prst="rect">
            <a:avLst/>
          </a:prstGeom>
          <a:solidFill>
            <a:srgbClr val="F5F7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1097280" cy="384048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965960"/>
            <a:ext cx="548640" cy="548640"/>
          </a:xfrm>
          <a:prstGeom prst="ellipse">
            <a:avLst/>
          </a:prstGeom>
          <a:solidFill>
            <a:srgbClr val="0064FF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프라임 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탐색하기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17296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064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172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36192" y="1463040"/>
            <a:ext cx="1097280" cy="2011680"/>
          </a:xfrm>
          <a:prstGeom prst="rect">
            <a:avLst/>
          </a:prstGeom>
          <a:solidFill>
            <a:srgbClr val="F5F7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536192" y="1463040"/>
            <a:ext cx="109728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1536192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10512" y="1965960"/>
            <a:ext cx="548640" cy="548640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81051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81912" y="25786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토스페이로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결제하기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27632" y="317296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EA5E9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627632" y="3172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52344" y="1463040"/>
            <a:ext cx="1097280" cy="2011680"/>
          </a:xfrm>
          <a:prstGeom prst="rect">
            <a:avLst/>
          </a:prstGeom>
          <a:solidFill>
            <a:srgbClr val="F5F7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52344" y="1463040"/>
            <a:ext cx="109728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2752344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26664" y="1965960"/>
            <a:ext cx="548640" cy="5486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02666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798064" y="25786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신용점수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43784" y="317296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8B5CF6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843784" y="3172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68496" y="1463040"/>
            <a:ext cx="1097280" cy="2011680"/>
          </a:xfrm>
          <a:prstGeom prst="rect">
            <a:avLst/>
          </a:prstGeom>
          <a:solidFill>
            <a:srgbClr val="F5F7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968496" y="1463040"/>
            <a:ext cx="10972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3968496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42816" y="1965960"/>
            <a:ext cx="548640" cy="54864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24281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014216" y="25786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계좌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조회하기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059936" y="317296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059936" y="3172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84648" y="1463040"/>
            <a:ext cx="1097280" cy="2011680"/>
          </a:xfrm>
          <a:prstGeom prst="rect">
            <a:avLst/>
          </a:prstGeom>
          <a:solidFill>
            <a:srgbClr val="F5F7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84648" y="1463040"/>
            <a:ext cx="109728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5184648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58968" y="1965960"/>
            <a:ext cx="548640" cy="54864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45896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230368" y="25786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 내역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76088" y="317296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276088" y="3172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1463040"/>
            <a:ext cx="1097280" cy="2011680"/>
          </a:xfrm>
          <a:prstGeom prst="rect">
            <a:avLst/>
          </a:prstGeom>
          <a:solidFill>
            <a:srgbClr val="F5F7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0800" y="1463040"/>
            <a:ext cx="109728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D+6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675120" y="1965960"/>
            <a:ext cx="548640" cy="54864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6751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💸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446520" y="25786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친구에게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송금하기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92240" y="317296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97316">
              <a:alpha val="1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3172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500P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16952" y="1463040"/>
            <a:ext cx="1097280" cy="2011680"/>
          </a:xfrm>
          <a:prstGeom prst="rect">
            <a:avLst/>
          </a:prstGeom>
          <a:solidFill>
            <a:srgbClr val="F5F7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616952" y="1463040"/>
            <a:ext cx="1097280" cy="38404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6" name="Text 54"/>
          <p:cNvSpPr/>
          <p:nvPr/>
        </p:nvSpPr>
        <p:spPr>
          <a:xfrm>
            <a:off x="7616952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D+7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891272" y="1965960"/>
            <a:ext cx="548640" cy="54864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89127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7662672" y="25786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보너스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708392" y="317296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EC4899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7708392" y="3172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1,400P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20040" y="3584448"/>
            <a:ext cx="8513064" cy="43891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36301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전체 미션 완료 시 최대 적립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00800" y="3611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 4,000P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36576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플로우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20040" y="4407408"/>
            <a:ext cx="1920240" cy="594360"/>
          </a:xfrm>
          <a:prstGeom prst="rect">
            <a:avLst/>
          </a:prstGeom>
          <a:solidFill>
            <a:srgbClr val="E8F0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74904" y="4443984"/>
            <a:ext cx="292608" cy="292608"/>
          </a:xfrm>
          <a:prstGeom prst="ellipse">
            <a:avLst/>
          </a:prstGeom>
          <a:solidFill>
            <a:srgbClr val="0064FF"/>
          </a:solidFill>
          <a:ln/>
        </p:spPr>
      </p:sp>
      <p:sp>
        <p:nvSpPr>
          <p:cNvPr id="68" name="Text 66"/>
          <p:cNvSpPr/>
          <p:nvPr/>
        </p:nvSpPr>
        <p:spPr>
          <a:xfrm>
            <a:off x="374904" y="4443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13232" y="4434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완료 직후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웰컴 팝업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2258568" y="454456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2496312" y="4407408"/>
            <a:ext cx="1920240" cy="594360"/>
          </a:xfrm>
          <a:prstGeom prst="rect">
            <a:avLst/>
          </a:prstGeom>
          <a:solidFill>
            <a:srgbClr val="E8F0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551176" y="4443984"/>
            <a:ext cx="292608" cy="292608"/>
          </a:xfrm>
          <a:prstGeom prst="ellipse">
            <a:avLst/>
          </a:prstGeom>
          <a:solidFill>
            <a:srgbClr val="0064FF"/>
          </a:solidFill>
          <a:ln/>
        </p:spPr>
      </p:sp>
      <p:sp>
        <p:nvSpPr>
          <p:cNvPr id="73" name="Text 71"/>
          <p:cNvSpPr/>
          <p:nvPr/>
        </p:nvSpPr>
        <p:spPr>
          <a:xfrm>
            <a:off x="2551176" y="4443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2889504" y="4434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프라임 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트래커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4434840" y="454456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4672584" y="4407408"/>
            <a:ext cx="1920240" cy="594360"/>
          </a:xfrm>
          <a:prstGeom prst="rect">
            <a:avLst/>
          </a:prstGeom>
          <a:solidFill>
            <a:srgbClr val="E8F0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727448" y="4443984"/>
            <a:ext cx="292608" cy="292608"/>
          </a:xfrm>
          <a:prstGeom prst="ellipse">
            <a:avLst/>
          </a:prstGeom>
          <a:solidFill>
            <a:srgbClr val="0064FF"/>
          </a:solidFill>
          <a:ln/>
        </p:spPr>
      </p:sp>
      <p:sp>
        <p:nvSpPr>
          <p:cNvPr id="78" name="Text 76"/>
          <p:cNvSpPr/>
          <p:nvPr/>
        </p:nvSpPr>
        <p:spPr>
          <a:xfrm>
            <a:off x="4727448" y="4443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065776" y="4434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오전 9시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알림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611112" y="454456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6848856" y="4407408"/>
            <a:ext cx="1920240" cy="594360"/>
          </a:xfrm>
          <a:prstGeom prst="rect">
            <a:avLst/>
          </a:prstGeom>
          <a:solidFill>
            <a:srgbClr val="E8F0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903720" y="4443984"/>
            <a:ext cx="292608" cy="292608"/>
          </a:xfrm>
          <a:prstGeom prst="ellipse">
            <a:avLst/>
          </a:prstGeom>
          <a:solidFill>
            <a:srgbClr val="0064FF"/>
          </a:solidFill>
          <a:ln/>
        </p:spPr>
      </p:sp>
      <p:sp>
        <p:nvSpPr>
          <p:cNvPr id="83" name="Text 81"/>
          <p:cNvSpPr/>
          <p:nvPr/>
        </p:nvSpPr>
        <p:spPr>
          <a:xfrm>
            <a:off x="6903720" y="4443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7242048" y="4434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D+7 완주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뱃지 + 보상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22960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&amp; 매출 시뮬레이션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4,900원 구독료 기준  |  신규 가입자 시나리오별 ROI 분석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347472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순매출 시뮬레이션 (만원)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3657600"/>
            <a:ext cx="822960" cy="548640"/>
          </a:xfrm>
          <a:prstGeom prst="rect">
            <a:avLst/>
          </a:prstGeom>
          <a:solidFill>
            <a:srgbClr val="64748B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364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450만원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251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3108960"/>
            <a:ext cx="822960" cy="109728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2816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900만원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4251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2011680"/>
            <a:ext cx="822960" cy="219456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7190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1,800만원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4251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낙관적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5661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43200"/>
            <a:ext cx="35661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011680"/>
            <a:ext cx="35661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325880"/>
            <a:ext cx="4114800" cy="1078992"/>
          </a:xfrm>
          <a:prstGeom prst="rect">
            <a:avLst/>
          </a:prstGeom>
          <a:solidFill>
            <a:srgbClr val="0D1B2E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325880"/>
            <a:ext cx="64008" cy="10789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보수적  (신규 5,000명/월)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매출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75120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2,450만원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73168" y="1920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비용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75120" y="19202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2,000만원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73168" y="2121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순매출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75120" y="21214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450만원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487168"/>
            <a:ext cx="4114800" cy="1078992"/>
          </a:xfrm>
          <a:prstGeom prst="rect">
            <a:avLst/>
          </a:prstGeom>
          <a:solidFill>
            <a:srgbClr val="0D1B2E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487168"/>
            <a:ext cx="64008" cy="1078992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2551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 (신규 10,000명/월)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73168" y="2880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매출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75120" y="28803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4,900만원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73168" y="3081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비용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75120" y="3081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4,000만원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73168" y="32826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순매출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75120" y="3282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900만원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648456"/>
            <a:ext cx="4114800" cy="1078992"/>
          </a:xfrm>
          <a:prstGeom prst="rect">
            <a:avLst/>
          </a:prstGeom>
          <a:solidFill>
            <a:srgbClr val="0D1B2E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648456"/>
            <a:ext cx="64008" cy="10789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3712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낙관적  (신규 20,000명/월)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4041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매출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675120" y="4041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9,800만원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73168" y="4242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비용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4242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8,000만원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73168" y="4443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순매출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675120" y="44439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1,800만원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4645152"/>
            <a:ext cx="4114800" cy="347472"/>
          </a:xfrm>
          <a:prstGeom prst="rect">
            <a:avLst/>
          </a:prstGeom>
          <a:solidFill>
            <a:srgbClr val="0064FF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466344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기준 시나리오 기준, 초기 개발비 4,500만원 회수 → 약 3개월 내 BEP 달성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22960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 &amp; KPI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로드맵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7452360" cy="4572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828800"/>
            <a:ext cx="274320" cy="274320"/>
          </a:xfrm>
          <a:prstGeom prst="ellipse">
            <a:avLst/>
          </a:prstGeom>
          <a:solidFill>
            <a:srgbClr val="0064FF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1828800"/>
            <a:ext cx="0" cy="-347472"/>
          </a:xfrm>
          <a:prstGeom prst="line">
            <a:avLst/>
          </a:prstGeom>
          <a:noFill/>
          <a:ln w="19050">
            <a:solidFill>
              <a:srgbClr val="006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" y="1097280"/>
            <a:ext cx="1783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" y="1097280"/>
            <a:ext cx="54864" cy="54864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" y="11612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13716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D+0~14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24912" y="1828800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2862072" y="2103120"/>
            <a:ext cx="0" cy="18288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9968" y="2267712"/>
            <a:ext cx="1783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29968" y="2267712"/>
            <a:ext cx="54864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2121408" y="23317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디자인·개발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21408" y="25420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D+15~45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45152" y="182880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782312" y="1828800"/>
            <a:ext cx="0" cy="-347472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50208" y="1097280"/>
            <a:ext cx="1783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50208" y="1097280"/>
            <a:ext cx="54864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041648" y="11612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/ 검증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41648" y="13716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D+46~60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65392" y="182880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702552" y="2103120"/>
            <a:ext cx="0" cy="1828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70448" y="2267712"/>
            <a:ext cx="1783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70448" y="2267712"/>
            <a:ext cx="54864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961888" y="23317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론칭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61888" y="25420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D+61~75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485632" y="18288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Shape 30"/>
          <p:cNvSpPr/>
          <p:nvPr/>
        </p:nvSpPr>
        <p:spPr>
          <a:xfrm>
            <a:off x="8622792" y="1828800"/>
            <a:ext cx="0" cy="-34747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90688" y="1097280"/>
            <a:ext cx="1783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90688" y="109728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7882128" y="11612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론칭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82128" y="13716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D+76~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성과 지표 (KPI)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3547872"/>
            <a:ext cx="1572768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3547872"/>
            <a:ext cx="1572768" cy="54864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3657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20040" y="40416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+30%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20040" y="44348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전환율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039112" y="3547872"/>
            <a:ext cx="1572768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039112" y="3547872"/>
            <a:ext cx="1572768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2039112" y="3657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2039112" y="40416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65%↑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2039112" y="44348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완주율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758184" y="3547872"/>
            <a:ext cx="1572768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758184" y="3547872"/>
            <a:ext cx="1572768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3758184" y="3657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3758184" y="40416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70%↑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3758184" y="44348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유지율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477256" y="3547872"/>
            <a:ext cx="1572768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77256" y="3547872"/>
            <a:ext cx="157276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5477256" y="3657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5477256" y="40416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 이하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5477256" y="44348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비용 효율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196328" y="3547872"/>
            <a:ext cx="1572768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196328" y="3547872"/>
            <a:ext cx="157276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0" name="Text 58"/>
          <p:cNvSpPr/>
          <p:nvPr/>
        </p:nvSpPr>
        <p:spPr>
          <a:xfrm>
            <a:off x="7196328" y="3657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7196328" y="40416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3개↑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7196328" y="44348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탐색 깊이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22960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&amp; 결론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리스크 및 대응 방안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651760" cy="1481328"/>
          </a:xfrm>
          <a:prstGeom prst="rect">
            <a:avLst/>
          </a:prstGeom>
          <a:solidFill>
            <a:srgbClr val="F5F7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44752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5361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21992" y="1536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221992" y="1536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위험도: 중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938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비용 초과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2677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 발급 한도 캡 + 자동 종료 로직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444752"/>
            <a:ext cx="2651760" cy="1481328"/>
          </a:xfrm>
          <a:prstGeom prst="rect">
            <a:avLst/>
          </a:prstGeom>
          <a:solidFill>
            <a:srgbClr val="F5F7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44752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273552" y="15361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🚫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02352" y="1536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102352" y="1536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위험도: 중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1938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어뷰징 (가입 후 즉시 해지)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2677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구독 유지 조건 + 이상 행동 탐지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1444752"/>
            <a:ext cx="2651760" cy="1481328"/>
          </a:xfrm>
          <a:prstGeom prst="rect">
            <a:avLst/>
          </a:prstGeom>
          <a:solidFill>
            <a:srgbClr val="F5F7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44752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153912" y="15361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😴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982712" y="1536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982712" y="1536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위험도: 낮음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72200" y="1938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완주율 저조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22677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테스트 알림 최적화 + 리마인더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063240"/>
            <a:ext cx="850392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218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및 의사결정 요청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547872"/>
            <a:ext cx="4114800" cy="1417320"/>
          </a:xfrm>
          <a:prstGeom prst="rect">
            <a:avLst/>
          </a:prstGeom>
          <a:solidFill>
            <a:srgbClr val="E8F0FF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547872"/>
            <a:ext cx="64008" cy="141732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593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이번 제안의 핵심 강점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기존 인프라 활용으로 개발 비용 최소화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251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포인트 비용 &lt; 구독 매출 (1개월 내 회수)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기능 체험 → 습관 형성 → 유지율의 선순환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547872"/>
            <a:ext cx="4251960" cy="1417320"/>
          </a:xfrm>
          <a:prstGeom prst="rect">
            <a:avLst/>
          </a:prstGeom>
          <a:solidFill>
            <a:srgbClr val="FFFDE8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3547872"/>
            <a:ext cx="64008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3593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🙋  의사결정 요청 사항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09160" y="39319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예산 승인: 포인트 + 개발비 약 4,500만원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4251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D+76 전체 론칭 일정 승인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4572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유관팀(개발·데이터·CS) 협업 승인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064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114800" cy="4114800"/>
          </a:xfrm>
          <a:prstGeom prst="ellipse">
            <a:avLst/>
          </a:prstGeom>
          <a:solidFill>
            <a:srgbClr val="0064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60A5F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640080"/>
            <a:ext cx="1371600" cy="1371600"/>
          </a:xfrm>
          <a:prstGeom prst="ellipse">
            <a:avLst/>
          </a:prstGeom>
          <a:solidFill>
            <a:srgbClr val="0064FF"/>
          </a:solidFill>
          <a:ln/>
        </p:spPr>
      </p:sp>
      <p:sp>
        <p:nvSpPr>
          <p:cNvPr id="6" name="Text 4"/>
          <p:cNvSpPr/>
          <p:nvPr/>
        </p:nvSpPr>
        <p:spPr>
          <a:xfrm>
            <a:off x="3886200" y="640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토스프라임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웰컴위크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2743200" y="3520440"/>
            <a:ext cx="3657600" cy="36576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"프라임의 첫 7일을 포인트로 가득 채워드립니다"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Prime Team  |  내부 검토용 (Confidential)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토스프라임 웰컴위크 기획 제안서</dc:title>
  <dc:subject>PptxGenJS Presentation</dc:subject>
  <dc:creator>PptxGenJS</dc:creator>
  <cp:lastModifiedBy>PptxGenJS</cp:lastModifiedBy>
  <cp:revision>1</cp:revision>
  <dcterms:created xsi:type="dcterms:W3CDTF">2026-02-22T06:57:57Z</dcterms:created>
  <dcterms:modified xsi:type="dcterms:W3CDTF">2026-02-22T06:57:57Z</dcterms:modified>
</cp:coreProperties>
</file>