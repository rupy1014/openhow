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9" roundtripDataSignature="AMtx7mgvQwyTUOhiC1NCSqdrEcJM+Hvh3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customschemas.google.com/relationships/presentationmetadata" Target="metadata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" name="Google Shape;18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" name="Google Shape;19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" name="Google Shape;36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7" name="Google Shape;37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6" name="Google Shape;56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7" name="Google Shape;57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5" name="Google Shape;75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6" name="Google Shape;76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5" name="Google Shape;95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6" name="Google Shape;96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0" name="Google Shape;110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1" name="Google Shape;111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6" name="Google Shape;126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7" name="Google Shape;127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2" name="Google Shape;142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3" name="Google Shape;143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7" name="Google Shape;157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8" name="Google Shape;158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5" name="Google Shape;175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6" name="Google Shape;176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9" name="Google Shape;189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0" name="Google Shape;190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5" name="Google Shape;195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6" name="Google Shape;196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7" name="Google Shape;207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8" name="Google Shape;208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"/>
          <p:cNvSpPr/>
          <p:nvPr/>
        </p:nvSpPr>
        <p:spPr>
          <a:xfrm>
            <a:off x="2848328" y="1534959"/>
            <a:ext cx="3447208" cy="6856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Netflix Korea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1"/>
          <p:cNvSpPr/>
          <p:nvPr/>
        </p:nvSpPr>
        <p:spPr>
          <a:xfrm>
            <a:off x="3126972" y="2372997"/>
            <a:ext cx="2889920" cy="4113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E50914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E50914"/>
                </a:solidFill>
                <a:latin typeface="Arial"/>
                <a:ea typeface="Arial"/>
                <a:cs typeface="Arial"/>
                <a:sym typeface="Arial"/>
              </a:rPr>
              <a:t>IA 구조 시각화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1"/>
          <p:cNvSpPr/>
          <p:nvPr/>
        </p:nvSpPr>
        <p:spPr>
          <a:xfrm>
            <a:off x="2568695" y="3088995"/>
            <a:ext cx="4006610" cy="3377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전체 네비게이션 &amp; 콘텐츠 아키텍처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1"/>
          <p:cNvSpPr/>
          <p:nvPr/>
        </p:nvSpPr>
        <p:spPr>
          <a:xfrm>
            <a:off x="2964115" y="3426700"/>
            <a:ext cx="3215770" cy="1818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Information Architecture Analysis | UX Research Report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/>
          <p:cNvSpPr/>
          <p:nvPr/>
        </p:nvSpPr>
        <p:spPr>
          <a:xfrm>
            <a:off x="609519" y="1325517"/>
            <a:ext cx="7924962" cy="124325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2"/>
          <p:cNvSpPr/>
          <p:nvPr/>
        </p:nvSpPr>
        <p:spPr>
          <a:xfrm>
            <a:off x="609519" y="2568773"/>
            <a:ext cx="7924962" cy="124325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2"/>
          <p:cNvSpPr/>
          <p:nvPr/>
        </p:nvSpPr>
        <p:spPr>
          <a:xfrm>
            <a:off x="609519" y="3812029"/>
            <a:ext cx="7924962" cy="124325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2"/>
          <p:cNvSpPr/>
          <p:nvPr/>
        </p:nvSpPr>
        <p:spPr>
          <a:xfrm>
            <a:off x="609519" y="5055286"/>
            <a:ext cx="7924962" cy="130387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2"/>
          <p:cNvSpPr/>
          <p:nvPr/>
        </p:nvSpPr>
        <p:spPr>
          <a:xfrm>
            <a:off x="609519" y="609519"/>
            <a:ext cx="8083461" cy="4113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2700"/>
              <a:buFont typeface="Arial"/>
              <a:buNone/>
            </a:pPr>
            <a:r>
              <a:rPr b="1" lang="en-US" sz="2700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IA 구조 개요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2"/>
          <p:cNvSpPr/>
          <p:nvPr/>
        </p:nvSpPr>
        <p:spPr>
          <a:xfrm>
            <a:off x="798341" y="1554036"/>
            <a:ext cx="7581954" cy="5022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3000"/>
              <a:buFont typeface="Arial"/>
              <a:buNone/>
            </a:pPr>
            <a:r>
              <a:rPr b="1" lang="en-US" sz="3000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2"/>
          <p:cNvSpPr/>
          <p:nvPr/>
        </p:nvSpPr>
        <p:spPr>
          <a:xfrm>
            <a:off x="872674" y="2132436"/>
            <a:ext cx="7433288" cy="2078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40"/>
              <a:buFont typeface="Arial"/>
              <a:buNone/>
            </a:pPr>
            <a:r>
              <a:rPr lang="en-US" sz="114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1Depth 메인 메뉴</a:t>
            </a:r>
            <a:endParaRPr sz="114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2"/>
          <p:cNvSpPr/>
          <p:nvPr/>
        </p:nvSpPr>
        <p:spPr>
          <a:xfrm>
            <a:off x="798341" y="2797292"/>
            <a:ext cx="7581954" cy="5022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3000"/>
              <a:buFont typeface="Arial"/>
              <a:buNone/>
            </a:pPr>
            <a:r>
              <a:rPr b="1" lang="en-US" sz="3000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45+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872674" y="3375692"/>
            <a:ext cx="7433288" cy="2078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40"/>
              <a:buFont typeface="Arial"/>
              <a:buNone/>
            </a:pPr>
            <a:r>
              <a:rPr lang="en-US" sz="114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2Depth 카테고리</a:t>
            </a:r>
            <a:endParaRPr sz="114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798341" y="4040548"/>
            <a:ext cx="7581954" cy="5022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3000"/>
              <a:buFont typeface="Arial"/>
              <a:buNone/>
            </a:pPr>
            <a:r>
              <a:rPr b="1" lang="en-US" sz="3000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8+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872674" y="4618948"/>
            <a:ext cx="7433288" cy="2078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40"/>
              <a:buFont typeface="Arial"/>
              <a:buNone/>
            </a:pPr>
            <a:r>
              <a:rPr lang="en-US" sz="114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콘텐츠 레일 유형</a:t>
            </a:r>
            <a:endParaRPr sz="114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872674" y="5283804"/>
            <a:ext cx="7433288" cy="5628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3000"/>
              <a:buFont typeface="Arial"/>
              <a:buNone/>
            </a:pPr>
            <a:r>
              <a:rPr b="1" lang="en-US" sz="3000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3계층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872674" y="5922818"/>
            <a:ext cx="7433288" cy="2078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40"/>
              <a:buFont typeface="Arial"/>
              <a:buNone/>
            </a:pPr>
            <a:r>
              <a:rPr lang="en-US" sz="114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AI 추천 엔진</a:t>
            </a:r>
            <a:endParaRPr sz="114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"/>
          <p:cNvSpPr/>
          <p:nvPr/>
        </p:nvSpPr>
        <p:spPr>
          <a:xfrm>
            <a:off x="609519" y="1249344"/>
            <a:ext cx="7924962" cy="952500"/>
          </a:xfrm>
          <a:prstGeom prst="rect">
            <a:avLst/>
          </a:prstGeom>
          <a:solidFill>
            <a:srgbClr val="E50914"/>
          </a:solidFill>
          <a:ln>
            <a:noFill/>
          </a:ln>
          <a:effectLst>
            <a:outerShdw blurRad="114300" rotWithShape="0" algn="bl" dir="5400000" dist="38100">
              <a:srgbClr val="000000">
                <a:alpha val="29803"/>
              </a:srgbClr>
            </a:outerShdw>
          </a:effectLst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3"/>
          <p:cNvSpPr/>
          <p:nvPr/>
        </p:nvSpPr>
        <p:spPr>
          <a:xfrm>
            <a:off x="609519" y="2201844"/>
            <a:ext cx="7924962" cy="952500"/>
          </a:xfrm>
          <a:prstGeom prst="rect">
            <a:avLst/>
          </a:prstGeom>
          <a:solidFill>
            <a:srgbClr val="564D4D"/>
          </a:solidFill>
          <a:ln>
            <a:noFill/>
          </a:ln>
          <a:effectLst>
            <a:outerShdw blurRad="114300" rotWithShape="0" algn="bl" dir="5400000" dist="38100">
              <a:srgbClr val="000000">
                <a:alpha val="29803"/>
              </a:srgbClr>
            </a:outerShdw>
          </a:effectLst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3"/>
          <p:cNvSpPr/>
          <p:nvPr/>
        </p:nvSpPr>
        <p:spPr>
          <a:xfrm>
            <a:off x="609519" y="3154344"/>
            <a:ext cx="7924962" cy="952500"/>
          </a:xfrm>
          <a:prstGeom prst="rect">
            <a:avLst/>
          </a:prstGeom>
          <a:solidFill>
            <a:srgbClr val="221F1F"/>
          </a:solidFill>
          <a:ln>
            <a:noFill/>
          </a:ln>
          <a:effectLst>
            <a:outerShdw blurRad="114300" rotWithShape="0" algn="bl" dir="5400000" dist="38100">
              <a:srgbClr val="000000">
                <a:alpha val="29803"/>
              </a:srgbClr>
            </a:outerShdw>
          </a:effectLst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3"/>
          <p:cNvSpPr/>
          <p:nvPr/>
        </p:nvSpPr>
        <p:spPr>
          <a:xfrm>
            <a:off x="609519" y="4106844"/>
            <a:ext cx="7924962" cy="952500"/>
          </a:xfrm>
          <a:prstGeom prst="rect">
            <a:avLst/>
          </a:prstGeom>
          <a:solidFill>
            <a:srgbClr val="FF6B00"/>
          </a:solidFill>
          <a:ln>
            <a:noFill/>
          </a:ln>
          <a:effectLst>
            <a:outerShdw blurRad="114300" rotWithShape="0" algn="bl" dir="5400000" dist="38100">
              <a:srgbClr val="000000">
                <a:alpha val="29803"/>
              </a:srgbClr>
            </a:outerShdw>
          </a:effectLst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3"/>
          <p:cNvSpPr/>
          <p:nvPr/>
        </p:nvSpPr>
        <p:spPr>
          <a:xfrm>
            <a:off x="609519" y="5059344"/>
            <a:ext cx="7924962" cy="952500"/>
          </a:xfrm>
          <a:prstGeom prst="rect">
            <a:avLst/>
          </a:prstGeom>
          <a:solidFill>
            <a:srgbClr val="B20710"/>
          </a:solidFill>
          <a:ln>
            <a:noFill/>
          </a:ln>
          <a:effectLst>
            <a:outerShdw blurRad="114300" rotWithShape="0" algn="bl" dir="5400000" dist="38100">
              <a:srgbClr val="000000">
                <a:alpha val="29803"/>
              </a:srgbClr>
            </a:outerShdw>
          </a:effectLst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3"/>
          <p:cNvSpPr/>
          <p:nvPr/>
        </p:nvSpPr>
        <p:spPr>
          <a:xfrm>
            <a:off x="609519" y="6011844"/>
            <a:ext cx="7924962" cy="952500"/>
          </a:xfrm>
          <a:prstGeom prst="rect">
            <a:avLst/>
          </a:prstGeom>
          <a:solidFill>
            <a:srgbClr val="0071EB"/>
          </a:solidFill>
          <a:ln>
            <a:noFill/>
          </a:ln>
          <a:effectLst>
            <a:outerShdw blurRad="114300" rotWithShape="0" algn="bl" dir="5400000" dist="38100">
              <a:srgbClr val="000000">
                <a:alpha val="29803"/>
              </a:srgbClr>
            </a:outerShdw>
          </a:effectLst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3"/>
          <p:cNvSpPr/>
          <p:nvPr/>
        </p:nvSpPr>
        <p:spPr>
          <a:xfrm>
            <a:off x="609519" y="6964344"/>
            <a:ext cx="7924962" cy="952500"/>
          </a:xfrm>
          <a:prstGeom prst="rect">
            <a:avLst/>
          </a:prstGeom>
          <a:solidFill>
            <a:srgbClr val="9B00FF"/>
          </a:solidFill>
          <a:ln>
            <a:noFill/>
          </a:ln>
          <a:effectLst>
            <a:outerShdw blurRad="114300" rotWithShape="0" algn="bl" dir="5400000" dist="38100">
              <a:srgbClr val="000000">
                <a:alpha val="29803"/>
              </a:srgbClr>
            </a:outerShdw>
          </a:effectLst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3"/>
          <p:cNvSpPr/>
          <p:nvPr/>
        </p:nvSpPr>
        <p:spPr>
          <a:xfrm>
            <a:off x="609519" y="609519"/>
            <a:ext cx="8083461" cy="4113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2700"/>
              <a:buFont typeface="Arial"/>
              <a:buNone/>
            </a:pPr>
            <a:r>
              <a:rPr b="1" lang="en-US" sz="2700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1Depth - 메인 네비게이션 메뉴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3"/>
          <p:cNvSpPr/>
          <p:nvPr/>
        </p:nvSpPr>
        <p:spPr>
          <a:xfrm>
            <a:off x="4411640" y="1755901"/>
            <a:ext cx="320584" cy="1472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Home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3"/>
          <p:cNvSpPr/>
          <p:nvPr/>
        </p:nvSpPr>
        <p:spPr>
          <a:xfrm>
            <a:off x="4416331" y="2708401"/>
            <a:ext cx="311338" cy="1472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Series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3"/>
          <p:cNvSpPr/>
          <p:nvPr/>
        </p:nvSpPr>
        <p:spPr>
          <a:xfrm>
            <a:off x="4382382" y="3660901"/>
            <a:ext cx="379236" cy="1472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Movies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3"/>
          <p:cNvSpPr/>
          <p:nvPr/>
        </p:nvSpPr>
        <p:spPr>
          <a:xfrm>
            <a:off x="609519" y="4106844"/>
            <a:ext cx="7924962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40"/>
              <a:buFont typeface="Arial"/>
              <a:buNone/>
            </a:pPr>
            <a:r>
              <a:rPr b="1" lang="en-US" sz="114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NEW &amp;</a:t>
            </a:r>
            <a:endParaRPr sz="114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40"/>
              <a:buFont typeface="Arial"/>
              <a:buNone/>
            </a:pPr>
            <a:r>
              <a:rPr b="1" lang="en-US" sz="114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인기</a:t>
            </a:r>
            <a:endParaRPr sz="114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3"/>
          <p:cNvSpPr/>
          <p:nvPr/>
        </p:nvSpPr>
        <p:spPr>
          <a:xfrm>
            <a:off x="609519" y="5059344"/>
            <a:ext cx="7924962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40"/>
              <a:buFont typeface="Arial"/>
              <a:buNone/>
            </a:pPr>
            <a:r>
              <a:rPr b="1" lang="en-US" sz="114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찜한</a:t>
            </a:r>
            <a:endParaRPr sz="114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40"/>
              <a:buFont typeface="Arial"/>
              <a:buNone/>
            </a:pPr>
            <a:r>
              <a:rPr b="1" lang="en-US" sz="114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것</a:t>
            </a:r>
            <a:endParaRPr sz="114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3"/>
          <p:cNvSpPr/>
          <p:nvPr/>
        </p:nvSpPr>
        <p:spPr>
          <a:xfrm>
            <a:off x="609519" y="6011844"/>
            <a:ext cx="7924962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40"/>
              <a:buFont typeface="Arial"/>
              <a:buNone/>
            </a:pPr>
            <a:r>
              <a:rPr b="1" lang="en-US" sz="114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언어별</a:t>
            </a:r>
            <a:endParaRPr sz="114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40"/>
              <a:buFont typeface="Arial"/>
              <a:buNone/>
            </a:pPr>
            <a:r>
              <a:rPr b="1" lang="en-US" sz="114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탐색</a:t>
            </a:r>
            <a:endParaRPr sz="114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4393147" y="7470901"/>
            <a:ext cx="357707" cy="1472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Games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"/>
          <p:cNvSpPr/>
          <p:nvPr/>
        </p:nvSpPr>
        <p:spPr>
          <a:xfrm>
            <a:off x="609519" y="1512500"/>
            <a:ext cx="2565526" cy="436202"/>
          </a:xfrm>
          <a:prstGeom prst="rect">
            <a:avLst/>
          </a:prstGeom>
          <a:solidFill>
            <a:srgbClr val="FFFFFF">
              <a:alpha val="9803"/>
            </a:srgbClr>
          </a:solidFill>
          <a:ln cap="flat" cmpd="sng" w="9525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14300" lIns="114300" spcFirstLastPara="1" rIns="114300" wrap="square" tIns="1143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20"/>
              <a:buFont typeface="Arial"/>
              <a:buNone/>
            </a:pPr>
            <a:r>
              <a:rPr lang="en-US" sz="102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Continue Watching</a:t>
            </a:r>
            <a:endParaRPr sz="10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3289237" y="1512500"/>
            <a:ext cx="2565526" cy="436202"/>
          </a:xfrm>
          <a:prstGeom prst="rect">
            <a:avLst/>
          </a:prstGeom>
          <a:solidFill>
            <a:srgbClr val="FFFFFF">
              <a:alpha val="9803"/>
            </a:srgbClr>
          </a:solidFill>
          <a:ln cap="flat" cmpd="sng" w="9525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14300" lIns="114300" spcFirstLastPara="1" rIns="114300" wrap="square" tIns="1143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20"/>
              <a:buFont typeface="Arial"/>
              <a:buNone/>
            </a:pPr>
            <a:r>
              <a:rPr lang="en-US" sz="102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한국 TOP10 시리즈</a:t>
            </a:r>
            <a:endParaRPr sz="10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4"/>
          <p:cNvSpPr/>
          <p:nvPr/>
        </p:nvSpPr>
        <p:spPr>
          <a:xfrm>
            <a:off x="5968955" y="1512500"/>
            <a:ext cx="2565526" cy="436202"/>
          </a:xfrm>
          <a:prstGeom prst="rect">
            <a:avLst/>
          </a:prstGeom>
          <a:solidFill>
            <a:srgbClr val="FFFFFF">
              <a:alpha val="9803"/>
            </a:srgbClr>
          </a:solidFill>
          <a:ln cap="flat" cmpd="sng" w="9525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14300" lIns="114300" spcFirstLastPara="1" rIns="114300" wrap="square" tIns="1143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20"/>
              <a:buFont typeface="Arial"/>
              <a:buNone/>
            </a:pPr>
            <a:r>
              <a:rPr lang="en-US" sz="102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한국 TOP10 영화</a:t>
            </a:r>
            <a:endParaRPr sz="10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609519" y="2062893"/>
            <a:ext cx="2565526" cy="436202"/>
          </a:xfrm>
          <a:prstGeom prst="rect">
            <a:avLst/>
          </a:prstGeom>
          <a:solidFill>
            <a:srgbClr val="FFFFFF">
              <a:alpha val="9803"/>
            </a:srgbClr>
          </a:solidFill>
          <a:ln cap="flat" cmpd="sng" w="9525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14300" lIns="114300" spcFirstLastPara="1" rIns="114300" wrap="square" tIns="1143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20"/>
              <a:buFont typeface="Arial"/>
              <a:buNone/>
            </a:pPr>
            <a:r>
              <a:rPr lang="en-US" sz="102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회원님을 위한 추천</a:t>
            </a:r>
            <a:endParaRPr sz="10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4"/>
          <p:cNvSpPr/>
          <p:nvPr/>
        </p:nvSpPr>
        <p:spPr>
          <a:xfrm>
            <a:off x="3289237" y="2062893"/>
            <a:ext cx="2565526" cy="436202"/>
          </a:xfrm>
          <a:prstGeom prst="rect">
            <a:avLst/>
          </a:prstGeom>
          <a:solidFill>
            <a:srgbClr val="FFFFFF">
              <a:alpha val="9803"/>
            </a:srgbClr>
          </a:solidFill>
          <a:ln cap="flat" cmpd="sng" w="9525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14300" lIns="114300" spcFirstLastPara="1" rIns="114300" wrap="square" tIns="1143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20"/>
              <a:buFont typeface="Arial"/>
              <a:buNone/>
            </a:pPr>
            <a:r>
              <a:rPr lang="en-US" sz="102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한국 드라마</a:t>
            </a:r>
            <a:endParaRPr sz="10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5968955" y="2062893"/>
            <a:ext cx="2565526" cy="436202"/>
          </a:xfrm>
          <a:prstGeom prst="rect">
            <a:avLst/>
          </a:prstGeom>
          <a:solidFill>
            <a:srgbClr val="FFFFFF">
              <a:alpha val="9803"/>
            </a:srgbClr>
          </a:solidFill>
          <a:ln cap="flat" cmpd="sng" w="9525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14300" lIns="114300" spcFirstLastPara="1" rIns="114300" wrap="square" tIns="1143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20"/>
              <a:buFont typeface="Arial"/>
              <a:buNone/>
            </a:pPr>
            <a:r>
              <a:rPr lang="en-US" sz="102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한국 영화</a:t>
            </a:r>
            <a:endParaRPr sz="10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4"/>
          <p:cNvSpPr/>
          <p:nvPr/>
        </p:nvSpPr>
        <p:spPr>
          <a:xfrm>
            <a:off x="609519" y="2613286"/>
            <a:ext cx="2565526" cy="436202"/>
          </a:xfrm>
          <a:prstGeom prst="rect">
            <a:avLst/>
          </a:prstGeom>
          <a:solidFill>
            <a:srgbClr val="FFFFFF">
              <a:alpha val="9803"/>
            </a:srgbClr>
          </a:solidFill>
          <a:ln cap="flat" cmpd="sng" w="9525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14300" lIns="114300" spcFirstLastPara="1" rIns="114300" wrap="square" tIns="1143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20"/>
              <a:buFont typeface="Arial"/>
              <a:buNone/>
            </a:pPr>
            <a:r>
              <a:rPr lang="en-US" sz="102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국제 시리즈</a:t>
            </a:r>
            <a:endParaRPr sz="10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3289237" y="2613286"/>
            <a:ext cx="2565526" cy="436202"/>
          </a:xfrm>
          <a:prstGeom prst="rect">
            <a:avLst/>
          </a:prstGeom>
          <a:solidFill>
            <a:srgbClr val="FFFFFF">
              <a:alpha val="9803"/>
            </a:srgbClr>
          </a:solidFill>
          <a:ln cap="flat" cmpd="sng" w="9525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14300" lIns="114300" spcFirstLastPara="1" rIns="114300" wrap="square" tIns="1143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20"/>
              <a:buFont typeface="Arial"/>
              <a:buNone/>
            </a:pPr>
            <a:r>
              <a:rPr lang="en-US" sz="102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국제 영화</a:t>
            </a:r>
            <a:endParaRPr sz="10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4"/>
          <p:cNvSpPr/>
          <p:nvPr/>
        </p:nvSpPr>
        <p:spPr>
          <a:xfrm>
            <a:off x="609519" y="3049487"/>
            <a:ext cx="7924962" cy="102853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609519" y="609519"/>
            <a:ext cx="8083461" cy="4113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2700"/>
              <a:buFont typeface="Arial"/>
              <a:buNone/>
            </a:pPr>
            <a:r>
              <a:rPr b="1" lang="en-US" sz="2700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2Depth: 홈 (Home)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609519" y="1173171"/>
            <a:ext cx="7924962" cy="2251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핵심 기능:</a:t>
            </a:r>
            <a:r>
              <a:rPr lang="en-US" sz="12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개인화된 콘텐츠 발견 허브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787842" y="3201834"/>
            <a:ext cx="7594293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020"/>
              <a:buFont typeface="Arial"/>
              <a:buNone/>
            </a:pPr>
            <a:r>
              <a:rPr b="1" lang="en-US" sz="1020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개인화 수준:</a:t>
            </a:r>
            <a:r>
              <a:rPr lang="en-US" sz="102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매우 높음</a:t>
            </a:r>
            <a:endParaRPr sz="10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787842" y="3468507"/>
            <a:ext cx="7594293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020"/>
              <a:buFont typeface="Arial"/>
              <a:buNone/>
            </a:pPr>
            <a:r>
              <a:rPr b="1" lang="en-US" sz="1020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추천 엔진:</a:t>
            </a:r>
            <a:r>
              <a:rPr lang="en-US" sz="102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AI 협력 필터링</a:t>
            </a:r>
            <a:endParaRPr sz="10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787842" y="3735179"/>
            <a:ext cx="7594293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020"/>
              <a:buFont typeface="Arial"/>
              <a:buNone/>
            </a:pPr>
            <a:r>
              <a:rPr b="1" lang="en-US" sz="1020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CTA:</a:t>
            </a:r>
            <a:r>
              <a:rPr lang="en-US" sz="102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Play / 상세 보기</a:t>
            </a:r>
            <a:endParaRPr sz="10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5"/>
          <p:cNvSpPr/>
          <p:nvPr/>
        </p:nvSpPr>
        <p:spPr>
          <a:xfrm>
            <a:off x="609519" y="1474480"/>
            <a:ext cx="2565526" cy="436202"/>
          </a:xfrm>
          <a:prstGeom prst="rect">
            <a:avLst/>
          </a:prstGeom>
          <a:solidFill>
            <a:srgbClr val="FFFFFF">
              <a:alpha val="9803"/>
            </a:srgbClr>
          </a:solidFill>
          <a:ln cap="flat" cmpd="sng" w="9525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14300" lIns="114300" spcFirstLastPara="1" rIns="114300" wrap="square" tIns="1143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20"/>
              <a:buFont typeface="Arial"/>
              <a:buNone/>
            </a:pPr>
            <a:r>
              <a:rPr lang="en-US" sz="102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한국 시리즈</a:t>
            </a:r>
            <a:endParaRPr sz="10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3289237" y="1474480"/>
            <a:ext cx="2565526" cy="436202"/>
          </a:xfrm>
          <a:prstGeom prst="rect">
            <a:avLst/>
          </a:prstGeom>
          <a:solidFill>
            <a:srgbClr val="FFFFFF">
              <a:alpha val="9803"/>
            </a:srgbClr>
          </a:solidFill>
          <a:ln cap="flat" cmpd="sng" w="9525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14300" lIns="114300" spcFirstLastPara="1" rIns="114300" wrap="square" tIns="1143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20"/>
              <a:buFont typeface="Arial"/>
              <a:buNone/>
            </a:pPr>
            <a:r>
              <a:rPr lang="en-US" sz="102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미국 시리즈</a:t>
            </a:r>
            <a:endParaRPr sz="10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5968955" y="1474480"/>
            <a:ext cx="2565526" cy="436202"/>
          </a:xfrm>
          <a:prstGeom prst="rect">
            <a:avLst/>
          </a:prstGeom>
          <a:solidFill>
            <a:srgbClr val="FFFFFF">
              <a:alpha val="9803"/>
            </a:srgbClr>
          </a:solidFill>
          <a:ln cap="flat" cmpd="sng" w="9525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14300" lIns="114300" spcFirstLastPara="1" rIns="114300" wrap="square" tIns="1143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20"/>
              <a:buFont typeface="Arial"/>
              <a:buNone/>
            </a:pPr>
            <a:r>
              <a:rPr lang="en-US" sz="102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국제 시리즈</a:t>
            </a:r>
            <a:endParaRPr sz="10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609519" y="2024874"/>
            <a:ext cx="2565526" cy="436202"/>
          </a:xfrm>
          <a:prstGeom prst="rect">
            <a:avLst/>
          </a:prstGeom>
          <a:solidFill>
            <a:srgbClr val="FFFFFF">
              <a:alpha val="9803"/>
            </a:srgbClr>
          </a:solidFill>
          <a:ln cap="flat" cmpd="sng" w="9525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14300" lIns="114300" spcFirstLastPara="1" rIns="114300" wrap="square" tIns="1143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20"/>
              <a:buFont typeface="Arial"/>
              <a:buNone/>
            </a:pPr>
            <a:r>
              <a:rPr lang="en-US" sz="102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애니메이션</a:t>
            </a:r>
            <a:endParaRPr sz="10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3289237" y="2024874"/>
            <a:ext cx="2565526" cy="436202"/>
          </a:xfrm>
          <a:prstGeom prst="rect">
            <a:avLst/>
          </a:prstGeom>
          <a:solidFill>
            <a:srgbClr val="FFFFFF">
              <a:alpha val="9803"/>
            </a:srgbClr>
          </a:solidFill>
          <a:ln cap="flat" cmpd="sng" w="9525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14300" lIns="114300" spcFirstLastPara="1" rIns="114300" wrap="square" tIns="1143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20"/>
              <a:buFont typeface="Arial"/>
              <a:buNone/>
            </a:pPr>
            <a:r>
              <a:rPr lang="en-US" sz="102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TOP10</a:t>
            </a:r>
            <a:endParaRPr sz="10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5968955" y="2024874"/>
            <a:ext cx="2565526" cy="436202"/>
          </a:xfrm>
          <a:prstGeom prst="rect">
            <a:avLst/>
          </a:prstGeom>
          <a:solidFill>
            <a:srgbClr val="FFFFFF">
              <a:alpha val="9803"/>
            </a:srgbClr>
          </a:solidFill>
          <a:ln cap="flat" cmpd="sng" w="9525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14300" lIns="114300" spcFirstLastPara="1" rIns="114300" wrap="square" tIns="1143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20"/>
              <a:buFont typeface="Arial"/>
              <a:buNone/>
            </a:pPr>
            <a:r>
              <a:rPr lang="en-US" sz="102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새로 추가</a:t>
            </a:r>
            <a:endParaRPr sz="10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609519" y="2762385"/>
            <a:ext cx="2565526" cy="436202"/>
          </a:xfrm>
          <a:prstGeom prst="rect">
            <a:avLst/>
          </a:prstGeom>
          <a:solidFill>
            <a:srgbClr val="FFFFFF">
              <a:alpha val="9803"/>
            </a:srgbClr>
          </a:solidFill>
          <a:ln cap="flat" cmpd="sng" w="9525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14300" lIns="114300" spcFirstLastPara="1" rIns="114300" wrap="square" tIns="1143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20"/>
              <a:buFont typeface="Arial"/>
              <a:buNone/>
            </a:pPr>
            <a:r>
              <a:rPr lang="en-US" sz="102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한국 영화</a:t>
            </a:r>
            <a:endParaRPr sz="10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3289237" y="2762385"/>
            <a:ext cx="2565526" cy="436202"/>
          </a:xfrm>
          <a:prstGeom prst="rect">
            <a:avLst/>
          </a:prstGeom>
          <a:solidFill>
            <a:srgbClr val="FFFFFF">
              <a:alpha val="9803"/>
            </a:srgbClr>
          </a:solidFill>
          <a:ln cap="flat" cmpd="sng" w="9525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14300" lIns="114300" spcFirstLastPara="1" rIns="114300" wrap="square" tIns="1143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20"/>
              <a:buFont typeface="Arial"/>
              <a:buNone/>
            </a:pPr>
            <a:r>
              <a:rPr lang="en-US" sz="102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미국 영화</a:t>
            </a:r>
            <a:endParaRPr sz="10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5"/>
          <p:cNvSpPr/>
          <p:nvPr/>
        </p:nvSpPr>
        <p:spPr>
          <a:xfrm>
            <a:off x="5968955" y="2762385"/>
            <a:ext cx="2565526" cy="436202"/>
          </a:xfrm>
          <a:prstGeom prst="rect">
            <a:avLst/>
          </a:prstGeom>
          <a:solidFill>
            <a:srgbClr val="FFFFFF">
              <a:alpha val="9803"/>
            </a:srgbClr>
          </a:solidFill>
          <a:ln cap="flat" cmpd="sng" w="9525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14300" lIns="114300" spcFirstLastPara="1" rIns="114300" wrap="square" tIns="1143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20"/>
              <a:buFont typeface="Arial"/>
              <a:buNone/>
            </a:pPr>
            <a:r>
              <a:rPr lang="en-US" sz="102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국제 영화</a:t>
            </a:r>
            <a:endParaRPr sz="10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609519" y="3312777"/>
            <a:ext cx="2565526" cy="436202"/>
          </a:xfrm>
          <a:prstGeom prst="rect">
            <a:avLst/>
          </a:prstGeom>
          <a:solidFill>
            <a:srgbClr val="FFFFFF">
              <a:alpha val="9803"/>
            </a:srgbClr>
          </a:solidFill>
          <a:ln cap="flat" cmpd="sng" w="9525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14300" lIns="114300" spcFirstLastPara="1" rIns="114300" wrap="square" tIns="1143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20"/>
              <a:buFont typeface="Arial"/>
              <a:buNone/>
            </a:pPr>
            <a:r>
              <a:rPr lang="en-US" sz="102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애니메이션</a:t>
            </a:r>
            <a:endParaRPr sz="10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5"/>
          <p:cNvSpPr/>
          <p:nvPr/>
        </p:nvSpPr>
        <p:spPr>
          <a:xfrm>
            <a:off x="3289237" y="3312777"/>
            <a:ext cx="2565526" cy="436202"/>
          </a:xfrm>
          <a:prstGeom prst="rect">
            <a:avLst/>
          </a:prstGeom>
          <a:solidFill>
            <a:srgbClr val="FFFFFF">
              <a:alpha val="9803"/>
            </a:srgbClr>
          </a:solidFill>
          <a:ln cap="flat" cmpd="sng" w="9525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14300" lIns="114300" spcFirstLastPara="1" rIns="114300" wrap="square" tIns="1143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20"/>
              <a:buFont typeface="Arial"/>
              <a:buNone/>
            </a:pPr>
            <a:r>
              <a:rPr lang="en-US" sz="102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코미디</a:t>
            </a:r>
            <a:endParaRPr sz="10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5968955" y="3312777"/>
            <a:ext cx="2565526" cy="436202"/>
          </a:xfrm>
          <a:prstGeom prst="rect">
            <a:avLst/>
          </a:prstGeom>
          <a:solidFill>
            <a:srgbClr val="FFFFFF">
              <a:alpha val="9803"/>
            </a:srgbClr>
          </a:solidFill>
          <a:ln cap="flat" cmpd="sng" w="9525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14300" lIns="114300" spcFirstLastPara="1" rIns="114300" wrap="square" tIns="1143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20"/>
              <a:buFont typeface="Arial"/>
              <a:buNone/>
            </a:pPr>
            <a:r>
              <a:rPr lang="en-US" sz="102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액션</a:t>
            </a:r>
            <a:endParaRPr sz="10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609519" y="609519"/>
            <a:ext cx="8083461" cy="4113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2700"/>
              <a:buFont typeface="Arial"/>
              <a:buNone/>
            </a:pPr>
            <a:r>
              <a:rPr b="1" lang="en-US" sz="2700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2Depth: 시리즈 &amp; 영화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609519" y="1173170"/>
            <a:ext cx="7924962" cy="2251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시리즈 (Series)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5"/>
          <p:cNvSpPr/>
          <p:nvPr/>
        </p:nvSpPr>
        <p:spPr>
          <a:xfrm>
            <a:off x="609519" y="2461075"/>
            <a:ext cx="7924962" cy="2251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영화 (Movies)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6"/>
          <p:cNvSpPr/>
          <p:nvPr/>
        </p:nvSpPr>
        <p:spPr>
          <a:xfrm>
            <a:off x="609519" y="1173170"/>
            <a:ext cx="7924962" cy="152386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6"/>
          <p:cNvSpPr/>
          <p:nvPr/>
        </p:nvSpPr>
        <p:spPr>
          <a:xfrm>
            <a:off x="609519" y="2697035"/>
            <a:ext cx="7924962" cy="152386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6"/>
          <p:cNvSpPr/>
          <p:nvPr/>
        </p:nvSpPr>
        <p:spPr>
          <a:xfrm>
            <a:off x="609519" y="4220901"/>
            <a:ext cx="7924962" cy="152386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6"/>
          <p:cNvSpPr/>
          <p:nvPr/>
        </p:nvSpPr>
        <p:spPr>
          <a:xfrm>
            <a:off x="609519" y="609519"/>
            <a:ext cx="8083461" cy="4113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2700"/>
              <a:buFont typeface="Arial"/>
              <a:buNone/>
            </a:pPr>
            <a:r>
              <a:rPr b="1" lang="en-US" sz="2700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2Depth: 신규 &amp; 개인 콘텐츠 &amp; 언어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6"/>
          <p:cNvSpPr/>
          <p:nvPr/>
        </p:nvSpPr>
        <p:spPr>
          <a:xfrm>
            <a:off x="787842" y="1325517"/>
            <a:ext cx="7594293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020"/>
              <a:buFont typeface="Arial"/>
              <a:buNone/>
            </a:pPr>
            <a:r>
              <a:rPr b="1" lang="en-US" sz="1020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NEW &amp; 인기</a:t>
            </a:r>
            <a:endParaRPr sz="10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6"/>
          <p:cNvSpPr/>
          <p:nvPr/>
        </p:nvSpPr>
        <p:spPr>
          <a:xfrm>
            <a:off x="787842" y="1592189"/>
            <a:ext cx="7594293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20"/>
              <a:buFont typeface="Arial"/>
              <a:buNone/>
            </a:pPr>
            <a:r>
              <a:rPr lang="en-US" sz="102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• 지금 뜨는 콘텐츠</a:t>
            </a:r>
            <a:endParaRPr sz="10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20"/>
              <a:buFont typeface="Arial"/>
              <a:buNone/>
            </a:pPr>
            <a:r>
              <a:rPr lang="en-US" sz="102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• 이번 주 TOP10</a:t>
            </a:r>
            <a:endParaRPr sz="10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20"/>
              <a:buFont typeface="Arial"/>
              <a:buNone/>
            </a:pPr>
            <a:r>
              <a:rPr lang="en-US" sz="102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• 새로 추가됨</a:t>
            </a:r>
            <a:endParaRPr sz="10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20"/>
              <a:buFont typeface="Arial"/>
              <a:buNone/>
            </a:pPr>
            <a:r>
              <a:rPr lang="en-US" sz="102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• 시즌 프리미어</a:t>
            </a:r>
            <a:endParaRPr sz="10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20"/>
              <a:buFont typeface="Arial"/>
              <a:buNone/>
            </a:pPr>
            <a:r>
              <a:rPr lang="en-US" sz="102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• 인기 영화/시리즈</a:t>
            </a:r>
            <a:endParaRPr sz="10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6"/>
          <p:cNvSpPr/>
          <p:nvPr/>
        </p:nvSpPr>
        <p:spPr>
          <a:xfrm>
            <a:off x="787842" y="2849382"/>
            <a:ext cx="7594293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20710"/>
              </a:buClr>
              <a:buSzPts val="1020"/>
              <a:buFont typeface="Arial"/>
              <a:buNone/>
            </a:pPr>
            <a:r>
              <a:rPr b="1" lang="en-US" sz="1020">
                <a:solidFill>
                  <a:srgbClr val="B20710"/>
                </a:solidFill>
                <a:latin typeface="Arial"/>
                <a:ea typeface="Arial"/>
                <a:cs typeface="Arial"/>
                <a:sym typeface="Arial"/>
              </a:rPr>
              <a:t>내가 찜한 것</a:t>
            </a:r>
            <a:endParaRPr sz="10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6"/>
          <p:cNvSpPr/>
          <p:nvPr/>
        </p:nvSpPr>
        <p:spPr>
          <a:xfrm>
            <a:off x="787842" y="3116054"/>
            <a:ext cx="7594293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20"/>
              <a:buFont typeface="Arial"/>
              <a:buNone/>
            </a:pPr>
            <a:r>
              <a:rPr lang="en-US" sz="102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• 찜한 시리즈</a:t>
            </a:r>
            <a:endParaRPr sz="10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20"/>
              <a:buFont typeface="Arial"/>
              <a:buNone/>
            </a:pPr>
            <a:r>
              <a:rPr lang="en-US" sz="102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• 찜한 영화</a:t>
            </a:r>
            <a:endParaRPr sz="10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20"/>
              <a:buFont typeface="Arial"/>
              <a:buNone/>
            </a:pPr>
            <a:r>
              <a:rPr lang="en-US" sz="102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• 보는 중</a:t>
            </a:r>
            <a:endParaRPr sz="10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20"/>
              <a:buFont typeface="Arial"/>
              <a:buNone/>
            </a:pPr>
            <a:r>
              <a:rPr lang="en-US" sz="102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• 완료된 콘텐츠</a:t>
            </a:r>
            <a:endParaRPr sz="10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20"/>
              <a:buFont typeface="Arial"/>
              <a:buNone/>
            </a:pPr>
            <a:r>
              <a:rPr lang="en-US" sz="102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• 커스텀 리스트</a:t>
            </a:r>
            <a:endParaRPr sz="10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787842" y="4373245"/>
            <a:ext cx="7594293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71EB"/>
              </a:buClr>
              <a:buSzPts val="1020"/>
              <a:buFont typeface="Arial"/>
              <a:buNone/>
            </a:pPr>
            <a:r>
              <a:rPr b="1" lang="en-US" sz="1020">
                <a:solidFill>
                  <a:srgbClr val="0071EB"/>
                </a:solidFill>
                <a:latin typeface="Arial"/>
                <a:ea typeface="Arial"/>
                <a:cs typeface="Arial"/>
                <a:sym typeface="Arial"/>
              </a:rPr>
              <a:t>언어별 탐색</a:t>
            </a:r>
            <a:endParaRPr sz="10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6"/>
          <p:cNvSpPr/>
          <p:nvPr/>
        </p:nvSpPr>
        <p:spPr>
          <a:xfrm>
            <a:off x="787842" y="4639919"/>
            <a:ext cx="7594293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20"/>
              <a:buFont typeface="Arial"/>
              <a:buNone/>
            </a:pPr>
            <a:r>
              <a:rPr lang="en-US" sz="102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• 한국어 콘텐츠</a:t>
            </a:r>
            <a:endParaRPr sz="10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20"/>
              <a:buFont typeface="Arial"/>
              <a:buNone/>
            </a:pPr>
            <a:r>
              <a:rPr lang="en-US" sz="102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• 영어 콘텐츠</a:t>
            </a:r>
            <a:endParaRPr sz="10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20"/>
              <a:buFont typeface="Arial"/>
              <a:buNone/>
            </a:pPr>
            <a:r>
              <a:rPr lang="en-US" sz="102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• 일본어 콘텐츠</a:t>
            </a:r>
            <a:endParaRPr sz="10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20"/>
              <a:buFont typeface="Arial"/>
              <a:buNone/>
            </a:pPr>
            <a:r>
              <a:rPr lang="en-US" sz="102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• 스페인어</a:t>
            </a:r>
            <a:endParaRPr sz="10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20"/>
              <a:buFont typeface="Arial"/>
              <a:buNone/>
            </a:pPr>
            <a:r>
              <a:rPr lang="en-US" sz="102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• 중국어 등</a:t>
            </a:r>
            <a:endParaRPr sz="10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7"/>
          <p:cNvSpPr/>
          <p:nvPr/>
        </p:nvSpPr>
        <p:spPr>
          <a:xfrm>
            <a:off x="609519" y="1550652"/>
            <a:ext cx="3905385" cy="436202"/>
          </a:xfrm>
          <a:prstGeom prst="rect">
            <a:avLst/>
          </a:prstGeom>
          <a:solidFill>
            <a:srgbClr val="FFFFFF">
              <a:alpha val="9803"/>
            </a:srgbClr>
          </a:solidFill>
          <a:ln cap="flat" cmpd="sng" w="9525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14300" lIns="114300" spcFirstLastPara="1" rIns="114300" wrap="square" tIns="1143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20"/>
              <a:buFont typeface="Arial"/>
              <a:buNone/>
            </a:pPr>
            <a:r>
              <a:rPr lang="en-US" sz="102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신규 게임</a:t>
            </a:r>
            <a:endParaRPr sz="10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7"/>
          <p:cNvSpPr/>
          <p:nvPr/>
        </p:nvSpPr>
        <p:spPr>
          <a:xfrm>
            <a:off x="4629096" y="1550652"/>
            <a:ext cx="3905385" cy="436202"/>
          </a:xfrm>
          <a:prstGeom prst="rect">
            <a:avLst/>
          </a:prstGeom>
          <a:solidFill>
            <a:srgbClr val="FFFFFF">
              <a:alpha val="9803"/>
            </a:srgbClr>
          </a:solidFill>
          <a:ln cap="flat" cmpd="sng" w="9525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14300" lIns="114300" spcFirstLastPara="1" rIns="114300" wrap="square" tIns="1143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20"/>
              <a:buFont typeface="Arial"/>
              <a:buNone/>
            </a:pPr>
            <a:r>
              <a:rPr lang="en-US" sz="102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인기 게임</a:t>
            </a:r>
            <a:endParaRPr sz="10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7"/>
          <p:cNvSpPr/>
          <p:nvPr/>
        </p:nvSpPr>
        <p:spPr>
          <a:xfrm>
            <a:off x="609519" y="2101046"/>
            <a:ext cx="3905385" cy="436202"/>
          </a:xfrm>
          <a:prstGeom prst="rect">
            <a:avLst/>
          </a:prstGeom>
          <a:solidFill>
            <a:srgbClr val="FFFFFF">
              <a:alpha val="9803"/>
            </a:srgbClr>
          </a:solidFill>
          <a:ln cap="flat" cmpd="sng" w="9525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14300" lIns="114300" spcFirstLastPara="1" rIns="114300" wrap="square" tIns="1143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20"/>
              <a:buFont typeface="Arial"/>
              <a:buNone/>
            </a:pPr>
            <a:r>
              <a:rPr lang="en-US" sz="102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액션</a:t>
            </a:r>
            <a:endParaRPr sz="10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7"/>
          <p:cNvSpPr/>
          <p:nvPr/>
        </p:nvSpPr>
        <p:spPr>
          <a:xfrm>
            <a:off x="4629096" y="2101046"/>
            <a:ext cx="3905385" cy="436202"/>
          </a:xfrm>
          <a:prstGeom prst="rect">
            <a:avLst/>
          </a:prstGeom>
          <a:solidFill>
            <a:srgbClr val="FFFFFF">
              <a:alpha val="9803"/>
            </a:srgbClr>
          </a:solidFill>
          <a:ln cap="flat" cmpd="sng" w="9525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14300" lIns="114300" spcFirstLastPara="1" rIns="114300" wrap="square" tIns="1143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20"/>
              <a:buFont typeface="Arial"/>
              <a:buNone/>
            </a:pPr>
            <a:r>
              <a:rPr lang="en-US" sz="102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퍼즐</a:t>
            </a:r>
            <a:endParaRPr sz="10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7"/>
          <p:cNvSpPr/>
          <p:nvPr/>
        </p:nvSpPr>
        <p:spPr>
          <a:xfrm>
            <a:off x="609519" y="2651440"/>
            <a:ext cx="3905385" cy="436202"/>
          </a:xfrm>
          <a:prstGeom prst="rect">
            <a:avLst/>
          </a:prstGeom>
          <a:solidFill>
            <a:srgbClr val="FFFFFF">
              <a:alpha val="9803"/>
            </a:srgbClr>
          </a:solidFill>
          <a:ln cap="flat" cmpd="sng" w="9525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14300" lIns="114300" spcFirstLastPara="1" rIns="114300" wrap="square" tIns="1143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20"/>
              <a:buFont typeface="Arial"/>
              <a:buNone/>
            </a:pPr>
            <a:r>
              <a:rPr lang="en-US" sz="102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캐주얼</a:t>
            </a:r>
            <a:endParaRPr sz="10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7"/>
          <p:cNvSpPr/>
          <p:nvPr/>
        </p:nvSpPr>
        <p:spPr>
          <a:xfrm>
            <a:off x="4629096" y="2651440"/>
            <a:ext cx="3905385" cy="436202"/>
          </a:xfrm>
          <a:prstGeom prst="rect">
            <a:avLst/>
          </a:prstGeom>
          <a:solidFill>
            <a:srgbClr val="FFFFFF">
              <a:alpha val="9803"/>
            </a:srgbClr>
          </a:solidFill>
          <a:ln cap="flat" cmpd="sng" w="9525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14300" lIns="114300" spcFirstLastPara="1" rIns="114300" wrap="square" tIns="1143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20"/>
              <a:buFont typeface="Arial"/>
              <a:buNone/>
            </a:pPr>
            <a:r>
              <a:rPr lang="en-US" sz="102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스포츠</a:t>
            </a:r>
            <a:endParaRPr sz="10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7"/>
          <p:cNvSpPr/>
          <p:nvPr/>
        </p:nvSpPr>
        <p:spPr>
          <a:xfrm>
            <a:off x="609519" y="3087642"/>
            <a:ext cx="7924962" cy="1707464"/>
          </a:xfrm>
          <a:prstGeom prst="rect">
            <a:avLst/>
          </a:prstGeom>
          <a:solidFill>
            <a:srgbClr val="1E293B"/>
          </a:solidFill>
          <a:ln cap="flat" cmpd="sng" w="17300">
            <a:solidFill>
              <a:srgbClr val="9B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7"/>
          <p:cNvSpPr/>
          <p:nvPr/>
        </p:nvSpPr>
        <p:spPr>
          <a:xfrm>
            <a:off x="609519" y="609519"/>
            <a:ext cx="8083461" cy="4113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2700"/>
              <a:buFont typeface="Arial"/>
              <a:buNone/>
            </a:pPr>
            <a:r>
              <a:rPr b="1" lang="en-US" sz="2700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2Depth: 게임 (Games)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7"/>
          <p:cNvSpPr/>
          <p:nvPr/>
        </p:nvSpPr>
        <p:spPr>
          <a:xfrm>
            <a:off x="609519" y="1173170"/>
            <a:ext cx="7924962" cy="2251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게임 네비게이션: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7"/>
          <p:cNvSpPr/>
          <p:nvPr/>
        </p:nvSpPr>
        <p:spPr>
          <a:xfrm>
            <a:off x="817337" y="3295459"/>
            <a:ext cx="7509326" cy="2251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B00FF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9B00FF"/>
                </a:solidFill>
                <a:latin typeface="Arial"/>
                <a:ea typeface="Arial"/>
                <a:cs typeface="Arial"/>
                <a:sym typeface="Arial"/>
              </a:rPr>
              <a:t>게임 플랫폼 전략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7"/>
          <p:cNvSpPr/>
          <p:nvPr/>
        </p:nvSpPr>
        <p:spPr>
          <a:xfrm>
            <a:off x="817337" y="3634787"/>
            <a:ext cx="7509326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20"/>
              <a:buFont typeface="Arial"/>
              <a:buNone/>
            </a:pPr>
            <a:r>
              <a:rPr lang="en-US" sz="102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• Netflix 구독 포함</a:t>
            </a:r>
            <a:endParaRPr sz="10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20"/>
              <a:buFont typeface="Arial"/>
              <a:buNone/>
            </a:pPr>
            <a:r>
              <a:rPr lang="en-US" sz="102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• 추가 비용 없음</a:t>
            </a:r>
            <a:endParaRPr sz="10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20"/>
              <a:buFont typeface="Arial"/>
              <a:buNone/>
            </a:pPr>
            <a:r>
              <a:rPr lang="en-US" sz="102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• 프로필별 진행도 관리</a:t>
            </a:r>
            <a:endParaRPr sz="10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20"/>
              <a:buFont typeface="Arial"/>
              <a:buNone/>
            </a:pPr>
            <a:r>
              <a:rPr lang="en-US" sz="102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• 소셜 기능 통합</a:t>
            </a:r>
            <a:endParaRPr sz="10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20"/>
              <a:buFont typeface="Arial"/>
              <a:buNone/>
            </a:pPr>
            <a:r>
              <a:rPr lang="en-US" sz="102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• AI 추천 시스템</a:t>
            </a:r>
            <a:endParaRPr sz="10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8"/>
          <p:cNvSpPr/>
          <p:nvPr/>
        </p:nvSpPr>
        <p:spPr>
          <a:xfrm>
            <a:off x="609519" y="1249345"/>
            <a:ext cx="7924962" cy="41888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8"/>
          <p:cNvSpPr/>
          <p:nvPr/>
        </p:nvSpPr>
        <p:spPr>
          <a:xfrm>
            <a:off x="609519" y="1668228"/>
            <a:ext cx="7924962" cy="41888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8"/>
          <p:cNvSpPr/>
          <p:nvPr/>
        </p:nvSpPr>
        <p:spPr>
          <a:xfrm>
            <a:off x="609519" y="2087112"/>
            <a:ext cx="7924962" cy="41888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8"/>
          <p:cNvSpPr/>
          <p:nvPr/>
        </p:nvSpPr>
        <p:spPr>
          <a:xfrm>
            <a:off x="609519" y="2505998"/>
            <a:ext cx="7924962" cy="41888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8"/>
          <p:cNvSpPr/>
          <p:nvPr/>
        </p:nvSpPr>
        <p:spPr>
          <a:xfrm>
            <a:off x="609519" y="2924880"/>
            <a:ext cx="7924962" cy="41888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8"/>
          <p:cNvSpPr/>
          <p:nvPr/>
        </p:nvSpPr>
        <p:spPr>
          <a:xfrm>
            <a:off x="609519" y="609521"/>
            <a:ext cx="8083461" cy="4113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2700"/>
              <a:buFont typeface="Arial"/>
              <a:buNone/>
            </a:pPr>
            <a:r>
              <a:rPr b="1" lang="en-US" sz="2700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콘텐츠 레일 패턴 (Content Rails)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8"/>
          <p:cNvSpPr/>
          <p:nvPr/>
        </p:nvSpPr>
        <p:spPr>
          <a:xfrm>
            <a:off x="1426044" y="1372195"/>
            <a:ext cx="3170924" cy="1731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20"/>
              <a:buFont typeface="Arial"/>
              <a:buNone/>
            </a:pPr>
            <a:r>
              <a:rPr lang="en-US" sz="102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Continue Watching | 회원님을 위한 추천 | 시청 기록 기반</a:t>
            </a:r>
            <a:endParaRPr sz="10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8"/>
          <p:cNvSpPr/>
          <p:nvPr/>
        </p:nvSpPr>
        <p:spPr>
          <a:xfrm>
            <a:off x="1306846" y="1791079"/>
            <a:ext cx="2341242" cy="1731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20"/>
              <a:buFont typeface="Arial"/>
              <a:buNone/>
            </a:pPr>
            <a:r>
              <a:rPr lang="en-US" sz="102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한국 TOP10 | 국제 TOP10 | 이번 주 TOP10</a:t>
            </a:r>
            <a:endParaRPr sz="10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8"/>
          <p:cNvSpPr/>
          <p:nvPr/>
        </p:nvSpPr>
        <p:spPr>
          <a:xfrm>
            <a:off x="1580420" y="2209965"/>
            <a:ext cx="2207930" cy="1731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20"/>
              <a:buFont typeface="Arial"/>
              <a:buNone/>
            </a:pPr>
            <a:r>
              <a:rPr lang="en-US" sz="102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한국 드라마 | 국제 시리즈 | 코미디 | 액션</a:t>
            </a:r>
            <a:endParaRPr sz="10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8"/>
          <p:cNvSpPr/>
          <p:nvPr/>
        </p:nvSpPr>
        <p:spPr>
          <a:xfrm>
            <a:off x="1306846" y="2628847"/>
            <a:ext cx="2540934" cy="1731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20"/>
              <a:buFont typeface="Arial"/>
              <a:buNone/>
            </a:pPr>
            <a:r>
              <a:rPr lang="en-US" sz="102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새로 추가됨 | 지금 뜨는 콘텐츠 | 시즌 프리미어</a:t>
            </a:r>
            <a:endParaRPr sz="10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8"/>
          <p:cNvSpPr/>
          <p:nvPr/>
        </p:nvSpPr>
        <p:spPr>
          <a:xfrm>
            <a:off x="1271127" y="3047733"/>
            <a:ext cx="1581391" cy="1731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20"/>
              <a:buFont typeface="Arial"/>
              <a:buNone/>
            </a:pPr>
            <a:r>
              <a:rPr lang="en-US" sz="102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컬렉션 | 리스트 | 에디터 선택</a:t>
            </a:r>
            <a:endParaRPr sz="10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9"/>
          <p:cNvSpPr/>
          <p:nvPr/>
        </p:nvSpPr>
        <p:spPr>
          <a:xfrm>
            <a:off x="609519" y="1249342"/>
            <a:ext cx="7924962" cy="779183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9"/>
          <p:cNvSpPr/>
          <p:nvPr/>
        </p:nvSpPr>
        <p:spPr>
          <a:xfrm>
            <a:off x="609519" y="2028527"/>
            <a:ext cx="7924962" cy="779183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9"/>
          <p:cNvSpPr/>
          <p:nvPr/>
        </p:nvSpPr>
        <p:spPr>
          <a:xfrm>
            <a:off x="609519" y="2807708"/>
            <a:ext cx="7924962" cy="779183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9"/>
          <p:cNvSpPr/>
          <p:nvPr/>
        </p:nvSpPr>
        <p:spPr>
          <a:xfrm>
            <a:off x="609519" y="609516"/>
            <a:ext cx="8083461" cy="4113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2700"/>
              <a:buFont typeface="Arial"/>
              <a:buNone/>
            </a:pPr>
            <a:r>
              <a:rPr b="1" lang="en-US" sz="2700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개인화 &amp; AI 추천 엔진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9"/>
          <p:cNvSpPr/>
          <p:nvPr/>
        </p:nvSpPr>
        <p:spPr>
          <a:xfrm>
            <a:off x="796501" y="1401687"/>
            <a:ext cx="7585634" cy="1991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080"/>
              <a:buFont typeface="Arial"/>
              <a:buNone/>
            </a:pPr>
            <a:r>
              <a:rPr b="1" lang="en-US" sz="1080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1계층: 협력 필터링 (Collaborative Filtering)</a:t>
            </a:r>
            <a:endParaRPr sz="10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9"/>
          <p:cNvSpPr/>
          <p:nvPr/>
        </p:nvSpPr>
        <p:spPr>
          <a:xfrm>
            <a:off x="796501" y="1677019"/>
            <a:ext cx="7585634" cy="1991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80"/>
              <a:buFont typeface="Arial"/>
              <a:buNone/>
            </a:pPr>
            <a:r>
              <a:rPr lang="en-US" sz="108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유사한 시청 패턴의 사용자 → 비슷한 콘텐츠 추천</a:t>
            </a:r>
            <a:endParaRPr sz="10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9"/>
          <p:cNvSpPr/>
          <p:nvPr/>
        </p:nvSpPr>
        <p:spPr>
          <a:xfrm>
            <a:off x="796501" y="2180872"/>
            <a:ext cx="7585634" cy="1991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080"/>
              <a:buFont typeface="Arial"/>
              <a:buNone/>
            </a:pPr>
            <a:r>
              <a:rPr b="1" lang="en-US" sz="1080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2계층: 콘텐츠 기반 필터링 (Content-Based)</a:t>
            </a:r>
            <a:endParaRPr sz="10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9"/>
          <p:cNvSpPr/>
          <p:nvPr/>
        </p:nvSpPr>
        <p:spPr>
          <a:xfrm>
            <a:off x="796501" y="2456204"/>
            <a:ext cx="7585634" cy="1991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80"/>
              <a:buFont typeface="Arial"/>
              <a:buNone/>
            </a:pPr>
            <a:r>
              <a:rPr lang="en-US" sz="108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장르 / 배우 / 감독 / 메타데이터 → 유사 콘텐츠</a:t>
            </a:r>
            <a:endParaRPr sz="10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9"/>
          <p:cNvSpPr/>
          <p:nvPr/>
        </p:nvSpPr>
        <p:spPr>
          <a:xfrm>
            <a:off x="796501" y="2960057"/>
            <a:ext cx="7585634" cy="1991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71EB"/>
              </a:buClr>
              <a:buSzPts val="1080"/>
              <a:buFont typeface="Arial"/>
              <a:buNone/>
            </a:pPr>
            <a:r>
              <a:rPr b="1" lang="en-US" sz="1080">
                <a:solidFill>
                  <a:srgbClr val="0071EB"/>
                </a:solidFill>
                <a:latin typeface="Arial"/>
                <a:ea typeface="Arial"/>
                <a:cs typeface="Arial"/>
                <a:sym typeface="Arial"/>
              </a:rPr>
              <a:t>3계층: 컨텍스트 기반 추천 (Context-Aware)</a:t>
            </a:r>
            <a:endParaRPr sz="10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9"/>
          <p:cNvSpPr/>
          <p:nvPr/>
        </p:nvSpPr>
        <p:spPr>
          <a:xfrm>
            <a:off x="796501" y="3235389"/>
            <a:ext cx="7585634" cy="1991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80"/>
              <a:buFont typeface="Arial"/>
              <a:buNone/>
            </a:pPr>
            <a:r>
              <a:rPr lang="en-US" sz="108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시간 / 디바이스 / 시즌 / 트렌드 → 즉각적 상황 맞춤</a:t>
            </a:r>
            <a:endParaRPr sz="10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0"/>
          <p:cNvSpPr/>
          <p:nvPr/>
        </p:nvSpPr>
        <p:spPr>
          <a:xfrm>
            <a:off x="609519" y="1249342"/>
            <a:ext cx="7924962" cy="66363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0"/>
          <p:cNvSpPr/>
          <p:nvPr/>
        </p:nvSpPr>
        <p:spPr>
          <a:xfrm>
            <a:off x="609519" y="1912981"/>
            <a:ext cx="7924962" cy="66363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0"/>
          <p:cNvSpPr/>
          <p:nvPr/>
        </p:nvSpPr>
        <p:spPr>
          <a:xfrm>
            <a:off x="609519" y="2576619"/>
            <a:ext cx="7924962" cy="66363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0"/>
          <p:cNvSpPr/>
          <p:nvPr/>
        </p:nvSpPr>
        <p:spPr>
          <a:xfrm>
            <a:off x="609519" y="3240258"/>
            <a:ext cx="7924962" cy="66363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0"/>
          <p:cNvSpPr/>
          <p:nvPr/>
        </p:nvSpPr>
        <p:spPr>
          <a:xfrm>
            <a:off x="609519" y="609516"/>
            <a:ext cx="8083461" cy="4113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2700"/>
              <a:buFont typeface="Arial"/>
              <a:buNone/>
            </a:pPr>
            <a:r>
              <a:rPr b="1" lang="en-US" sz="2700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IA 설계 의도 &amp; 전략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0"/>
          <p:cNvSpPr/>
          <p:nvPr/>
        </p:nvSpPr>
        <p:spPr>
          <a:xfrm>
            <a:off x="749688" y="1363535"/>
            <a:ext cx="7670602" cy="1991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080"/>
              <a:buFont typeface="Arial"/>
              <a:buNone/>
            </a:pPr>
            <a:r>
              <a:rPr b="1" lang="en-US" sz="1080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선택 피로 최소화</a:t>
            </a:r>
            <a:endParaRPr sz="10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0"/>
          <p:cNvSpPr/>
          <p:nvPr/>
        </p:nvSpPr>
        <p:spPr>
          <a:xfrm>
            <a:off x="749688" y="1608288"/>
            <a:ext cx="7670602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20"/>
              <a:buFont typeface="Arial"/>
              <a:buNone/>
            </a:pPr>
            <a:r>
              <a:rPr lang="en-US" sz="102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명확한 카테고리 + AI 필터링으로 선택 폭 제한</a:t>
            </a:r>
            <a:endParaRPr sz="10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0"/>
          <p:cNvSpPr/>
          <p:nvPr/>
        </p:nvSpPr>
        <p:spPr>
          <a:xfrm>
            <a:off x="749688" y="2027174"/>
            <a:ext cx="7670602" cy="1991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50914"/>
              </a:buClr>
              <a:buSzPts val="1080"/>
              <a:buFont typeface="Arial"/>
              <a:buNone/>
            </a:pPr>
            <a:r>
              <a:rPr b="1" lang="en-US" sz="1080">
                <a:solidFill>
                  <a:srgbClr val="E50914"/>
                </a:solidFill>
                <a:latin typeface="Arial"/>
                <a:ea typeface="Arial"/>
                <a:cs typeface="Arial"/>
                <a:sym typeface="Arial"/>
              </a:rPr>
              <a:t>탐색 경로 다양화</a:t>
            </a:r>
            <a:endParaRPr sz="10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0"/>
          <p:cNvSpPr/>
          <p:nvPr/>
        </p:nvSpPr>
        <p:spPr>
          <a:xfrm>
            <a:off x="749688" y="2271926"/>
            <a:ext cx="7670602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20"/>
              <a:buFont typeface="Arial"/>
              <a:buNone/>
            </a:pPr>
            <a:r>
              <a:rPr lang="en-US" sz="102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우연의 발견(serendipity) + 명시적 탐색 병행</a:t>
            </a:r>
            <a:endParaRPr sz="10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0"/>
          <p:cNvSpPr/>
          <p:nvPr/>
        </p:nvSpPr>
        <p:spPr>
          <a:xfrm>
            <a:off x="749688" y="2690813"/>
            <a:ext cx="7670602" cy="1991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080"/>
              <a:buFont typeface="Arial"/>
              <a:buNone/>
            </a:pPr>
            <a:r>
              <a:rPr b="1" lang="en-US" sz="1080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콘텐츠 다양성</a:t>
            </a:r>
            <a:endParaRPr sz="10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0"/>
          <p:cNvSpPr/>
          <p:nvPr/>
        </p:nvSpPr>
        <p:spPr>
          <a:xfrm>
            <a:off x="749688" y="2935565"/>
            <a:ext cx="7670602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20"/>
              <a:buFont typeface="Arial"/>
              <a:buNone/>
            </a:pPr>
            <a:r>
              <a:rPr lang="en-US" sz="102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지역 / 장르 / 언어 기반 세그먼트 제공</a:t>
            </a:r>
            <a:endParaRPr sz="10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0"/>
          <p:cNvSpPr/>
          <p:nvPr/>
        </p:nvSpPr>
        <p:spPr>
          <a:xfrm>
            <a:off x="749688" y="3354451"/>
            <a:ext cx="7670602" cy="1991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B00FF"/>
              </a:buClr>
              <a:buSzPts val="1080"/>
              <a:buFont typeface="Arial"/>
              <a:buNone/>
            </a:pPr>
            <a:r>
              <a:rPr b="1" lang="en-US" sz="1080">
                <a:solidFill>
                  <a:srgbClr val="9B00FF"/>
                </a:solidFill>
                <a:latin typeface="Arial"/>
                <a:ea typeface="Arial"/>
                <a:cs typeface="Arial"/>
                <a:sym typeface="Arial"/>
              </a:rPr>
              <a:t>지속적 재참여</a:t>
            </a:r>
            <a:endParaRPr sz="10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0"/>
          <p:cNvSpPr/>
          <p:nvPr/>
        </p:nvSpPr>
        <p:spPr>
          <a:xfrm>
            <a:off x="749688" y="3599204"/>
            <a:ext cx="7670602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20"/>
              <a:buFont typeface="Arial"/>
              <a:buNone/>
            </a:pPr>
            <a:r>
              <a:rPr lang="en-US" sz="102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TOP10 / 신규 / 트렌드로 계속 방문 유도</a:t>
            </a:r>
            <a:endParaRPr sz="10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1"/>
          <p:cNvSpPr/>
          <p:nvPr/>
        </p:nvSpPr>
        <p:spPr>
          <a:xfrm>
            <a:off x="609519" y="1249342"/>
            <a:ext cx="7924962" cy="618043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1"/>
          <p:cNvSpPr/>
          <p:nvPr/>
        </p:nvSpPr>
        <p:spPr>
          <a:xfrm>
            <a:off x="609519" y="1867384"/>
            <a:ext cx="7924962" cy="618043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1"/>
          <p:cNvSpPr/>
          <p:nvPr/>
        </p:nvSpPr>
        <p:spPr>
          <a:xfrm>
            <a:off x="609519" y="2485430"/>
            <a:ext cx="7924962" cy="618043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1"/>
          <p:cNvSpPr/>
          <p:nvPr/>
        </p:nvSpPr>
        <p:spPr>
          <a:xfrm>
            <a:off x="609519" y="3103471"/>
            <a:ext cx="7924962" cy="618043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1"/>
          <p:cNvSpPr/>
          <p:nvPr/>
        </p:nvSpPr>
        <p:spPr>
          <a:xfrm>
            <a:off x="609519" y="609516"/>
            <a:ext cx="8083461" cy="4113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2700"/>
              <a:buFont typeface="Arial"/>
              <a:buNone/>
            </a:pPr>
            <a:r>
              <a:rPr b="1" lang="en-US" sz="2700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사용자 여정 (User Journey)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1"/>
          <p:cNvSpPr/>
          <p:nvPr/>
        </p:nvSpPr>
        <p:spPr>
          <a:xfrm>
            <a:off x="758347" y="1571351"/>
            <a:ext cx="3173822" cy="1731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20"/>
              <a:buFont typeface="Arial"/>
              <a:buNone/>
            </a:pPr>
            <a:r>
              <a:rPr lang="en-US" sz="102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홈 화면 로드→ Continue Watching + TOP10 + 추천 레일</a:t>
            </a:r>
            <a:endParaRPr sz="10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1"/>
          <p:cNvSpPr/>
          <p:nvPr/>
        </p:nvSpPr>
        <p:spPr>
          <a:xfrm>
            <a:off x="758347" y="2189397"/>
            <a:ext cx="3070457" cy="1731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20"/>
              <a:buFont typeface="Arial"/>
              <a:buNone/>
            </a:pPr>
            <a:r>
              <a:rPr lang="en-US" sz="102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메뉴 네비게이션 → 카테고리 선택 → 콘텐츠 리스트 필터</a:t>
            </a:r>
            <a:endParaRPr sz="10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1"/>
          <p:cNvSpPr/>
          <p:nvPr/>
        </p:nvSpPr>
        <p:spPr>
          <a:xfrm>
            <a:off x="758347" y="2807438"/>
            <a:ext cx="2306603" cy="1731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20"/>
              <a:buFont typeface="Arial"/>
              <a:buNone/>
            </a:pPr>
            <a:r>
              <a:rPr lang="en-US" sz="102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콘텐츠 클릭 → 상세정보 → 재생 or 찜하기</a:t>
            </a:r>
            <a:endParaRPr sz="10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1"/>
          <p:cNvSpPr/>
          <p:nvPr/>
        </p:nvSpPr>
        <p:spPr>
          <a:xfrm>
            <a:off x="758347" y="3425479"/>
            <a:ext cx="2342760" cy="1731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20"/>
              <a:buFont typeface="Arial"/>
              <a:buNone/>
            </a:pPr>
            <a:r>
              <a:rPr lang="en-US" sz="102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시청 → 다음 콘텐츠 추천 → 재진입 or 이탈</a:t>
            </a:r>
            <a:endParaRPr sz="10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2"/>
          <p:cNvSpPr/>
          <p:nvPr/>
        </p:nvSpPr>
        <p:spPr>
          <a:xfrm>
            <a:off x="609519" y="609516"/>
            <a:ext cx="8083461" cy="4113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2700"/>
              <a:buFont typeface="Arial"/>
              <a:buNone/>
            </a:pPr>
            <a:r>
              <a:rPr b="1" lang="en-US" sz="2700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IA 성과 지표 (Key Metrics)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3"/>
          <p:cNvSpPr/>
          <p:nvPr/>
        </p:nvSpPr>
        <p:spPr>
          <a:xfrm>
            <a:off x="609519" y="1249342"/>
            <a:ext cx="7924962" cy="62670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3"/>
          <p:cNvSpPr/>
          <p:nvPr/>
        </p:nvSpPr>
        <p:spPr>
          <a:xfrm>
            <a:off x="609519" y="1876044"/>
            <a:ext cx="7924962" cy="62670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3"/>
          <p:cNvSpPr/>
          <p:nvPr/>
        </p:nvSpPr>
        <p:spPr>
          <a:xfrm>
            <a:off x="609519" y="2502745"/>
            <a:ext cx="7924962" cy="62670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3"/>
          <p:cNvSpPr/>
          <p:nvPr/>
        </p:nvSpPr>
        <p:spPr>
          <a:xfrm>
            <a:off x="609519" y="609516"/>
            <a:ext cx="8083461" cy="4113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2700"/>
              <a:buFont typeface="Arial"/>
              <a:buNone/>
            </a:pPr>
            <a:r>
              <a:rPr b="1" lang="en-US" sz="2700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개선 기회 &amp; 미래 방향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3"/>
          <p:cNvSpPr/>
          <p:nvPr/>
        </p:nvSpPr>
        <p:spPr>
          <a:xfrm>
            <a:off x="749688" y="1571351"/>
            <a:ext cx="2660235" cy="1818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981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56"/>
              <a:buFont typeface="Arial"/>
              <a:buNone/>
            </a:pPr>
            <a:r>
              <a:rPr lang="en-US" sz="1056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시리즈/영화 필터 통합 → 장르/언어 크로스 검색</a:t>
            </a:r>
            <a:endParaRPr sz="105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3"/>
          <p:cNvSpPr/>
          <p:nvPr/>
        </p:nvSpPr>
        <p:spPr>
          <a:xfrm>
            <a:off x="749688" y="2198052"/>
            <a:ext cx="2689054" cy="1818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981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56"/>
              <a:buFont typeface="Arial"/>
              <a:buNone/>
            </a:pPr>
            <a:r>
              <a:rPr lang="en-US" sz="1056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자주 보는 카테고리 우선 배치 / 동적 메뉴 재정렬</a:t>
            </a:r>
            <a:endParaRPr sz="105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3"/>
          <p:cNvSpPr/>
          <p:nvPr/>
        </p:nvSpPr>
        <p:spPr>
          <a:xfrm>
            <a:off x="749688" y="2824753"/>
            <a:ext cx="2248116" cy="1818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981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56"/>
              <a:buFont typeface="Arial"/>
              <a:buNone/>
            </a:pPr>
            <a:r>
              <a:rPr lang="en-US" sz="1056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공유 리스트 / 친구 추천 / 가족 투표 기능</a:t>
            </a:r>
            <a:endParaRPr sz="105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4"/>
          <p:cNvSpPr/>
          <p:nvPr/>
        </p:nvSpPr>
        <p:spPr>
          <a:xfrm>
            <a:off x="3295186" y="1697185"/>
            <a:ext cx="2553493" cy="4113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2700"/>
              <a:buFont typeface="Arial"/>
              <a:buNone/>
            </a:pPr>
            <a:r>
              <a:rPr b="1" lang="en-US" sz="2700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Netflix IA의 핵심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4"/>
          <p:cNvSpPr/>
          <p:nvPr/>
        </p:nvSpPr>
        <p:spPr>
          <a:xfrm>
            <a:off x="2937867" y="2413183"/>
            <a:ext cx="3268130" cy="8044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213333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320"/>
              <a:buFont typeface="Arial"/>
              <a:buNone/>
            </a:pPr>
            <a:r>
              <a:rPr b="1" lang="en-US" sz="1320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균형</a:t>
            </a:r>
            <a:r>
              <a:rPr lang="en-US" sz="132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: AI 개인화 ↔ 명시적 탐색</a:t>
            </a:r>
            <a:endParaRPr sz="13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213333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20"/>
              <a:buFont typeface="Arial"/>
              <a:buNone/>
            </a:pPr>
            <a:r>
              <a:rPr lang="en-US" sz="132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3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213333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320"/>
              <a:buFont typeface="Arial"/>
              <a:buNone/>
            </a:pPr>
            <a:r>
              <a:rPr b="1" lang="en-US" sz="1320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깊이</a:t>
            </a:r>
            <a:r>
              <a:rPr lang="en-US" sz="132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: 1Depth 단순성 ↔ 2Depth 풍부함</a:t>
            </a:r>
            <a:endParaRPr sz="13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213333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20"/>
              <a:buFont typeface="Arial"/>
              <a:buNone/>
            </a:pPr>
            <a:r>
              <a:rPr lang="en-US" sz="132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3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213333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320"/>
              <a:buFont typeface="Arial"/>
              <a:buNone/>
            </a:pPr>
            <a:r>
              <a:rPr b="1" lang="en-US" sz="1320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목표</a:t>
            </a:r>
            <a:r>
              <a:rPr lang="en-US" sz="132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: 선택 피로 최소화 &amp; 콘텐츠 발견율 최대화</a:t>
            </a:r>
            <a:endParaRPr sz="13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2025-11-29T17:55:51Z</dcterms:created>
  <dc:creator>Perplexity</dc:creator>
</cp:coreProperties>
</file>