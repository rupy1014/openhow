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3" r:id="rId5"/>
    <p:sldMasterId id="2147483704" r:id="rId6"/>
    <p:sldMasterId id="2147483705" r:id="rId7"/>
    <p:sldMasterId id="2147483706" r:id="rId8"/>
    <p:sldMasterId id="2147483707" r:id="rId9"/>
  </p:sldMasterIdLst>
  <p:notesMasterIdLst>
    <p:notesMasterId r:id="rId10"/>
  </p:notesMasterIdLst>
  <p:sldIdLst>
    <p:sldId id="256" r:id="rId11"/>
  </p:sldIdLst>
  <p:sldSz cy="6858000" cx="9906000"/>
  <p:notesSz cx="6807200" cy="99393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19">
          <p15:clr>
            <a:srgbClr val="A4A3A4"/>
          </p15:clr>
        </p15:guide>
        <p15:guide id="2" orient="horz">
          <p15:clr>
            <a:srgbClr val="A4A3A4"/>
          </p15:clr>
        </p15:guide>
        <p15:guide id="3" pos="6192">
          <p15:clr>
            <a:srgbClr val="A4A3A4"/>
          </p15:clr>
        </p15:guide>
        <p15:guide id="4" pos="96">
          <p15:clr>
            <a:srgbClr val="A4A3A4"/>
          </p15:clr>
        </p15:guide>
      </p15:sldGuideLst>
    </p:ext>
    <p:ext uri="{2D200454-40CA-4A62-9FC3-DE9A4176ACB9}">
      <p15:notesGuideLst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94516E-2D9D-4D1A-AB24-7930DCF838C4}">
  <a:tblStyle styleId="{BD94516E-2D9D-4D1A-AB24-7930DCF838C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19" orient="horz"/>
        <p:guide orient="horz"/>
        <p:guide pos="6192"/>
        <p:guide pos="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31" orient="horz"/>
        <p:guide pos="214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50448" cy="496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4547" y="0"/>
            <a:ext cx="2951551" cy="496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5963" y="746125"/>
            <a:ext cx="5378450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2484" y="4720197"/>
            <a:ext cx="5442232" cy="4472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0393"/>
            <a:ext cx="2950448" cy="49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4547" y="9440393"/>
            <a:ext cx="2951551" cy="4978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:notes"/>
          <p:cNvSpPr txBox="1"/>
          <p:nvPr>
            <p:ph idx="1" type="body"/>
          </p:nvPr>
        </p:nvSpPr>
        <p:spPr>
          <a:xfrm>
            <a:off x="682484" y="4720197"/>
            <a:ext cx="5442232" cy="4472922"/>
          </a:xfrm>
          <a:prstGeom prst="rect">
            <a:avLst/>
          </a:prstGeom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:notes"/>
          <p:cNvSpPr/>
          <p:nvPr>
            <p:ph idx="2" type="sldImg"/>
          </p:nvPr>
        </p:nvSpPr>
        <p:spPr>
          <a:xfrm>
            <a:off x="715963" y="746125"/>
            <a:ext cx="5378450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39" name="Google Shape;39;p10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76" name="Google Shape;76;p21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79" name="Google Shape;79;p22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6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92" name="Google Shape;92;p26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95" name="Google Shape;95;p27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1" name="Google Shape;101;p29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2" name="Google Shape;102;p29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5" name="Google Shape;105;p30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6" name="Google Shape;106;p30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7" name="Google Shape;107;p30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08" name="Google Shape;108;p30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18" name="Google Shape;118;p34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34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6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25" name="Google Shape;125;p36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8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31" name="Google Shape;131;p38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34" name="Google Shape;134;p39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0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37" name="Google Shape;137;p40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0" name="Google Shape;140;p41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1" name="Google Shape;141;p41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4" name="Google Shape;144;p42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5" name="Google Shape;145;p42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6" name="Google Shape;146;p42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47" name="Google Shape;147;p42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5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3" name="Google Shape;153;p45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4" name="Google Shape;154;p45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6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57" name="Google Shape;157;p46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46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7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61" name="Google Shape;161;p47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8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64" name="Google Shape;164;p48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0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88" name="Google Shape;188;p50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None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None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1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91" name="Google Shape;191;p51"/>
          <p:cNvSpPr txBox="1"/>
          <p:nvPr>
            <p:ph idx="1" type="body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2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94" name="Google Shape;194;p52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3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97" name="Google Shape;197;p53"/>
          <p:cNvSpPr txBox="1"/>
          <p:nvPr>
            <p:ph idx="1" type="body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98" name="Google Shape;198;p53"/>
          <p:cNvSpPr txBox="1"/>
          <p:nvPr>
            <p:ph idx="2" type="body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4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01" name="Google Shape;201;p54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02" name="Google Shape;202;p54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03" name="Google Shape;203;p54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b="1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b="1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b="1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04" name="Google Shape;204;p54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b="0" i="0" sz="1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b="0" i="0" sz="16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5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7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10" name="Google Shape;210;p57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11" name="Google Shape;211;p57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8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14" name="Google Shape;214;p58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58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b="0" i="0" sz="1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b="0" i="0" sz="1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b="0" i="0" sz="9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9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18" name="Google Shape;218;p59"/>
          <p:cNvSpPr txBox="1"/>
          <p:nvPr>
            <p:ph idx="1" type="body"/>
          </p:nvPr>
        </p:nvSpPr>
        <p:spPr>
          <a:xfrm rot="5400000">
            <a:off x="2690019" y="-594518"/>
            <a:ext cx="4525963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0"/>
          <p:cNvSpPr txBox="1"/>
          <p:nvPr>
            <p:ph type="title"/>
          </p:nvPr>
        </p:nvSpPr>
        <p:spPr>
          <a:xfrm rot="5400000">
            <a:off x="5370513" y="2085976"/>
            <a:ext cx="5851525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221" name="Google Shape;221;p60"/>
          <p:cNvSpPr txBox="1"/>
          <p:nvPr>
            <p:ph idx="1" type="body"/>
          </p:nvPr>
        </p:nvSpPr>
        <p:spPr>
          <a:xfrm rot="5400000">
            <a:off x="836613" y="-66674"/>
            <a:ext cx="5851525" cy="6534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b="0" i="0" sz="3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b="0" i="0" sz="28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b="0" i="0" sz="24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b="0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6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914400" y="1828800"/>
            <a:ext cx="6553200" cy="15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otum"/>
              <a:ea typeface="Dotum"/>
              <a:cs typeface="Dotum"/>
              <a:sym typeface="Dot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/>
          <p:nvPr/>
        </p:nvSpPr>
        <p:spPr>
          <a:xfrm>
            <a:off x="304800" y="304800"/>
            <a:ext cx="9296400" cy="4648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0" lIns="0" spcFirstLastPara="1" rIns="0" wrap="square" tIns="21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3"/>
          <p:cNvSpPr/>
          <p:nvPr/>
        </p:nvSpPr>
        <p:spPr>
          <a:xfrm>
            <a:off x="4914900" y="2160588"/>
            <a:ext cx="76200" cy="7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안그라픽스로고" id="50" name="Google Shape;50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0" y="5715000"/>
            <a:ext cx="773113" cy="635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/>
          <p:nvPr/>
        </p:nvSpPr>
        <p:spPr>
          <a:xfrm>
            <a:off x="0" y="0"/>
            <a:ext cx="9906000" cy="58054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t" bIns="0" lIns="252000" spcFirstLastPara="1" rIns="0" wrap="square" tIns="32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5"/>
          <p:cNvSpPr/>
          <p:nvPr/>
        </p:nvSpPr>
        <p:spPr>
          <a:xfrm>
            <a:off x="1143000" y="990600"/>
            <a:ext cx="167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2000" spcFirstLastPara="1" rIns="0" wrap="square" tIns="180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7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7"/>
          <p:cNvSpPr/>
          <p:nvPr/>
        </p:nvSpPr>
        <p:spPr>
          <a:xfrm>
            <a:off x="76200" y="1828800"/>
            <a:ext cx="9753600" cy="27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9"/>
          <p:cNvSpPr/>
          <p:nvPr/>
        </p:nvSpPr>
        <p:spPr>
          <a:xfrm>
            <a:off x="7091363" y="609600"/>
            <a:ext cx="2743200" cy="594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49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9"/>
          <p:cNvSpPr/>
          <p:nvPr/>
        </p:nvSpPr>
        <p:spPr>
          <a:xfrm>
            <a:off x="76200" y="838200"/>
            <a:ext cx="9753600" cy="571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9"/>
          <p:cNvSpPr/>
          <p:nvPr/>
        </p:nvSpPr>
        <p:spPr>
          <a:xfrm>
            <a:off x="76200" y="835025"/>
            <a:ext cx="9753600" cy="571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DDDD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9"/>
          <p:cNvSpPr/>
          <p:nvPr/>
        </p:nvSpPr>
        <p:spPr>
          <a:xfrm>
            <a:off x="3892550" y="6610350"/>
            <a:ext cx="2051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49"/>
          <p:cNvSpPr/>
          <p:nvPr/>
        </p:nvSpPr>
        <p:spPr>
          <a:xfrm>
            <a:off x="76200" y="228600"/>
            <a:ext cx="9753600" cy="632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9"/>
          <p:cNvSpPr/>
          <p:nvPr/>
        </p:nvSpPr>
        <p:spPr>
          <a:xfrm>
            <a:off x="90488" y="450850"/>
            <a:ext cx="839787" cy="219075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49"/>
          <p:cNvSpPr txBox="1"/>
          <p:nvPr/>
        </p:nvSpPr>
        <p:spPr>
          <a:xfrm>
            <a:off x="80963" y="434975"/>
            <a:ext cx="849312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화면기능</a:t>
            </a:r>
            <a:endParaRPr/>
          </a:p>
        </p:txBody>
      </p:sp>
      <p:sp>
        <p:nvSpPr>
          <p:cNvPr id="174" name="Google Shape;174;p49"/>
          <p:cNvSpPr/>
          <p:nvPr/>
        </p:nvSpPr>
        <p:spPr>
          <a:xfrm>
            <a:off x="90488" y="674688"/>
            <a:ext cx="7000875" cy="5878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49"/>
          <p:cNvSpPr/>
          <p:nvPr/>
        </p:nvSpPr>
        <p:spPr>
          <a:xfrm>
            <a:off x="90488" y="222250"/>
            <a:ext cx="839787" cy="219075"/>
          </a:xfrm>
          <a:prstGeom prst="rect">
            <a:avLst/>
          </a:prstGeom>
          <a:solidFill>
            <a:srgbClr val="333333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p49"/>
          <p:cNvSpPr/>
          <p:nvPr/>
        </p:nvSpPr>
        <p:spPr>
          <a:xfrm>
            <a:off x="914400" y="222250"/>
            <a:ext cx="6172200" cy="2952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49"/>
          <p:cNvSpPr/>
          <p:nvPr/>
        </p:nvSpPr>
        <p:spPr>
          <a:xfrm>
            <a:off x="7086600" y="222250"/>
            <a:ext cx="762000" cy="22225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ID</a:t>
            </a:r>
            <a:endParaRPr/>
          </a:p>
        </p:txBody>
      </p:sp>
      <p:sp>
        <p:nvSpPr>
          <p:cNvPr id="178" name="Google Shape;178;p49"/>
          <p:cNvSpPr/>
          <p:nvPr/>
        </p:nvSpPr>
        <p:spPr>
          <a:xfrm>
            <a:off x="7843838" y="222250"/>
            <a:ext cx="690562" cy="2222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49"/>
          <p:cNvSpPr/>
          <p:nvPr/>
        </p:nvSpPr>
        <p:spPr>
          <a:xfrm>
            <a:off x="8534400" y="222250"/>
            <a:ext cx="649288" cy="22225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작성자 </a:t>
            </a:r>
            <a:endParaRPr/>
          </a:p>
        </p:txBody>
      </p:sp>
      <p:sp>
        <p:nvSpPr>
          <p:cNvPr id="180" name="Google Shape;180;p49"/>
          <p:cNvSpPr/>
          <p:nvPr/>
        </p:nvSpPr>
        <p:spPr>
          <a:xfrm>
            <a:off x="9183688" y="222250"/>
            <a:ext cx="646112" cy="2222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49"/>
          <p:cNvSpPr txBox="1"/>
          <p:nvPr/>
        </p:nvSpPr>
        <p:spPr>
          <a:xfrm>
            <a:off x="142875" y="215900"/>
            <a:ext cx="5651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메뉴명</a:t>
            </a:r>
            <a:endParaRPr/>
          </a:p>
        </p:txBody>
      </p:sp>
      <p:sp>
        <p:nvSpPr>
          <p:cNvPr id="182" name="Google Shape;182;p49"/>
          <p:cNvSpPr/>
          <p:nvPr/>
        </p:nvSpPr>
        <p:spPr>
          <a:xfrm>
            <a:off x="914400" y="441325"/>
            <a:ext cx="6172200" cy="228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3" name="Google Shape;183;p49"/>
          <p:cNvSpPr/>
          <p:nvPr/>
        </p:nvSpPr>
        <p:spPr>
          <a:xfrm>
            <a:off x="0" y="-20638"/>
            <a:ext cx="32004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 Case</a:t>
            </a:r>
            <a:endParaRPr/>
          </a:p>
        </p:txBody>
      </p:sp>
      <p:sp>
        <p:nvSpPr>
          <p:cNvPr id="184" name="Google Shape;184;p49"/>
          <p:cNvSpPr/>
          <p:nvPr/>
        </p:nvSpPr>
        <p:spPr>
          <a:xfrm>
            <a:off x="7086600" y="438150"/>
            <a:ext cx="2743200" cy="228600"/>
          </a:xfrm>
          <a:prstGeom prst="rect">
            <a:avLst/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화면설명</a:t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p49"/>
          <p:cNvSpPr/>
          <p:nvPr/>
        </p:nvSpPr>
        <p:spPr>
          <a:xfrm>
            <a:off x="7086600" y="674688"/>
            <a:ext cx="2743200" cy="5878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1"/>
          <p:cNvSpPr/>
          <p:nvPr/>
        </p:nvSpPr>
        <p:spPr>
          <a:xfrm>
            <a:off x="0" y="172717"/>
            <a:ext cx="9906000" cy="355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UseCase를 활용한 서비스 정책 수립</a:t>
            </a:r>
            <a:endParaRPr b="1" i="0" sz="1400" u="sng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엠보싱 작은상자(Gray_Ver)" id="227" name="Google Shape;227;p61"/>
          <p:cNvSpPr/>
          <p:nvPr/>
        </p:nvSpPr>
        <p:spPr>
          <a:xfrm>
            <a:off x="1319172" y="1517608"/>
            <a:ext cx="1066800" cy="755808"/>
          </a:xfrm>
          <a:prstGeom prst="diamond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가입수단</a:t>
            </a:r>
            <a:endParaRPr b="0" i="0" sz="1000" u="none" cap="none" strike="noStrike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</a:t>
            </a:r>
            <a:endParaRPr/>
          </a:p>
        </p:txBody>
      </p:sp>
      <p:sp>
        <p:nvSpPr>
          <p:cNvPr descr="엠보싱 작은상자(Gray_Ver)" id="228" name="Google Shape;228;p61"/>
          <p:cNvSpPr/>
          <p:nvPr/>
        </p:nvSpPr>
        <p:spPr>
          <a:xfrm>
            <a:off x="1342213" y="2519225"/>
            <a:ext cx="1018977" cy="450115"/>
          </a:xfrm>
          <a:prstGeom prst="diamond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본인인증</a:t>
            </a:r>
            <a:endParaRPr/>
          </a:p>
        </p:txBody>
      </p:sp>
      <p:sp>
        <p:nvSpPr>
          <p:cNvPr descr="엠보싱 작은상자(Gray_Ver)" id="229" name="Google Shape;229;p61"/>
          <p:cNvSpPr/>
          <p:nvPr/>
        </p:nvSpPr>
        <p:spPr>
          <a:xfrm>
            <a:off x="1471828" y="4017090"/>
            <a:ext cx="822325" cy="241300"/>
          </a:xfrm>
          <a:prstGeom prst="octagon">
            <a:avLst>
              <a:gd fmla="val 7611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회원정보 입력</a:t>
            </a:r>
            <a:endParaRPr/>
          </a:p>
        </p:txBody>
      </p:sp>
      <p:sp>
        <p:nvSpPr>
          <p:cNvPr descr="엠보싱 작은상자(Gray_Ver)" id="230" name="Google Shape;230;p61"/>
          <p:cNvSpPr/>
          <p:nvPr/>
        </p:nvSpPr>
        <p:spPr>
          <a:xfrm>
            <a:off x="1250070" y="4601211"/>
            <a:ext cx="1245610" cy="755808"/>
          </a:xfrm>
          <a:prstGeom prst="diamond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필수값 입력체크</a:t>
            </a:r>
            <a:endParaRPr/>
          </a:p>
        </p:txBody>
      </p:sp>
      <p:sp>
        <p:nvSpPr>
          <p:cNvPr descr="엠보싱 작은상자(Gray_Ver)" id="231" name="Google Shape;231;p61"/>
          <p:cNvSpPr/>
          <p:nvPr/>
        </p:nvSpPr>
        <p:spPr>
          <a:xfrm>
            <a:off x="1581047" y="5769690"/>
            <a:ext cx="822325" cy="241300"/>
          </a:xfrm>
          <a:prstGeom prst="octagon">
            <a:avLst>
              <a:gd fmla="val 7611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 완료</a:t>
            </a:r>
            <a:endParaRPr/>
          </a:p>
        </p:txBody>
      </p:sp>
      <p:cxnSp>
        <p:nvCxnSpPr>
          <p:cNvPr id="232" name="Google Shape;232;p61"/>
          <p:cNvCxnSpPr>
            <a:stCxn id="228" idx="2"/>
            <a:endCxn id="233" idx="0"/>
          </p:cNvCxnSpPr>
          <p:nvPr/>
        </p:nvCxnSpPr>
        <p:spPr>
          <a:xfrm flipH="1" rot="-5400000">
            <a:off x="1685952" y="3135090"/>
            <a:ext cx="3321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4" name="Google Shape;234;p61"/>
          <p:cNvCxnSpPr>
            <a:stCxn id="227" idx="2"/>
            <a:endCxn id="228" idx="0"/>
          </p:cNvCxnSpPr>
          <p:nvPr/>
        </p:nvCxnSpPr>
        <p:spPr>
          <a:xfrm rot="5400000">
            <a:off x="1729272" y="2395816"/>
            <a:ext cx="245700" cy="900"/>
          </a:xfrm>
          <a:prstGeom prst="bentConnector3">
            <a:avLst>
              <a:gd fmla="val 50022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5" name="Google Shape;235;p61"/>
          <p:cNvCxnSpPr>
            <a:stCxn id="231" idx="0"/>
            <a:endCxn id="236" idx="5"/>
          </p:cNvCxnSpPr>
          <p:nvPr/>
        </p:nvCxnSpPr>
        <p:spPr>
          <a:xfrm flipH="1" rot="10800000">
            <a:off x="2403372" y="4668455"/>
            <a:ext cx="1357200" cy="11196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7" name="Google Shape;237;p61"/>
          <p:cNvCxnSpPr>
            <a:stCxn id="231" idx="0"/>
            <a:endCxn id="238" idx="5"/>
          </p:cNvCxnSpPr>
          <p:nvPr/>
        </p:nvCxnSpPr>
        <p:spPr>
          <a:xfrm flipH="1" rot="10800000">
            <a:off x="2403372" y="5613155"/>
            <a:ext cx="1360800" cy="1749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39" name="Google Shape;239;p61"/>
          <p:cNvCxnSpPr>
            <a:stCxn id="231" idx="0"/>
            <a:endCxn id="240" idx="5"/>
          </p:cNvCxnSpPr>
          <p:nvPr/>
        </p:nvCxnSpPr>
        <p:spPr>
          <a:xfrm flipH="1" rot="10800000">
            <a:off x="2403372" y="5150555"/>
            <a:ext cx="1361700" cy="6375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1" name="Google Shape;241;p61"/>
          <p:cNvCxnSpPr>
            <a:stCxn id="230" idx="2"/>
            <a:endCxn id="231" idx="6"/>
          </p:cNvCxnSpPr>
          <p:nvPr/>
        </p:nvCxnSpPr>
        <p:spPr>
          <a:xfrm rot="5400000">
            <a:off x="1529675" y="5426619"/>
            <a:ext cx="412800" cy="2736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2" name="Google Shape;242;p61"/>
          <p:cNvSpPr/>
          <p:nvPr/>
        </p:nvSpPr>
        <p:spPr>
          <a:xfrm>
            <a:off x="2286000" y="3962400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ulim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descr="엠보싱 작은상자(Gray_Ver)" id="243" name="Google Shape;243;p61"/>
          <p:cNvSpPr/>
          <p:nvPr/>
        </p:nvSpPr>
        <p:spPr>
          <a:xfrm>
            <a:off x="554490" y="1113729"/>
            <a:ext cx="527845" cy="244123"/>
          </a:xfrm>
          <a:prstGeom prst="octagon">
            <a:avLst>
              <a:gd fmla="val 7611" name="adj"/>
            </a:avLst>
          </a:prstGeom>
          <a:solidFill>
            <a:srgbClr val="FFFF00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66"/>
                </a:solidFill>
                <a:latin typeface="Impact"/>
                <a:ea typeface="Impact"/>
                <a:cs typeface="Impact"/>
                <a:sym typeface="Impact"/>
              </a:rPr>
              <a:t>회원가입</a:t>
            </a:r>
            <a:endParaRPr/>
          </a:p>
        </p:txBody>
      </p:sp>
      <p:cxnSp>
        <p:nvCxnSpPr>
          <p:cNvPr id="244" name="Google Shape;244;p61"/>
          <p:cNvCxnSpPr>
            <a:endCxn id="227" idx="0"/>
          </p:cNvCxnSpPr>
          <p:nvPr/>
        </p:nvCxnSpPr>
        <p:spPr>
          <a:xfrm>
            <a:off x="1146372" y="1230208"/>
            <a:ext cx="706200" cy="287400"/>
          </a:xfrm>
          <a:prstGeom prst="bentConnector2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descr="엠보싱 작은상자(Gray_Ver)" id="233" name="Google Shape;233;p61"/>
          <p:cNvSpPr/>
          <p:nvPr/>
        </p:nvSpPr>
        <p:spPr>
          <a:xfrm>
            <a:off x="1342212" y="3301437"/>
            <a:ext cx="1018977" cy="450115"/>
          </a:xfrm>
          <a:prstGeom prst="diamond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약관동의</a:t>
            </a:r>
            <a:endParaRPr/>
          </a:p>
        </p:txBody>
      </p:sp>
      <p:sp>
        <p:nvSpPr>
          <p:cNvPr descr="엠보싱 작은상자(Gray_Ver)" id="236" name="Google Shape;236;p61"/>
          <p:cNvSpPr/>
          <p:nvPr/>
        </p:nvSpPr>
        <p:spPr>
          <a:xfrm>
            <a:off x="3760676" y="4650022"/>
            <a:ext cx="653604" cy="244123"/>
          </a:xfrm>
          <a:prstGeom prst="octagon">
            <a:avLst>
              <a:gd fmla="val 7611" name="adj"/>
            </a:avLst>
          </a:prstGeom>
          <a:solidFill>
            <a:srgbClr val="FFFF00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66"/>
                </a:solidFill>
                <a:latin typeface="Impact"/>
                <a:ea typeface="Impact"/>
                <a:cs typeface="Impact"/>
                <a:sym typeface="Impact"/>
              </a:rPr>
              <a:t>회원로그인</a:t>
            </a:r>
            <a:endParaRPr/>
          </a:p>
        </p:txBody>
      </p:sp>
      <p:sp>
        <p:nvSpPr>
          <p:cNvPr descr="엠보싱 작은상자(Gray_Ver)" id="240" name="Google Shape;240;p61"/>
          <p:cNvSpPr/>
          <p:nvPr/>
        </p:nvSpPr>
        <p:spPr>
          <a:xfrm>
            <a:off x="3765221" y="5131867"/>
            <a:ext cx="807200" cy="244123"/>
          </a:xfrm>
          <a:prstGeom prst="octagon">
            <a:avLst>
              <a:gd fmla="val 7611" name="adj"/>
            </a:avLst>
          </a:prstGeom>
          <a:solidFill>
            <a:srgbClr val="FFFF00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66"/>
                </a:solidFill>
                <a:latin typeface="Impact"/>
                <a:ea typeface="Impact"/>
                <a:cs typeface="Impact"/>
                <a:sym typeface="Impact"/>
              </a:rPr>
              <a:t>회원 정보수정</a:t>
            </a:r>
            <a:endParaRPr/>
          </a:p>
        </p:txBody>
      </p:sp>
      <p:sp>
        <p:nvSpPr>
          <p:cNvPr descr="엠보싱 작은상자(Gray_Ver)" id="238" name="Google Shape;238;p61"/>
          <p:cNvSpPr/>
          <p:nvPr/>
        </p:nvSpPr>
        <p:spPr>
          <a:xfrm>
            <a:off x="3764103" y="5594511"/>
            <a:ext cx="527844" cy="244123"/>
          </a:xfrm>
          <a:prstGeom prst="octagon">
            <a:avLst>
              <a:gd fmla="val 7611" name="adj"/>
            </a:avLst>
          </a:prstGeom>
          <a:solidFill>
            <a:srgbClr val="FFFF00"/>
          </a:soli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99CCFF">
                <a:alpha val="49803"/>
              </a:srgbClr>
            </a:outerShdw>
          </a:effectLst>
        </p:spPr>
        <p:txBody>
          <a:bodyPr anchorCtr="0" anchor="ctr" bIns="36000" lIns="0" spcFirstLastPara="1" rIns="0" wrap="square" tIns="3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66"/>
                </a:solidFill>
                <a:latin typeface="Impact"/>
                <a:ea typeface="Impact"/>
                <a:cs typeface="Impact"/>
                <a:sym typeface="Impact"/>
              </a:rPr>
              <a:t>회원탈퇴</a:t>
            </a:r>
            <a:endParaRPr/>
          </a:p>
        </p:txBody>
      </p:sp>
      <p:cxnSp>
        <p:nvCxnSpPr>
          <p:cNvPr id="245" name="Google Shape;245;p61"/>
          <p:cNvCxnSpPr>
            <a:stCxn id="233" idx="2"/>
            <a:endCxn id="229" idx="6"/>
          </p:cNvCxnSpPr>
          <p:nvPr/>
        </p:nvCxnSpPr>
        <p:spPr>
          <a:xfrm rot="5400000">
            <a:off x="1538201" y="3703552"/>
            <a:ext cx="265500" cy="3615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46" name="Google Shape;246;p61"/>
          <p:cNvCxnSpPr>
            <a:stCxn id="229" idx="3"/>
            <a:endCxn id="230" idx="0"/>
          </p:cNvCxnSpPr>
          <p:nvPr/>
        </p:nvCxnSpPr>
        <p:spPr>
          <a:xfrm flipH="1" rot="-5400000">
            <a:off x="1510143" y="4238440"/>
            <a:ext cx="342900" cy="382800"/>
          </a:xfrm>
          <a:prstGeom prst="bentConnector3">
            <a:avLst>
              <a:gd fmla="val 49988" name="adj1"/>
            </a:avLst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47" name="Google Shape;247;p61"/>
          <p:cNvSpPr txBox="1"/>
          <p:nvPr/>
        </p:nvSpPr>
        <p:spPr>
          <a:xfrm>
            <a:off x="914400" y="914399"/>
            <a:ext cx="4436373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회원가입 시점을 어디로 할 것인지 🡺 서비스 진입 시? 필요 시?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61"/>
          <p:cNvSpPr txBox="1"/>
          <p:nvPr/>
        </p:nvSpPr>
        <p:spPr>
          <a:xfrm>
            <a:off x="1952169" y="1502721"/>
            <a:ext cx="521062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회원 가입수단을 어떻게 할 것인지 🡺 아이디/비번? 소셜로그인? 혼합?</a:t>
            </a:r>
            <a:endParaRPr b="0" i="0" sz="900" u="none" cap="none" strike="noStrike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9" name="Google Shape;249;p61"/>
          <p:cNvSpPr txBox="1"/>
          <p:nvPr/>
        </p:nvSpPr>
        <p:spPr>
          <a:xfrm>
            <a:off x="2362200" y="1707039"/>
            <a:ext cx="4690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약관동의 후 가입수단 선택하게 할 것인지, 가입수단 선택 후 약관동의 받을 것인지</a:t>
            </a:r>
            <a:endParaRPr b="0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66"/>
                </a:solidFill>
                <a:latin typeface="Malgun Gothic"/>
                <a:ea typeface="Malgun Gothic"/>
                <a:cs typeface="Malgun Gothic"/>
                <a:sym typeface="Malgun Gothic"/>
              </a:rPr>
              <a:t>=&gt; </a:t>
            </a: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 성격, 이탈률 체크 </a:t>
            </a:r>
            <a:endParaRPr b="0" i="0" sz="900" u="none" cap="none" strike="noStrike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0" name="Google Shape;250;p61"/>
          <p:cNvSpPr/>
          <p:nvPr/>
        </p:nvSpPr>
        <p:spPr>
          <a:xfrm>
            <a:off x="2081061" y="3329884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ulim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graphicFrame>
        <p:nvGraphicFramePr>
          <p:cNvPr id="251" name="Google Shape;251;p61"/>
          <p:cNvGraphicFramePr/>
          <p:nvPr/>
        </p:nvGraphicFramePr>
        <p:xfrm>
          <a:off x="7162800" y="68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{BD94516E-2D9D-4D1A-AB24-7930DCF838C4}</a:tableStyleId>
              </a:tblPr>
              <a:tblGrid>
                <a:gridCol w="268300"/>
                <a:gridCol w="2398700"/>
              </a:tblGrid>
              <a:tr h="530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-이용약관, 개인정보취급방침, 전자상거래 취급방침으로 구성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-모두 필수 체크요소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사용자가 약관동의 체크를 하지 않은 경우 alert :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실명인증 시 오류가 났을 경우 alert 글: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•필수입력항목: 아이디, 비번, 이름, 주민번호, 우편번호, 주소, 유선전화, 휴대폰번호, 이메일.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•선택항목: 문자 메시지 수신여부, 메일서비스 수신여부.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•주소 입력 시 자택/직장 중 선택해 입력하며 향후 구매 시 이 주소가 default 배송지가 됨. 타 배송지로 보낼 경우 배송지 추가 기능이 있음.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•아이디 제약조건: 영문+숫자를 조합한 8자리 이상/ 특수문자 제외.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•비번 제약조건: 아이디와 연속  세 글자이상 겹치면 alert창으로 알려줌.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“아이디와 겹치는 문자 또는 숫자가 있습니다. 안전한 비밀번호 관리를 위해 다른 비밀번호를 입력해 주십시오.”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•아이디 생성 시 중복아이디가 있을 경우 안내 글: “사용중인 아이디가 있습니다. 다른 아이디를 사용해 주십시오.”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•아이디 생성 시 중복아이디가 없을 경우 안내 글: “아이디를 사용하실 수 있습니다.”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•주소 찾기 시의 alert 및 안내 글은 사용하는 주소 찾기 모듈을 활용함.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alert 안내 글: “null을 입력해 주십시오.”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예: 이메일을 입력해 주십시오.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•회원가입 완료 후 이동화면: 회원가입에 따른 축하내용과 혜택내용이 있는 화면으로 이동.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•이 화면에서 확인 클릭 시 로그인 된 메인 화면으로 이동함.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2" name="Google Shape;252;p61"/>
          <p:cNvSpPr/>
          <p:nvPr/>
        </p:nvSpPr>
        <p:spPr>
          <a:xfrm>
            <a:off x="2355544" y="4791712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Gulim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253" name="Google Shape;253;p61"/>
          <p:cNvSpPr txBox="1"/>
          <p:nvPr/>
        </p:nvSpPr>
        <p:spPr>
          <a:xfrm>
            <a:off x="2464304" y="3936231"/>
            <a:ext cx="44969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가입시 필수로 알려줄 것과 선택적으로 동의받아야 하는 것이 무엇인지</a:t>
            </a:r>
            <a:endParaRPr b="0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61"/>
          <p:cNvSpPr txBox="1"/>
          <p:nvPr/>
        </p:nvSpPr>
        <p:spPr>
          <a:xfrm>
            <a:off x="3804318" y="5890340"/>
            <a:ext cx="288646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탈퇴 시, 탈퇴사유를 남기게 할 것인지?</a:t>
            </a:r>
            <a:endParaRPr/>
          </a:p>
        </p:txBody>
      </p:sp>
      <p:sp>
        <p:nvSpPr>
          <p:cNvPr id="255" name="Google Shape;255;p61"/>
          <p:cNvSpPr txBox="1"/>
          <p:nvPr/>
        </p:nvSpPr>
        <p:spPr>
          <a:xfrm>
            <a:off x="3804318" y="4913355"/>
            <a:ext cx="2155617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*비회원 로그인은?</a:t>
            </a:r>
            <a:endParaRPr b="0" i="0" sz="9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61"/>
          <p:cNvSpPr txBox="1"/>
          <p:nvPr/>
        </p:nvSpPr>
        <p:spPr>
          <a:xfrm>
            <a:off x="2234488" y="2530423"/>
            <a:ext cx="456752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본인인증 방법은 🡺 PASS? , 카카오? 카뱅? 네이버? 페이코?</a:t>
            </a:r>
            <a:endParaRPr b="0" i="0" sz="900" u="none" cap="none" strike="noStrike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61"/>
          <p:cNvSpPr txBox="1"/>
          <p:nvPr/>
        </p:nvSpPr>
        <p:spPr>
          <a:xfrm>
            <a:off x="3760676" y="1340375"/>
            <a:ext cx="22611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(목표고객의 연령/성별/성향분석) 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8" name="Google Shape;258;p61"/>
          <p:cNvSpPr txBox="1"/>
          <p:nvPr/>
        </p:nvSpPr>
        <p:spPr>
          <a:xfrm>
            <a:off x="2673756" y="785667"/>
            <a:ext cx="22611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(이탈률, 서비스목표 분석)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61"/>
          <p:cNvSpPr txBox="1"/>
          <p:nvPr/>
        </p:nvSpPr>
        <p:spPr>
          <a:xfrm>
            <a:off x="2689137" y="2351454"/>
            <a:ext cx="22611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(트렌드 분석)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61"/>
          <p:cNvSpPr txBox="1"/>
          <p:nvPr/>
        </p:nvSpPr>
        <p:spPr>
          <a:xfrm>
            <a:off x="1877605" y="3767459"/>
            <a:ext cx="226112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(법령체크)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61"/>
          <p:cNvSpPr txBox="1"/>
          <p:nvPr/>
        </p:nvSpPr>
        <p:spPr>
          <a:xfrm>
            <a:off x="4486164" y="4944027"/>
            <a:ext cx="137537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(정책의 결정)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61"/>
          <p:cNvSpPr txBox="1"/>
          <p:nvPr/>
        </p:nvSpPr>
        <p:spPr>
          <a:xfrm>
            <a:off x="5635021" y="5890340"/>
            <a:ext cx="1375379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(정책의 결정)</a:t>
            </a:r>
            <a:endParaRPr sz="9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9_기본 디자인">
  <a:themeElements>
    <a:clrScheme name="9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0_기본 디자인">
  <a:themeElements>
    <a:clrScheme name="10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기본 디자인">
  <a:themeElements>
    <a:clrScheme name="7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8_기본 디자인">
  <a:themeElements>
    <a:clrScheme name="8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기본 디자인">
  <a:themeElements>
    <a:clrScheme name="2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