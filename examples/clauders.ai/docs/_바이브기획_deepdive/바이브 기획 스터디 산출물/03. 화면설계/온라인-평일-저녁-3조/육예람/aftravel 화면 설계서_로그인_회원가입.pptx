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png"/><Relationship Id="rId13" Type="http://schemas.openxmlformats.org/officeDocument/2006/relationships/image" Target="../media/image-3-13.png"/><Relationship Id="rId14" Type="http://schemas.openxmlformats.org/officeDocument/2006/relationships/image" Target="../media/image-3-14.png"/><Relationship Id="rId15" Type="http://schemas.openxmlformats.org/officeDocument/2006/relationships/image" Target="../media/image-3-15.png"/><Relationship Id="rId16" Type="http://schemas.openxmlformats.org/officeDocument/2006/relationships/image" Target="../media/image-3-16.png"/><Relationship Id="rId17" Type="http://schemas.openxmlformats.org/officeDocument/2006/relationships/image" Target="../media/image-3-17.png"/><Relationship Id="rId18" Type="http://schemas.openxmlformats.org/officeDocument/2006/relationships/image" Target="../media/image-3-18.png"/><Relationship Id="rId19" Type="http://schemas.openxmlformats.org/officeDocument/2006/relationships/image" Target="../media/image-3-19.png"/><Relationship Id="rId20" Type="http://schemas.openxmlformats.org/officeDocument/2006/relationships/image" Target="../media/image-3-20.png"/><Relationship Id="rId21" Type="http://schemas.openxmlformats.org/officeDocument/2006/relationships/image" Target="../media/image-3-21.png"/><Relationship Id="rId22" Type="http://schemas.openxmlformats.org/officeDocument/2006/relationships/image" Target="../media/image-3-22.png"/><Relationship Id="rId23" Type="http://schemas.openxmlformats.org/officeDocument/2006/relationships/image" Target="../media/image-3-23.png"/><Relationship Id="rId24" Type="http://schemas.openxmlformats.org/officeDocument/2006/relationships/image" Target="../media/image-3-24.png"/><Relationship Id="rId25" Type="http://schemas.openxmlformats.org/officeDocument/2006/relationships/image" Target="../media/image-3-25.png"/><Relationship Id="rId26" Type="http://schemas.openxmlformats.org/officeDocument/2006/relationships/image" Target="../media/image-3-26.png"/><Relationship Id="rId27" Type="http://schemas.openxmlformats.org/officeDocument/2006/relationships/image" Target="../media/image-3-27.png"/><Relationship Id="rId28" Type="http://schemas.openxmlformats.org/officeDocument/2006/relationships/image" Target="../media/image-3-28.png"/><Relationship Id="rId29" Type="http://schemas.openxmlformats.org/officeDocument/2006/relationships/image" Target="../media/image-3-29.png"/><Relationship Id="rId30" Type="http://schemas.openxmlformats.org/officeDocument/2006/relationships/image" Target="../media/image-3-30.png"/><Relationship Id="rId31" Type="http://schemas.openxmlformats.org/officeDocument/2006/relationships/slideLayout" Target="../slideLayouts/slideLayout1.xml"/><Relationship Id="rId3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image" Target="../media/image-14-7.png"/><Relationship Id="rId8" Type="http://schemas.openxmlformats.org/officeDocument/2006/relationships/image" Target="../media/image-14-8.png"/><Relationship Id="rId9" Type="http://schemas.openxmlformats.org/officeDocument/2006/relationships/image" Target="../media/image-14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image" Target="../media/image-15-7.png"/><Relationship Id="rId8" Type="http://schemas.openxmlformats.org/officeDocument/2006/relationships/image" Target="../media/image-15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image" Target="../media/image-18-6.png"/><Relationship Id="rId7" Type="http://schemas.openxmlformats.org/officeDocument/2006/relationships/image" Target="../media/image-18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208922" y="6362395"/>
            <a:ext cx="282823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TRAVEL PLATFORM B2B PARTNER CENTER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43000" y="1024128"/>
            <a:ext cx="10458907" cy="14292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B2B 파트너 입점</a:t>
            </a:r>
            <a:pPr algn="l" indent="0" marL="0">
              <a:buNone/>
            </a:pPr>
            <a:endParaRPr lang="en-US" sz="4500" dirty="0"/>
          </a:p>
          <a:p>
            <a:pPr algn="l" indent="0" marL="0">
              <a:buNone/>
            </a:pPr>
            <a:r>
              <a:rPr lang="en-US" sz="45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화면설계서</a:t>
            </a:r>
            <a:endParaRPr lang="en-US" sz="450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2681021"/>
            <a:ext cx="8620963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여행 플랫폼 B2B 파트너사 입점 신청 서비스의</a:t>
            </a:r>
            <a:pPr algn="l" indent="0" marL="0">
              <a:buNone/>
            </a:pP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로그인 및 회원가입 UX·UI 화면 설계 정의 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143000" y="3995928"/>
            <a:ext cx="10287000" cy="1920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343254" y="4395521"/>
            <a:ext cx="494324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52" kern="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Version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1143000" y="4634179"/>
            <a:ext cx="514350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v0.9 (Draft)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601054" y="4395521"/>
            <a:ext cx="494324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52" kern="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Date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0" y="4634179"/>
            <a:ext cx="514350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2026-02-02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390802" y="5119726"/>
            <a:ext cx="489569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52" kern="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Target Audience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1143000" y="5357470"/>
            <a:ext cx="522031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기획, 디자인, 프론트엔드, 백엔드, QA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648602" y="5119726"/>
            <a:ext cx="489569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52" kern="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Reference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0" y="5357470"/>
            <a:ext cx="514350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프로토타입 (React/Vite), 플로우차트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362456" y="5843930"/>
            <a:ext cx="1018184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52" kern="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Author &amp; Reviewer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1143000" y="6081674"/>
            <a:ext cx="1040130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PM실 / UX실 / 개발실 협의체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1143000" y="519379"/>
            <a:ext cx="2171700" cy="276149"/>
          </a:xfrm>
          <a:prstGeom prst="roundRect">
            <a:avLst>
              <a:gd name="adj" fmla="val 331126"/>
            </a:avLst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143000" y="519379"/>
            <a:ext cx="2248510" cy="2770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52" kern="0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PROJECT DOCUMENTATION</a:t>
            </a:r>
            <a:endParaRPr lang="en-US" sz="1000" dirty="0"/>
          </a:p>
        </p:txBody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rcRect l="-2838" r="-2838" t="0" b="0"/>
          <a:stretch/>
        </p:blipFill>
        <p:spPr>
          <a:xfrm>
            <a:off x="1143000" y="4431182"/>
            <a:ext cx="123444" cy="133502"/>
          </a:xfrm>
          <a:prstGeom prst="rect">
            <a:avLst/>
          </a:prstGeom>
        </p:spPr>
      </p:pic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rcRect l="-2838" r="-2838" t="0" b="0"/>
          <a:stretch/>
        </p:blipFill>
        <p:spPr>
          <a:xfrm>
            <a:off x="6400800" y="4431182"/>
            <a:ext cx="123444" cy="133502"/>
          </a:xfrm>
          <a:prstGeom prst="rect">
            <a:avLst/>
          </a:prstGeom>
        </p:spPr>
      </p:pic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rcRect l="-1507" r="-1507" t="0" b="0"/>
          <a:stretch/>
        </p:blipFill>
        <p:spPr>
          <a:xfrm>
            <a:off x="1143000" y="5155387"/>
            <a:ext cx="171907" cy="133502"/>
          </a:xfrm>
          <a:prstGeom prst="rect">
            <a:avLst/>
          </a:prstGeom>
        </p:spPr>
      </p:pic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rcRect l="-1507" r="-1507" t="0" b="0"/>
          <a:stretch/>
        </p:blipFill>
        <p:spPr>
          <a:xfrm>
            <a:off x="6400800" y="5155387"/>
            <a:ext cx="171907" cy="133502"/>
          </a:xfrm>
          <a:prstGeom prst="rect">
            <a:avLst/>
          </a:prstGeom>
        </p:spPr>
      </p:pic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rcRect l="-3425" r="-3425" t="0" b="0"/>
          <a:stretch/>
        </p:blipFill>
        <p:spPr>
          <a:xfrm>
            <a:off x="1143000" y="5879592"/>
            <a:ext cx="142646" cy="13350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863194"/>
            <a:ext cx="12191695" cy="5572354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71500" y="1243584"/>
            <a:ext cx="3047695" cy="4809744"/>
          </a:xfrm>
          <a:prstGeom prst="roundRect">
            <a:avLst>
              <a:gd name="adj" fmla="val 1125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57707" y="1529791"/>
            <a:ext cx="266730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설계 범위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57707" y="1872691"/>
            <a:ext cx="255300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여행 플랫폼 B2B 파트너 입점 신청 서비스의 UX/UI 화면 설계를 포함합니다.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57707" y="2649017"/>
            <a:ext cx="24761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57707" y="2810866"/>
            <a:ext cx="26673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대상 프로세스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57707" y="3115361"/>
            <a:ext cx="476402" cy="247802"/>
          </a:xfrm>
          <a:prstGeom prst="roundRect">
            <a:avLst>
              <a:gd name="adj" fmla="val 56770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57707" y="3115361"/>
            <a:ext cx="534010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로그인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382573" y="3115361"/>
            <a:ext cx="972007" cy="247802"/>
          </a:xfrm>
          <a:prstGeom prst="roundRect">
            <a:avLst>
              <a:gd name="adj" fmla="val 56770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382573" y="3115361"/>
            <a:ext cx="1028700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회원가입(전단계)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409444" y="3115361"/>
            <a:ext cx="790956" cy="247802"/>
          </a:xfrm>
          <a:prstGeom prst="roundRect">
            <a:avLst>
              <a:gd name="adj" fmla="val 56770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409444" y="3115361"/>
            <a:ext cx="848563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계정상태체크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857707" y="3420770"/>
            <a:ext cx="866851" cy="247802"/>
          </a:xfrm>
          <a:prstGeom prst="roundRect">
            <a:avLst>
              <a:gd name="adj" fmla="val 56770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57707" y="3420770"/>
            <a:ext cx="924458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심사/반려 팝업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74850" y="3420770"/>
            <a:ext cx="580644" cy="247802"/>
          </a:xfrm>
          <a:prstGeom prst="roundRect">
            <a:avLst>
              <a:gd name="adj" fmla="val 56770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774850" y="3420770"/>
            <a:ext cx="638251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제출완료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857707" y="4587545"/>
            <a:ext cx="24761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57707" y="4749394"/>
            <a:ext cx="26673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비고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857707" y="5016398"/>
            <a:ext cx="2553005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* 본 문서는 PC 웹 환경을 기준으로 작성되었으며, 반응형 정책을 포함합니다.</a:t>
            </a:r>
            <a:pPr algn="l" indent="0" marL="0">
              <a:buNone/>
            </a:pP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* 소셜 로그인, 이메일 인증 상세 플로우는 1차 범위에서 제외되었습니다. 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000500" y="1243584"/>
            <a:ext cx="3696005" cy="2076602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238244" y="1482242"/>
            <a:ext cx="304495" cy="304495"/>
          </a:xfrm>
          <a:prstGeom prst="roundRect">
            <a:avLst>
              <a:gd name="adj" fmla="val 75075"/>
            </a:avLst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842" b="-842"/>
          <a:stretch/>
        </p:blipFill>
        <p:spPr>
          <a:xfrm>
            <a:off x="4295851" y="1548994"/>
            <a:ext cx="190195" cy="171907"/>
          </a:xfrm>
          <a:prstGeom prst="rect">
            <a:avLst/>
          </a:prstGeom>
        </p:spPr>
      </p:pic>
      <p:sp>
        <p:nvSpPr>
          <p:cNvPr id="26" name="Text 23"/>
          <p:cNvSpPr txBox="1"/>
          <p:nvPr/>
        </p:nvSpPr>
        <p:spPr>
          <a:xfrm>
            <a:off x="4657954" y="1506017"/>
            <a:ext cx="131765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플랫폼 및 환경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4238244" y="2015338"/>
            <a:ext cx="57607" cy="57607"/>
          </a:xfrm>
          <a:prstGeom prst="ellipse">
            <a:avLst/>
          </a:prstGeom>
          <a:solidFill>
            <a:srgbClr val="94A3B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4410151" y="1939442"/>
            <a:ext cx="3124505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대상 기기:</a:t>
            </a:r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PC (기본 1280px 이상), Tablet/Mobile 대응 (반응형)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4238244" y="2537460"/>
            <a:ext cx="57607" cy="57607"/>
          </a:xfrm>
          <a:prstGeom prst="ellipse">
            <a:avLst/>
          </a:prstGeom>
          <a:solidFill>
            <a:srgbClr val="94A3B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410151" y="2461565"/>
            <a:ext cx="358719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브라우저:</a:t>
            </a:r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Chrome, Edge, Safari, Firefox 최신 2버전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4238244" y="2846527"/>
            <a:ext cx="57607" cy="57607"/>
          </a:xfrm>
          <a:prstGeom prst="ellipse">
            <a:avLst/>
          </a:prstGeom>
          <a:solidFill>
            <a:srgbClr val="94A3B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4410151" y="2769718"/>
            <a:ext cx="358719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해상도:</a:t>
            </a:r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최소 375px ~ 최대 1920px (Grid 12col 기반)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7925105" y="1243584"/>
            <a:ext cx="3696005" cy="2076602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8162849" y="1482242"/>
            <a:ext cx="304495" cy="304495"/>
          </a:xfrm>
          <a:prstGeom prst="roundRect">
            <a:avLst>
              <a:gd name="adj" fmla="val 75075"/>
            </a:avLst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5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229600" y="1548994"/>
            <a:ext cx="171907" cy="171907"/>
          </a:xfrm>
          <a:prstGeom prst="rect">
            <a:avLst/>
          </a:prstGeom>
        </p:spPr>
      </p:pic>
      <p:sp>
        <p:nvSpPr>
          <p:cNvPr id="36" name="Text 32"/>
          <p:cNvSpPr txBox="1"/>
          <p:nvPr/>
        </p:nvSpPr>
        <p:spPr>
          <a:xfrm>
            <a:off x="8581644" y="1506017"/>
            <a:ext cx="1451153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UI/UX 및 접근성</a:t>
            </a:r>
            <a:endParaRPr lang="en-US" sz="1300" dirty="0"/>
          </a:p>
        </p:txBody>
      </p:sp>
      <p:sp>
        <p:nvSpPr>
          <p:cNvPr id="37" name="Shape 33"/>
          <p:cNvSpPr/>
          <p:nvPr/>
        </p:nvSpPr>
        <p:spPr>
          <a:xfrm>
            <a:off x="8162849" y="2015338"/>
            <a:ext cx="57607" cy="57607"/>
          </a:xfrm>
          <a:prstGeom prst="ellipse">
            <a:avLst/>
          </a:prstGeom>
          <a:solidFill>
            <a:srgbClr val="94A3B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Text 34"/>
          <p:cNvSpPr txBox="1"/>
          <p:nvPr/>
        </p:nvSpPr>
        <p:spPr>
          <a:xfrm>
            <a:off x="8334756" y="1939442"/>
            <a:ext cx="3124505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디자인 토큰:</a:t>
            </a:r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TailwindCSS 기본 팔레트, 아이콘(Lucide/FA)</a:t>
            </a:r>
            <a:endParaRPr lang="en-US" sz="1000" dirty="0"/>
          </a:p>
        </p:txBody>
      </p:sp>
      <p:sp>
        <p:nvSpPr>
          <p:cNvPr id="39" name="Shape 35"/>
          <p:cNvSpPr/>
          <p:nvPr/>
        </p:nvSpPr>
        <p:spPr>
          <a:xfrm>
            <a:off x="8162849" y="2537460"/>
            <a:ext cx="57607" cy="57607"/>
          </a:xfrm>
          <a:prstGeom prst="ellipse">
            <a:avLst/>
          </a:prstGeom>
          <a:solidFill>
            <a:srgbClr val="94A3B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Text 36"/>
          <p:cNvSpPr txBox="1"/>
          <p:nvPr/>
        </p:nvSpPr>
        <p:spPr>
          <a:xfrm>
            <a:off x="8334756" y="2461565"/>
            <a:ext cx="308335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폰트:</a:t>
            </a:r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Inter (영문/숫자), Noto Sans KR (국문)</a:t>
            </a:r>
            <a:endParaRPr lang="en-US" sz="1000" dirty="0"/>
          </a:p>
        </p:txBody>
      </p:sp>
      <p:sp>
        <p:nvSpPr>
          <p:cNvPr id="41" name="Shape 37"/>
          <p:cNvSpPr/>
          <p:nvPr/>
        </p:nvSpPr>
        <p:spPr>
          <a:xfrm>
            <a:off x="8162849" y="2846527"/>
            <a:ext cx="57607" cy="57607"/>
          </a:xfrm>
          <a:prstGeom prst="ellipse">
            <a:avLst/>
          </a:prstGeom>
          <a:solidFill>
            <a:srgbClr val="94A3B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" name="Text 38"/>
          <p:cNvSpPr txBox="1"/>
          <p:nvPr/>
        </p:nvSpPr>
        <p:spPr>
          <a:xfrm>
            <a:off x="8334756" y="2769718"/>
            <a:ext cx="356707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접근성:</a:t>
            </a:r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키보드 탭 이동 지원, 명도 대비 4.5:1 준수</a:t>
            </a:r>
            <a:endParaRPr lang="en-US" sz="1000" dirty="0"/>
          </a:p>
        </p:txBody>
      </p:sp>
      <p:sp>
        <p:nvSpPr>
          <p:cNvPr id="43" name="Shape 39"/>
          <p:cNvSpPr/>
          <p:nvPr/>
        </p:nvSpPr>
        <p:spPr>
          <a:xfrm>
            <a:off x="4000500" y="3545129"/>
            <a:ext cx="3696005" cy="2505456"/>
          </a:xfrm>
          <a:prstGeom prst="roundRect">
            <a:avLst>
              <a:gd name="adj" fmla="val 166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Shape 40"/>
          <p:cNvSpPr/>
          <p:nvPr/>
        </p:nvSpPr>
        <p:spPr>
          <a:xfrm>
            <a:off x="4238244" y="3783787"/>
            <a:ext cx="304495" cy="304495"/>
          </a:xfrm>
          <a:prstGeom prst="roundRect">
            <a:avLst>
              <a:gd name="adj" fmla="val 75075"/>
            </a:avLst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5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304995" y="3850538"/>
            <a:ext cx="171907" cy="171907"/>
          </a:xfrm>
          <a:prstGeom prst="rect">
            <a:avLst/>
          </a:prstGeom>
        </p:spPr>
      </p:pic>
      <p:sp>
        <p:nvSpPr>
          <p:cNvPr id="46" name="Text 41"/>
          <p:cNvSpPr txBox="1"/>
          <p:nvPr/>
        </p:nvSpPr>
        <p:spPr>
          <a:xfrm>
            <a:off x="4657954" y="3807562"/>
            <a:ext cx="84216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보안 정책</a:t>
            </a:r>
            <a:endParaRPr lang="en-US" sz="1300" dirty="0"/>
          </a:p>
        </p:txBody>
      </p:sp>
      <p:sp>
        <p:nvSpPr>
          <p:cNvPr id="47" name="Shape 42"/>
          <p:cNvSpPr/>
          <p:nvPr/>
        </p:nvSpPr>
        <p:spPr>
          <a:xfrm>
            <a:off x="4238244" y="4316882"/>
            <a:ext cx="57607" cy="57607"/>
          </a:xfrm>
          <a:prstGeom prst="ellipse">
            <a:avLst/>
          </a:prstGeom>
          <a:solidFill>
            <a:srgbClr val="94A3B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8" name="Text 43"/>
          <p:cNvSpPr txBox="1"/>
          <p:nvPr/>
        </p:nvSpPr>
        <p:spPr>
          <a:xfrm>
            <a:off x="4410151" y="4240987"/>
            <a:ext cx="3124505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계정 보호:</a:t>
            </a:r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로그인 5회 실패 시 10분간 잠금 (reCAPTCHA 연동)</a:t>
            </a:r>
            <a:endParaRPr lang="en-US" sz="1000" dirty="0"/>
          </a:p>
        </p:txBody>
      </p:sp>
      <p:sp>
        <p:nvSpPr>
          <p:cNvPr id="49" name="Shape 44"/>
          <p:cNvSpPr/>
          <p:nvPr/>
        </p:nvSpPr>
        <p:spPr>
          <a:xfrm>
            <a:off x="4238244" y="4839005"/>
            <a:ext cx="57607" cy="57607"/>
          </a:xfrm>
          <a:prstGeom prst="ellipse">
            <a:avLst/>
          </a:prstGeom>
          <a:solidFill>
            <a:srgbClr val="94A3B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0" name="Text 45"/>
          <p:cNvSpPr txBox="1"/>
          <p:nvPr/>
        </p:nvSpPr>
        <p:spPr>
          <a:xfrm>
            <a:off x="4410151" y="4763110"/>
            <a:ext cx="352135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전송:</a:t>
            </a:r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전 구간 HTTPS 암호화, CSRF 토큰 검증</a:t>
            </a:r>
            <a:endParaRPr lang="en-US" sz="1000" dirty="0"/>
          </a:p>
        </p:txBody>
      </p:sp>
      <p:sp>
        <p:nvSpPr>
          <p:cNvPr id="51" name="Shape 46"/>
          <p:cNvSpPr/>
          <p:nvPr/>
        </p:nvSpPr>
        <p:spPr>
          <a:xfrm>
            <a:off x="4238244" y="5148072"/>
            <a:ext cx="57607" cy="57607"/>
          </a:xfrm>
          <a:prstGeom prst="ellipse">
            <a:avLst/>
          </a:prstGeom>
          <a:solidFill>
            <a:srgbClr val="94A3B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2" name="Text 47"/>
          <p:cNvSpPr txBox="1"/>
          <p:nvPr/>
        </p:nvSpPr>
        <p:spPr>
          <a:xfrm>
            <a:off x="4410151" y="5071262"/>
            <a:ext cx="3124505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비밀번호:</a:t>
            </a:r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단방향 해싱 저장, 8~64자 영문/숫자/특수문자 조합</a:t>
            </a:r>
            <a:endParaRPr lang="en-US" sz="1000" dirty="0"/>
          </a:p>
        </p:txBody>
      </p:sp>
      <p:sp>
        <p:nvSpPr>
          <p:cNvPr id="53" name="Shape 48"/>
          <p:cNvSpPr/>
          <p:nvPr/>
        </p:nvSpPr>
        <p:spPr>
          <a:xfrm>
            <a:off x="7925105" y="3545129"/>
            <a:ext cx="3696005" cy="2505456"/>
          </a:xfrm>
          <a:prstGeom prst="roundRect">
            <a:avLst>
              <a:gd name="adj" fmla="val 166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4" name="Shape 49"/>
          <p:cNvSpPr/>
          <p:nvPr/>
        </p:nvSpPr>
        <p:spPr>
          <a:xfrm>
            <a:off x="8162849" y="3783787"/>
            <a:ext cx="304495" cy="304495"/>
          </a:xfrm>
          <a:prstGeom prst="roundRect">
            <a:avLst>
              <a:gd name="adj" fmla="val 75075"/>
            </a:avLst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5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229600" y="3850538"/>
            <a:ext cx="171907" cy="171907"/>
          </a:xfrm>
          <a:prstGeom prst="rect">
            <a:avLst/>
          </a:prstGeom>
        </p:spPr>
      </p:pic>
      <p:sp>
        <p:nvSpPr>
          <p:cNvPr id="56" name="Text 50"/>
          <p:cNvSpPr txBox="1"/>
          <p:nvPr/>
        </p:nvSpPr>
        <p:spPr>
          <a:xfrm>
            <a:off x="8581644" y="3807562"/>
            <a:ext cx="226771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에러 처리 및 데이터 검증</a:t>
            </a:r>
            <a:endParaRPr lang="en-US" sz="1300" dirty="0"/>
          </a:p>
        </p:txBody>
      </p:sp>
      <p:sp>
        <p:nvSpPr>
          <p:cNvPr id="57" name="Shape 51"/>
          <p:cNvSpPr/>
          <p:nvPr/>
        </p:nvSpPr>
        <p:spPr>
          <a:xfrm>
            <a:off x="8162849" y="4316882"/>
            <a:ext cx="57607" cy="57607"/>
          </a:xfrm>
          <a:prstGeom prst="ellipse">
            <a:avLst/>
          </a:prstGeom>
          <a:solidFill>
            <a:srgbClr val="94A3B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8" name="Text 52"/>
          <p:cNvSpPr txBox="1"/>
          <p:nvPr/>
        </p:nvSpPr>
        <p:spPr>
          <a:xfrm>
            <a:off x="8334756" y="4240987"/>
            <a:ext cx="3124505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입력 검증:</a:t>
            </a:r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클라이언트(실시간 형식체크) + 서버(중복/진위확인)</a:t>
            </a:r>
            <a:endParaRPr lang="en-US" sz="1000" dirty="0"/>
          </a:p>
        </p:txBody>
      </p:sp>
      <p:sp>
        <p:nvSpPr>
          <p:cNvPr id="59" name="Shape 53"/>
          <p:cNvSpPr/>
          <p:nvPr/>
        </p:nvSpPr>
        <p:spPr>
          <a:xfrm>
            <a:off x="8162849" y="4839005"/>
            <a:ext cx="57607" cy="57607"/>
          </a:xfrm>
          <a:prstGeom prst="ellipse">
            <a:avLst/>
          </a:prstGeom>
          <a:solidFill>
            <a:srgbClr val="94A3B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0" name="Text 54"/>
          <p:cNvSpPr txBox="1"/>
          <p:nvPr/>
        </p:nvSpPr>
        <p:spPr>
          <a:xfrm>
            <a:off x="8334756" y="4763110"/>
            <a:ext cx="3124505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파일 업로드:</a:t>
            </a:r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서버 사이드 바이러스 스캔, 확장자 화이트리스트</a:t>
            </a:r>
            <a:endParaRPr lang="en-US" sz="1000" dirty="0"/>
          </a:p>
        </p:txBody>
      </p:sp>
      <p:sp>
        <p:nvSpPr>
          <p:cNvPr id="61" name="Shape 55"/>
          <p:cNvSpPr/>
          <p:nvPr/>
        </p:nvSpPr>
        <p:spPr>
          <a:xfrm>
            <a:off x="8162849" y="5361127"/>
            <a:ext cx="57607" cy="57607"/>
          </a:xfrm>
          <a:prstGeom prst="ellipse">
            <a:avLst/>
          </a:prstGeom>
          <a:solidFill>
            <a:srgbClr val="94A3B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2" name="Text 56"/>
          <p:cNvSpPr txBox="1"/>
          <p:nvPr/>
        </p:nvSpPr>
        <p:spPr>
          <a:xfrm>
            <a:off x="8334756" y="5285232"/>
            <a:ext cx="3124505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에러 피드백:</a:t>
            </a:r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인라인 메시지(Validation), 토스트(System Error)</a:t>
            </a:r>
            <a:endParaRPr lang="en-US" sz="1000" dirty="0"/>
          </a:p>
        </p:txBody>
      </p:sp>
      <p:sp>
        <p:nvSpPr>
          <p:cNvPr id="63" name="Shape 57"/>
          <p:cNvSpPr/>
          <p:nvPr/>
        </p:nvSpPr>
        <p:spPr>
          <a:xfrm>
            <a:off x="0" y="6426403"/>
            <a:ext cx="12191695" cy="43799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4" name="Shape 58"/>
          <p:cNvSpPr/>
          <p:nvPr/>
        </p:nvSpPr>
        <p:spPr>
          <a:xfrm>
            <a:off x="0" y="6426403"/>
            <a:ext cx="12191695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65" name="Text 59"/>
          <p:cNvSpPr txBox="1"/>
          <p:nvPr/>
        </p:nvSpPr>
        <p:spPr>
          <a:xfrm>
            <a:off x="571500" y="6560820"/>
            <a:ext cx="191658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B2B 파트너 입점 화면설계서 v0.9</a:t>
            </a:r>
            <a:endParaRPr lang="en-US" sz="900" dirty="0"/>
          </a:p>
        </p:txBody>
      </p:sp>
      <p:sp>
        <p:nvSpPr>
          <p:cNvPr id="66" name="Text 60"/>
          <p:cNvSpPr txBox="1"/>
          <p:nvPr/>
        </p:nvSpPr>
        <p:spPr>
          <a:xfrm>
            <a:off x="11205058" y="6560820"/>
            <a:ext cx="49743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Page 02</a:t>
            </a:r>
            <a:endParaRPr lang="en-US" sz="900" dirty="0"/>
          </a:p>
        </p:txBody>
      </p:sp>
      <p:sp>
        <p:nvSpPr>
          <p:cNvPr id="67" name="Shape 61"/>
          <p:cNvSpPr/>
          <p:nvPr/>
        </p:nvSpPr>
        <p:spPr>
          <a:xfrm>
            <a:off x="0" y="0"/>
            <a:ext cx="12191695" cy="86685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8" name="Shape 62"/>
          <p:cNvSpPr/>
          <p:nvPr/>
        </p:nvSpPr>
        <p:spPr>
          <a:xfrm>
            <a:off x="0" y="857707"/>
            <a:ext cx="12191695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pic>
        <p:nvPicPr>
          <p:cNvPr id="69" name="Image 4" descr="preencoded.png">    </p:cNvPr>
          <p:cNvPicPr>
            <a:picLocks noChangeAspect="1"/>
          </p:cNvPicPr>
          <p:nvPr/>
        </p:nvPicPr>
        <p:blipFill>
          <a:blip r:embed="rId5"/>
          <a:srcRect l="-360" r="-360" t="0" b="0"/>
          <a:stretch/>
        </p:blipFill>
        <p:spPr>
          <a:xfrm>
            <a:off x="571500" y="235915"/>
            <a:ext cx="57607" cy="381305"/>
          </a:xfrm>
          <a:prstGeom prst="rect">
            <a:avLst/>
          </a:prstGeom>
        </p:spPr>
      </p:pic>
      <p:sp>
        <p:nvSpPr>
          <p:cNvPr id="70" name="Text 63"/>
          <p:cNvSpPr txBox="1"/>
          <p:nvPr/>
        </p:nvSpPr>
        <p:spPr>
          <a:xfrm>
            <a:off x="819302" y="140818"/>
            <a:ext cx="291510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범위 및 가정사항</a:t>
            </a:r>
            <a:endParaRPr lang="en-US" sz="2200" dirty="0"/>
          </a:p>
        </p:txBody>
      </p:sp>
      <p:sp>
        <p:nvSpPr>
          <p:cNvPr id="71" name="Text 64"/>
          <p:cNvSpPr txBox="1"/>
          <p:nvPr/>
        </p:nvSpPr>
        <p:spPr>
          <a:xfrm>
            <a:off x="819302" y="522122"/>
            <a:ext cx="331104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수행을 위한 기술적 환경 및 정책적 정의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80644"/>
            <a:ext cx="12191695" cy="6762902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71500" y="961949"/>
            <a:ext cx="4629607" cy="6001207"/>
          </a:xfrm>
          <a:prstGeom prst="roundRect">
            <a:avLst>
              <a:gd name="adj" fmla="val 48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9244" y="1571854"/>
            <a:ext cx="4153205" cy="19202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09244" y="1242670"/>
            <a:ext cx="171907" cy="171907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981151" y="1200607"/>
            <a:ext cx="1467612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로그인 및 계정 상태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2190902" y="1971446"/>
            <a:ext cx="1390802" cy="448056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로그인 시도</a:t>
            </a:r>
            <a:endParaRPr lang="en-US" sz="10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rcRect l="-400" r="-400" t="0" b="0"/>
          <a:stretch/>
        </p:blipFill>
        <p:spPr>
          <a:xfrm>
            <a:off x="2876702" y="2572207"/>
            <a:ext cx="19202" cy="2286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190902" y="2952598"/>
            <a:ext cx="1390802" cy="44805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자격 증명 확인</a:t>
            </a:r>
            <a:endParaRPr lang="en-US" sz="10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rcRect l="-400" r="-400" t="0" b="0"/>
          <a:stretch/>
        </p:blipFill>
        <p:spPr>
          <a:xfrm>
            <a:off x="2876702" y="3552444"/>
            <a:ext cx="19202" cy="22860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2219249" y="3933749"/>
            <a:ext cx="1333195" cy="466344"/>
          </a:xfrm>
          <a:prstGeom prst="roundRect">
            <a:avLst>
              <a:gd name="adj" fmla="val 32013"/>
            </a:avLst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2331720" y="4067251"/>
            <a:ext cx="111099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9770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계정 상태?</a:t>
            </a:r>
            <a:endParaRPr lang="en-US" sz="10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-408" b="-408"/>
          <a:stretch/>
        </p:blipFill>
        <p:spPr>
          <a:xfrm>
            <a:off x="1614830" y="4686300"/>
            <a:ext cx="2541118" cy="19202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2885846" y="4591202"/>
            <a:ext cx="19202" cy="95098"/>
          </a:xfrm>
          <a:prstGeom prst="rect">
            <a:avLst/>
          </a:prstGeom>
          <a:solidFill>
            <a:srgbClr val="CBD5E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rcRect l="-343" r="-343" t="0" b="0"/>
          <a:stretch/>
        </p:blipFill>
        <p:spPr>
          <a:xfrm>
            <a:off x="1614830" y="4686300"/>
            <a:ext cx="19202" cy="133502"/>
          </a:xfrm>
          <a:prstGeom prst="rect">
            <a:avLst/>
          </a:prstGeom>
        </p:spPr>
      </p:pic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rcRect l="-343" r="-343" t="0" b="0"/>
          <a:stretch/>
        </p:blipFill>
        <p:spPr>
          <a:xfrm>
            <a:off x="4137660" y="4686300"/>
            <a:ext cx="19202" cy="133502"/>
          </a:xfrm>
          <a:prstGeom prst="rect">
            <a:avLst/>
          </a:prstGeom>
        </p:spPr>
      </p:pic>
      <p:sp>
        <p:nvSpPr>
          <p:cNvPr id="19" name="Text 11"/>
          <p:cNvSpPr txBox="1"/>
          <p:nvPr/>
        </p:nvSpPr>
        <p:spPr>
          <a:xfrm>
            <a:off x="780898" y="4972507"/>
            <a:ext cx="1390802" cy="342900"/>
          </a:xfrm>
          <a:prstGeom prst="rect">
            <a:avLst/>
          </a:prstGeom>
          <a:solidFill>
            <a:srgbClr val="FEF2F2"/>
          </a:solidFill>
          <a:ln w="12700">
            <a:solidFill>
              <a:srgbClr val="FCA5A5"/>
            </a:solidFill>
          </a:ln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BE12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반려</a:t>
            </a:r>
            <a:endParaRPr lang="en-US" sz="900" dirty="0"/>
          </a:p>
        </p:txBody>
      </p:sp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7"/>
          <a:srcRect l="-400" r="-400" t="0" b="0"/>
          <a:stretch/>
        </p:blipFill>
        <p:spPr>
          <a:xfrm>
            <a:off x="1466698" y="5315407"/>
            <a:ext cx="19202" cy="114300"/>
          </a:xfrm>
          <a:prstGeom prst="rect">
            <a:avLst/>
          </a:prstGeom>
        </p:spPr>
      </p:pic>
      <p:sp>
        <p:nvSpPr>
          <p:cNvPr id="21" name="Text 12"/>
          <p:cNvSpPr txBox="1"/>
          <p:nvPr/>
        </p:nvSpPr>
        <p:spPr>
          <a:xfrm>
            <a:off x="780898" y="5429707"/>
            <a:ext cx="1390802" cy="47640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반려 팝업</a:t>
            </a:r>
            <a:pPr algn="ctr" indent="0" marL="0">
              <a:buNone/>
            </a:pP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(재신청 유도)</a:t>
            </a:r>
            <a:endParaRPr lang="en-US" sz="900" dirty="0"/>
          </a:p>
        </p:txBody>
      </p:sp>
      <p:sp>
        <p:nvSpPr>
          <p:cNvPr id="22" name="Text 13"/>
          <p:cNvSpPr txBox="1"/>
          <p:nvPr/>
        </p:nvSpPr>
        <p:spPr>
          <a:xfrm>
            <a:off x="2190902" y="4972507"/>
            <a:ext cx="1390802" cy="342900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</a:ln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580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승인</a:t>
            </a:r>
            <a:endParaRPr lang="en-US" sz="900" dirty="0"/>
          </a:p>
        </p:txBody>
      </p:sp>
      <p:pic>
        <p:nvPicPr>
          <p:cNvPr id="23" name="Image 7" descr="preencoded.png">    </p:cNvPr>
          <p:cNvPicPr>
            <a:picLocks noChangeAspect="1"/>
          </p:cNvPicPr>
          <p:nvPr/>
        </p:nvPicPr>
        <p:blipFill>
          <a:blip r:embed="rId8"/>
          <a:srcRect l="-400" r="-400" t="0" b="0"/>
          <a:stretch/>
        </p:blipFill>
        <p:spPr>
          <a:xfrm>
            <a:off x="2876702" y="5315407"/>
            <a:ext cx="19202" cy="114300"/>
          </a:xfrm>
          <a:prstGeom prst="rect">
            <a:avLst/>
          </a:prstGeom>
        </p:spPr>
      </p:pic>
      <p:sp>
        <p:nvSpPr>
          <p:cNvPr id="24" name="Text 14"/>
          <p:cNvSpPr txBox="1"/>
          <p:nvPr/>
        </p:nvSpPr>
        <p:spPr>
          <a:xfrm>
            <a:off x="2190902" y="5429707"/>
            <a:ext cx="1390802" cy="47640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홈 화면</a:t>
            </a:r>
            <a:pPr algn="ctr" indent="0" marL="0">
              <a:buNone/>
            </a:pP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진입</a:t>
            </a:r>
            <a:endParaRPr lang="en-US" sz="900" dirty="0"/>
          </a:p>
        </p:txBody>
      </p:sp>
      <p:sp>
        <p:nvSpPr>
          <p:cNvPr id="25" name="Text 15"/>
          <p:cNvSpPr txBox="1"/>
          <p:nvPr/>
        </p:nvSpPr>
        <p:spPr>
          <a:xfrm>
            <a:off x="3600907" y="4972507"/>
            <a:ext cx="1390802" cy="342900"/>
          </a:xfrm>
          <a:prstGeom prst="rect">
            <a:avLst/>
          </a:prstGeom>
          <a:solidFill>
            <a:srgbClr val="FFF7ED"/>
          </a:solidFill>
          <a:ln w="12700">
            <a:solidFill>
              <a:srgbClr val="FDBA74"/>
            </a:solidFill>
          </a:ln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2410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심사중</a:t>
            </a:r>
            <a:endParaRPr lang="en-US" sz="900" dirty="0"/>
          </a:p>
        </p:txBody>
      </p:sp>
      <p:pic>
        <p:nvPicPr>
          <p:cNvPr id="26" name="Image 8" descr="preencoded.png">    </p:cNvPr>
          <p:cNvPicPr>
            <a:picLocks noChangeAspect="1"/>
          </p:cNvPicPr>
          <p:nvPr/>
        </p:nvPicPr>
        <p:blipFill>
          <a:blip r:embed="rId9"/>
          <a:srcRect l="-400" r="-400" t="0" b="0"/>
          <a:stretch/>
        </p:blipFill>
        <p:spPr>
          <a:xfrm>
            <a:off x="4286707" y="5315407"/>
            <a:ext cx="19202" cy="114300"/>
          </a:xfrm>
          <a:prstGeom prst="rect">
            <a:avLst/>
          </a:prstGeom>
        </p:spPr>
      </p:pic>
      <p:sp>
        <p:nvSpPr>
          <p:cNvPr id="27" name="Text 16"/>
          <p:cNvSpPr txBox="1"/>
          <p:nvPr/>
        </p:nvSpPr>
        <p:spPr>
          <a:xfrm>
            <a:off x="3600907" y="5429707"/>
            <a:ext cx="1390802" cy="47640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심사중 팝업</a:t>
            </a:r>
            <a:pPr algn="ctr" indent="0" marL="0">
              <a:buNone/>
            </a:pP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(접근 불가)</a:t>
            </a:r>
            <a:endParaRPr lang="en-US" sz="900" dirty="0"/>
          </a:p>
        </p:txBody>
      </p:sp>
      <p:sp>
        <p:nvSpPr>
          <p:cNvPr id="28" name="Text 17"/>
          <p:cNvSpPr txBox="1"/>
          <p:nvPr/>
        </p:nvSpPr>
        <p:spPr>
          <a:xfrm>
            <a:off x="1113739" y="6096305"/>
            <a:ext cx="3924605" cy="629107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Reference Flow</a:t>
            </a:r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https://www.genspark.ai/api/files/s/GvUDHDUm... </a:t>
            </a:r>
            <a:endParaRPr lang="en-US" sz="900" dirty="0"/>
          </a:p>
        </p:txBody>
      </p:sp>
      <p:sp>
        <p:nvSpPr>
          <p:cNvPr id="29" name="Text 18"/>
          <p:cNvSpPr txBox="1"/>
          <p:nvPr/>
        </p:nvSpPr>
        <p:spPr>
          <a:xfrm>
            <a:off x="1114654" y="6219749"/>
            <a:ext cx="383865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Reference Flow</a:t>
            </a:r>
            <a:endParaRPr lang="en-US" sz="900" dirty="0"/>
          </a:p>
        </p:txBody>
      </p:sp>
      <p:pic>
        <p:nvPicPr>
          <p:cNvPr id="30" name="Image 9" descr="preencoded.png">    </p:cNvPr>
          <p:cNvPicPr>
            <a:picLocks noChangeAspect="1"/>
          </p:cNvPicPr>
          <p:nvPr/>
        </p:nvPicPr>
        <p:blipFill>
          <a:blip r:embed="rId10"/>
          <a:srcRect l="0" r="0" t="-80" b="-80"/>
          <a:stretch/>
        </p:blipFill>
        <p:spPr>
          <a:xfrm>
            <a:off x="933602" y="6253582"/>
            <a:ext cx="142646" cy="114300"/>
          </a:xfrm>
          <a:prstGeom prst="rect">
            <a:avLst/>
          </a:prstGeom>
        </p:spPr>
      </p:pic>
      <p:sp>
        <p:nvSpPr>
          <p:cNvPr id="31" name="Shape 19"/>
          <p:cNvSpPr/>
          <p:nvPr/>
        </p:nvSpPr>
        <p:spPr>
          <a:xfrm>
            <a:off x="5581498" y="961949"/>
            <a:ext cx="6038698" cy="6001207"/>
          </a:xfrm>
          <a:prstGeom prst="roundRect">
            <a:avLst>
              <a:gd name="adj" fmla="val 29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20"/>
          <p:cNvSpPr/>
          <p:nvPr/>
        </p:nvSpPr>
        <p:spPr>
          <a:xfrm>
            <a:off x="5820156" y="1571854"/>
            <a:ext cx="5562295" cy="19202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pic>
        <p:nvPicPr>
          <p:cNvPr id="33" name="Image 10" descr="preencoded.png">    </p:cNvPr>
          <p:cNvPicPr>
            <a:picLocks noChangeAspect="1"/>
          </p:cNvPicPr>
          <p:nvPr/>
        </p:nvPicPr>
        <p:blipFill>
          <a:blip r:embed="rId11"/>
          <a:srcRect l="-1064" r="-1064" t="0" b="0"/>
          <a:stretch/>
        </p:blipFill>
        <p:spPr>
          <a:xfrm>
            <a:off x="5820156" y="1242670"/>
            <a:ext cx="219456" cy="171907"/>
          </a:xfrm>
          <a:prstGeom prst="rect">
            <a:avLst/>
          </a:prstGeom>
        </p:spPr>
      </p:pic>
      <p:sp>
        <p:nvSpPr>
          <p:cNvPr id="34" name="Text 21"/>
          <p:cNvSpPr txBox="1"/>
          <p:nvPr/>
        </p:nvSpPr>
        <p:spPr>
          <a:xfrm>
            <a:off x="6038698" y="1200607"/>
            <a:ext cx="1743761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회원가입 전체 프로세스</a:t>
            </a:r>
            <a:endParaRPr lang="en-US" sz="1300" dirty="0"/>
          </a:p>
        </p:txBody>
      </p:sp>
      <p:pic>
        <p:nvPicPr>
          <p:cNvPr id="35" name="Image 11" descr="preencoded.png">    </p:cNvPr>
          <p:cNvPicPr>
            <a:picLocks noChangeAspect="1"/>
          </p:cNvPicPr>
          <p:nvPr/>
        </p:nvPicPr>
        <p:blipFill>
          <a:blip r:embed="rId12"/>
          <a:srcRect l="-384" r="-384" t="0" b="0"/>
          <a:stretch/>
        </p:blipFill>
        <p:spPr>
          <a:xfrm>
            <a:off x="5971946" y="1876349"/>
            <a:ext cx="19202" cy="476402"/>
          </a:xfrm>
          <a:prstGeom prst="rect">
            <a:avLst/>
          </a:prstGeom>
        </p:spPr>
      </p:pic>
      <p:pic>
        <p:nvPicPr>
          <p:cNvPr id="36" name="Image 12" descr="preencoded.png">    </p:cNvPr>
          <p:cNvPicPr>
            <a:picLocks noChangeAspect="1"/>
          </p:cNvPicPr>
          <p:nvPr/>
        </p:nvPicPr>
        <p:blipFill>
          <a:blip r:embed="rId13"/>
          <a:srcRect l="0" r="0" t="-19" b="-19"/>
          <a:stretch/>
        </p:blipFill>
        <p:spPr>
          <a:xfrm>
            <a:off x="6277356" y="1876349"/>
            <a:ext cx="5105095" cy="476402"/>
          </a:xfrm>
          <a:prstGeom prst="rect">
            <a:avLst/>
          </a:prstGeom>
        </p:spPr>
      </p:pic>
      <p:sp>
        <p:nvSpPr>
          <p:cNvPr id="37" name="Text 22"/>
          <p:cNvSpPr txBox="1"/>
          <p:nvPr/>
        </p:nvSpPr>
        <p:spPr>
          <a:xfrm>
            <a:off x="6400800" y="2000707"/>
            <a:ext cx="9912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계정 생성</a:t>
            </a:r>
            <a:endParaRPr lang="en-US" sz="1200" dirty="0"/>
          </a:p>
        </p:txBody>
      </p:sp>
      <p:sp>
        <p:nvSpPr>
          <p:cNvPr id="38" name="Shape 23"/>
          <p:cNvSpPr/>
          <p:nvPr/>
        </p:nvSpPr>
        <p:spPr>
          <a:xfrm>
            <a:off x="7391095" y="2018995"/>
            <a:ext cx="9144" cy="190195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39" name="Text 24"/>
          <p:cNvSpPr txBox="1"/>
          <p:nvPr/>
        </p:nvSpPr>
        <p:spPr>
          <a:xfrm>
            <a:off x="7637983" y="2018995"/>
            <a:ext cx="2037283" cy="1911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이메일/비밀번호 설정 </a:t>
            </a:r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중복 확인 </a:t>
            </a:r>
            <a:endParaRPr lang="en-US" sz="1000" dirty="0"/>
          </a:p>
        </p:txBody>
      </p:sp>
      <p:pic>
        <p:nvPicPr>
          <p:cNvPr id="40" name="Image 13" descr="preencoded.png">    </p:cNvPr>
          <p:cNvPicPr>
            <a:picLocks noChangeAspect="1"/>
          </p:cNvPicPr>
          <p:nvPr/>
        </p:nvPicPr>
        <p:blipFill>
          <a:blip r:embed="rId14"/>
          <a:srcRect l="0" r="0" t="-1100" b="-1100"/>
          <a:stretch/>
        </p:blipFill>
        <p:spPr>
          <a:xfrm>
            <a:off x="8784641" y="2054657"/>
            <a:ext cx="114300" cy="133502"/>
          </a:xfrm>
          <a:prstGeom prst="rect">
            <a:avLst/>
          </a:prstGeom>
        </p:spPr>
      </p:pic>
      <p:pic>
        <p:nvPicPr>
          <p:cNvPr id="41" name="Image 14" descr="preencoded.png">    </p:cNvPr>
          <p:cNvPicPr>
            <a:picLocks noChangeAspect="1"/>
          </p:cNvPicPr>
          <p:nvPr/>
        </p:nvPicPr>
        <p:blipFill>
          <a:blip r:embed="rId15"/>
          <a:srcRect l="-411" r="-411" t="0" b="0"/>
          <a:stretch/>
        </p:blipFill>
        <p:spPr>
          <a:xfrm>
            <a:off x="5971946" y="2734056"/>
            <a:ext cx="19202" cy="666598"/>
          </a:xfrm>
          <a:prstGeom prst="rect">
            <a:avLst/>
          </a:prstGeom>
        </p:spPr>
      </p:pic>
      <p:pic>
        <p:nvPicPr>
          <p:cNvPr id="42" name="Image 15" descr="preencoded.png">    </p:cNvPr>
          <p:cNvPicPr>
            <a:picLocks noChangeAspect="1"/>
          </p:cNvPicPr>
          <p:nvPr/>
        </p:nvPicPr>
        <p:blipFill>
          <a:blip r:embed="rId16"/>
          <a:srcRect l="-8" r="-8" t="0" b="0"/>
          <a:stretch/>
        </p:blipFill>
        <p:spPr>
          <a:xfrm>
            <a:off x="6277356" y="2734056"/>
            <a:ext cx="5105095" cy="666598"/>
          </a:xfrm>
          <a:prstGeom prst="rect">
            <a:avLst/>
          </a:prstGeom>
        </p:spPr>
      </p:pic>
      <p:sp>
        <p:nvSpPr>
          <p:cNvPr id="43" name="Text 25"/>
          <p:cNvSpPr txBox="1"/>
          <p:nvPr/>
        </p:nvSpPr>
        <p:spPr>
          <a:xfrm>
            <a:off x="6400800" y="2952598"/>
            <a:ext cx="8385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정보 입력</a:t>
            </a:r>
            <a:endParaRPr lang="en-US" sz="1200" dirty="0"/>
          </a:p>
        </p:txBody>
      </p:sp>
      <p:sp>
        <p:nvSpPr>
          <p:cNvPr id="44" name="Shape 26"/>
          <p:cNvSpPr/>
          <p:nvPr/>
        </p:nvSpPr>
        <p:spPr>
          <a:xfrm>
            <a:off x="7231075" y="2857500"/>
            <a:ext cx="9144" cy="418795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45" name="Text 27"/>
          <p:cNvSpPr txBox="1"/>
          <p:nvPr/>
        </p:nvSpPr>
        <p:spPr>
          <a:xfrm>
            <a:off x="7497166" y="2857500"/>
            <a:ext cx="188457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회사 기본 정보</a:t>
            </a:r>
            <a:endParaRPr lang="en-US" sz="1000" dirty="0"/>
          </a:p>
        </p:txBody>
      </p:sp>
      <p:pic>
        <p:nvPicPr>
          <p:cNvPr id="46" name="Image 16" descr="preencoded.png">    </p:cNvPr>
          <p:cNvPicPr>
            <a:picLocks noChangeAspect="1"/>
          </p:cNvPicPr>
          <p:nvPr/>
        </p:nvPicPr>
        <p:blipFill>
          <a:blip r:embed="rId17"/>
          <a:srcRect l="-2571" r="-2571" t="0" b="0"/>
          <a:stretch/>
        </p:blipFill>
        <p:spPr>
          <a:xfrm>
            <a:off x="7354519" y="2909621"/>
            <a:ext cx="105156" cy="114300"/>
          </a:xfrm>
          <a:prstGeom prst="rect">
            <a:avLst/>
          </a:prstGeom>
        </p:spPr>
      </p:pic>
      <p:sp>
        <p:nvSpPr>
          <p:cNvPr id="47" name="Text 28"/>
          <p:cNvSpPr txBox="1"/>
          <p:nvPr/>
        </p:nvSpPr>
        <p:spPr>
          <a:xfrm>
            <a:off x="9525305" y="2857500"/>
            <a:ext cx="188457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사업자 정보 (선택)</a:t>
            </a:r>
            <a:endParaRPr lang="en-US" sz="1000" dirty="0"/>
          </a:p>
        </p:txBody>
      </p:sp>
      <p:pic>
        <p:nvPicPr>
          <p:cNvPr id="48" name="Image 17" descr="preencoded.png">    </p:cNvPr>
          <p:cNvPicPr>
            <a:picLocks noChangeAspect="1"/>
          </p:cNvPicPr>
          <p:nvPr/>
        </p:nvPicPr>
        <p:blipFill>
          <a:blip r:embed="rId18"/>
          <a:srcRect l="-2571" r="-2571" t="0" b="0"/>
          <a:stretch/>
        </p:blipFill>
        <p:spPr>
          <a:xfrm>
            <a:off x="9382658" y="2909621"/>
            <a:ext cx="105156" cy="114300"/>
          </a:xfrm>
          <a:prstGeom prst="rect">
            <a:avLst/>
          </a:prstGeom>
        </p:spPr>
      </p:pic>
      <p:sp>
        <p:nvSpPr>
          <p:cNvPr id="49" name="Text 29"/>
          <p:cNvSpPr txBox="1"/>
          <p:nvPr/>
        </p:nvSpPr>
        <p:spPr>
          <a:xfrm>
            <a:off x="7497166" y="3086100"/>
            <a:ext cx="188457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대표자 정보</a:t>
            </a:r>
            <a:endParaRPr lang="en-US" sz="1000" dirty="0"/>
          </a:p>
        </p:txBody>
      </p:sp>
      <p:pic>
        <p:nvPicPr>
          <p:cNvPr id="50" name="Image 18" descr="preencoded.png">    </p:cNvPr>
          <p:cNvPicPr>
            <a:picLocks noChangeAspect="1"/>
          </p:cNvPicPr>
          <p:nvPr/>
        </p:nvPicPr>
        <p:blipFill>
          <a:blip r:embed="rId19"/>
          <a:srcRect l="-2571" r="-2571" t="0" b="0"/>
          <a:stretch/>
        </p:blipFill>
        <p:spPr>
          <a:xfrm>
            <a:off x="7354519" y="3138221"/>
            <a:ext cx="105156" cy="114300"/>
          </a:xfrm>
          <a:prstGeom prst="rect">
            <a:avLst/>
          </a:prstGeom>
        </p:spPr>
      </p:pic>
      <p:sp>
        <p:nvSpPr>
          <p:cNvPr id="51" name="Text 30"/>
          <p:cNvSpPr txBox="1"/>
          <p:nvPr/>
        </p:nvSpPr>
        <p:spPr>
          <a:xfrm>
            <a:off x="9525305" y="3086100"/>
            <a:ext cx="188457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담당자 정보</a:t>
            </a:r>
            <a:endParaRPr lang="en-US" sz="1000" dirty="0"/>
          </a:p>
        </p:txBody>
      </p:sp>
      <p:pic>
        <p:nvPicPr>
          <p:cNvPr id="52" name="Image 19" descr="preencoded.png">    </p:cNvPr>
          <p:cNvPicPr>
            <a:picLocks noChangeAspect="1"/>
          </p:cNvPicPr>
          <p:nvPr/>
        </p:nvPicPr>
        <p:blipFill>
          <a:blip r:embed="rId20"/>
          <a:srcRect l="-2571" r="-2571" t="0" b="0"/>
          <a:stretch/>
        </p:blipFill>
        <p:spPr>
          <a:xfrm>
            <a:off x="9382658" y="3138221"/>
            <a:ext cx="105156" cy="114300"/>
          </a:xfrm>
          <a:prstGeom prst="rect">
            <a:avLst/>
          </a:prstGeom>
        </p:spPr>
      </p:pic>
      <p:pic>
        <p:nvPicPr>
          <p:cNvPr id="53" name="Image 20" descr="preencoded.png">    </p:cNvPr>
          <p:cNvPicPr>
            <a:picLocks noChangeAspect="1"/>
          </p:cNvPicPr>
          <p:nvPr/>
        </p:nvPicPr>
        <p:blipFill>
          <a:blip r:embed="rId21"/>
          <a:srcRect l="-384" r="-384" t="0" b="0"/>
          <a:stretch/>
        </p:blipFill>
        <p:spPr>
          <a:xfrm>
            <a:off x="5971946" y="3781044"/>
            <a:ext cx="19202" cy="476402"/>
          </a:xfrm>
          <a:prstGeom prst="rect">
            <a:avLst/>
          </a:prstGeom>
        </p:spPr>
      </p:pic>
      <p:pic>
        <p:nvPicPr>
          <p:cNvPr id="54" name="Image 21" descr="preencoded.png">    </p:cNvPr>
          <p:cNvPicPr>
            <a:picLocks noChangeAspect="1"/>
          </p:cNvPicPr>
          <p:nvPr/>
        </p:nvPicPr>
        <p:blipFill>
          <a:blip r:embed="rId22"/>
          <a:srcRect l="0" r="0" t="-19" b="-19"/>
          <a:stretch/>
        </p:blipFill>
        <p:spPr>
          <a:xfrm>
            <a:off x="6277356" y="3781044"/>
            <a:ext cx="5105095" cy="476402"/>
          </a:xfrm>
          <a:prstGeom prst="rect">
            <a:avLst/>
          </a:prstGeom>
        </p:spPr>
      </p:pic>
      <p:sp>
        <p:nvSpPr>
          <p:cNvPr id="55" name="Text 31"/>
          <p:cNvSpPr txBox="1"/>
          <p:nvPr/>
        </p:nvSpPr>
        <p:spPr>
          <a:xfrm>
            <a:off x="6400800" y="3905402"/>
            <a:ext cx="9912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서류/설정</a:t>
            </a:r>
            <a:endParaRPr lang="en-US" sz="1200" dirty="0"/>
          </a:p>
        </p:txBody>
      </p:sp>
      <p:sp>
        <p:nvSpPr>
          <p:cNvPr id="56" name="Shape 32"/>
          <p:cNvSpPr/>
          <p:nvPr/>
        </p:nvSpPr>
        <p:spPr>
          <a:xfrm>
            <a:off x="7391095" y="3924605"/>
            <a:ext cx="9144" cy="190195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57" name="Text 33"/>
          <p:cNvSpPr txBox="1"/>
          <p:nvPr/>
        </p:nvSpPr>
        <p:spPr>
          <a:xfrm>
            <a:off x="7637983" y="3924605"/>
            <a:ext cx="2820924" cy="1911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서류 업로드 (검증) </a:t>
            </a:r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업종/키워드 </a:t>
            </a:r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옵션 설정 </a:t>
            </a:r>
            <a:endParaRPr lang="en-US" sz="1000" dirty="0"/>
          </a:p>
        </p:txBody>
      </p:sp>
      <p:pic>
        <p:nvPicPr>
          <p:cNvPr id="58" name="Image 22" descr="preencoded.png">    </p:cNvPr>
          <p:cNvPicPr>
            <a:picLocks noChangeAspect="1"/>
          </p:cNvPicPr>
          <p:nvPr/>
        </p:nvPicPr>
        <p:blipFill>
          <a:blip r:embed="rId23"/>
          <a:srcRect l="0" r="0" t="-1100" b="-1100"/>
          <a:stretch/>
        </p:blipFill>
        <p:spPr>
          <a:xfrm>
            <a:off x="8614562" y="3960266"/>
            <a:ext cx="114300" cy="133502"/>
          </a:xfrm>
          <a:prstGeom prst="rect">
            <a:avLst/>
          </a:prstGeom>
        </p:spPr>
      </p:pic>
      <p:pic>
        <p:nvPicPr>
          <p:cNvPr id="59" name="Image 23" descr="preencoded.png">    </p:cNvPr>
          <p:cNvPicPr>
            <a:picLocks noChangeAspect="1"/>
          </p:cNvPicPr>
          <p:nvPr/>
        </p:nvPicPr>
        <p:blipFill>
          <a:blip r:embed="rId24"/>
          <a:srcRect l="0" r="0" t="-1100" b="-1100"/>
          <a:stretch/>
        </p:blipFill>
        <p:spPr>
          <a:xfrm>
            <a:off x="9545422" y="3960266"/>
            <a:ext cx="114300" cy="133502"/>
          </a:xfrm>
          <a:prstGeom prst="rect">
            <a:avLst/>
          </a:prstGeom>
        </p:spPr>
      </p:pic>
      <p:pic>
        <p:nvPicPr>
          <p:cNvPr id="60" name="Image 24" descr="preencoded.png">    </p:cNvPr>
          <p:cNvPicPr>
            <a:picLocks noChangeAspect="1"/>
          </p:cNvPicPr>
          <p:nvPr/>
        </p:nvPicPr>
        <p:blipFill>
          <a:blip r:embed="rId25"/>
          <a:srcRect l="0" r="0" t="-19" b="-19"/>
          <a:stretch/>
        </p:blipFill>
        <p:spPr>
          <a:xfrm>
            <a:off x="6277356" y="4638751"/>
            <a:ext cx="5105095" cy="476402"/>
          </a:xfrm>
          <a:prstGeom prst="rect">
            <a:avLst/>
          </a:prstGeom>
        </p:spPr>
      </p:pic>
      <p:sp>
        <p:nvSpPr>
          <p:cNvPr id="61" name="Text 34"/>
          <p:cNvSpPr txBox="1"/>
          <p:nvPr/>
        </p:nvSpPr>
        <p:spPr>
          <a:xfrm>
            <a:off x="6400800" y="4762195"/>
            <a:ext cx="9912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완료</a:t>
            </a:r>
            <a:endParaRPr lang="en-US" sz="1200" dirty="0"/>
          </a:p>
        </p:txBody>
      </p:sp>
      <p:sp>
        <p:nvSpPr>
          <p:cNvPr id="62" name="Shape 35"/>
          <p:cNvSpPr/>
          <p:nvPr/>
        </p:nvSpPr>
        <p:spPr>
          <a:xfrm>
            <a:off x="7391095" y="4781398"/>
            <a:ext cx="9144" cy="190195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63" name="Text 36"/>
          <p:cNvSpPr txBox="1"/>
          <p:nvPr/>
        </p:nvSpPr>
        <p:spPr>
          <a:xfrm>
            <a:off x="7637983" y="4781398"/>
            <a:ext cx="2439619" cy="1911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약관 동의 </a:t>
            </a:r>
            <a:pPr algn="l" indent="0" marL="0">
              <a:buNone/>
            </a:pPr>
            <a:r>
              <a:rPr lang="en-US" sz="9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최종 제출</a:t>
            </a:r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심사 대기 안내 </a:t>
            </a:r>
            <a:endParaRPr lang="en-US" sz="1000" dirty="0"/>
          </a:p>
        </p:txBody>
      </p:sp>
      <p:pic>
        <p:nvPicPr>
          <p:cNvPr id="64" name="Image 25" descr="preencoded.png">    </p:cNvPr>
          <p:cNvPicPr>
            <a:picLocks noChangeAspect="1"/>
          </p:cNvPicPr>
          <p:nvPr/>
        </p:nvPicPr>
        <p:blipFill>
          <a:blip r:embed="rId26"/>
          <a:srcRect l="0" r="0" t="-1100" b="-1100"/>
          <a:stretch/>
        </p:blipFill>
        <p:spPr>
          <a:xfrm>
            <a:off x="8081467" y="4809744"/>
            <a:ext cx="114300" cy="133502"/>
          </a:xfrm>
          <a:prstGeom prst="rect">
            <a:avLst/>
          </a:prstGeom>
        </p:spPr>
      </p:pic>
      <p:sp>
        <p:nvSpPr>
          <p:cNvPr id="65" name="Shape 37"/>
          <p:cNvSpPr/>
          <p:nvPr/>
        </p:nvSpPr>
        <p:spPr>
          <a:xfrm>
            <a:off x="8271662" y="4781398"/>
            <a:ext cx="609905" cy="190195"/>
          </a:xfrm>
          <a:prstGeom prst="roundRect">
            <a:avLst>
              <a:gd name="adj" fmla="val 96154"/>
            </a:avLst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6" name="Text 38"/>
          <p:cNvSpPr txBox="1"/>
          <p:nvPr/>
        </p:nvSpPr>
        <p:spPr>
          <a:xfrm>
            <a:off x="8271662" y="4781398"/>
            <a:ext cx="685800" cy="1911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최종 제출</a:t>
            </a:r>
            <a:endParaRPr lang="en-US" sz="900" dirty="0"/>
          </a:p>
        </p:txBody>
      </p:sp>
      <p:pic>
        <p:nvPicPr>
          <p:cNvPr id="67" name="Image 26" descr="preencoded.png">    </p:cNvPr>
          <p:cNvPicPr>
            <a:picLocks noChangeAspect="1"/>
          </p:cNvPicPr>
          <p:nvPr/>
        </p:nvPicPr>
        <p:blipFill>
          <a:blip r:embed="rId27"/>
          <a:srcRect l="0" r="0" t="-1100" b="-1100"/>
          <a:stretch/>
        </p:blipFill>
        <p:spPr>
          <a:xfrm>
            <a:off x="8915400" y="4809744"/>
            <a:ext cx="114300" cy="133502"/>
          </a:xfrm>
          <a:prstGeom prst="rect">
            <a:avLst/>
          </a:prstGeom>
        </p:spPr>
      </p:pic>
      <p:sp>
        <p:nvSpPr>
          <p:cNvPr id="68" name="Text 39"/>
          <p:cNvSpPr txBox="1"/>
          <p:nvPr/>
        </p:nvSpPr>
        <p:spPr>
          <a:xfrm>
            <a:off x="6124651" y="6096305"/>
            <a:ext cx="5334610" cy="629107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Reference Flow</a:t>
            </a:r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https://www.genspark.ai/api/files/s/cqbt3DOz... </a:t>
            </a:r>
            <a:endParaRPr lang="en-US" sz="900" dirty="0"/>
          </a:p>
        </p:txBody>
      </p:sp>
      <p:sp>
        <p:nvSpPr>
          <p:cNvPr id="69" name="Text 40"/>
          <p:cNvSpPr txBox="1"/>
          <p:nvPr/>
        </p:nvSpPr>
        <p:spPr>
          <a:xfrm>
            <a:off x="6124651" y="6219749"/>
            <a:ext cx="524865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Reference Flow</a:t>
            </a:r>
            <a:endParaRPr lang="en-US" sz="900" dirty="0"/>
          </a:p>
        </p:txBody>
      </p:sp>
      <p:pic>
        <p:nvPicPr>
          <p:cNvPr id="70" name="Image 27" descr="preencoded.png">    </p:cNvPr>
          <p:cNvPicPr>
            <a:picLocks noChangeAspect="1"/>
          </p:cNvPicPr>
          <p:nvPr/>
        </p:nvPicPr>
        <p:blipFill>
          <a:blip r:embed="rId28"/>
          <a:srcRect l="0" r="0" t="-80" b="-80"/>
          <a:stretch/>
        </p:blipFill>
        <p:spPr>
          <a:xfrm>
            <a:off x="5943600" y="6253582"/>
            <a:ext cx="142646" cy="114300"/>
          </a:xfrm>
          <a:prstGeom prst="rect">
            <a:avLst/>
          </a:prstGeom>
        </p:spPr>
      </p:pic>
      <p:sp>
        <p:nvSpPr>
          <p:cNvPr id="71" name="Shape 41"/>
          <p:cNvSpPr/>
          <p:nvPr/>
        </p:nvSpPr>
        <p:spPr>
          <a:xfrm>
            <a:off x="0" y="7343546"/>
            <a:ext cx="12191695" cy="18105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2" name="Shape 42"/>
          <p:cNvSpPr/>
          <p:nvPr/>
        </p:nvSpPr>
        <p:spPr>
          <a:xfrm>
            <a:off x="0" y="7343546"/>
            <a:ext cx="12191695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73" name="Text 43"/>
          <p:cNvSpPr txBox="1"/>
          <p:nvPr/>
        </p:nvSpPr>
        <p:spPr>
          <a:xfrm>
            <a:off x="571500" y="7353605"/>
            <a:ext cx="191658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B2B 파트너 입점 화면설계서 v0.9</a:t>
            </a:r>
            <a:endParaRPr lang="en-US" sz="900" dirty="0"/>
          </a:p>
        </p:txBody>
      </p:sp>
      <p:sp>
        <p:nvSpPr>
          <p:cNvPr id="74" name="Text 44"/>
          <p:cNvSpPr txBox="1"/>
          <p:nvPr/>
        </p:nvSpPr>
        <p:spPr>
          <a:xfrm>
            <a:off x="11205058" y="7353605"/>
            <a:ext cx="49743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Page 03</a:t>
            </a:r>
            <a:endParaRPr lang="en-US" sz="900" dirty="0"/>
          </a:p>
        </p:txBody>
      </p:sp>
      <p:sp>
        <p:nvSpPr>
          <p:cNvPr id="75" name="Shape 45"/>
          <p:cNvSpPr/>
          <p:nvPr/>
        </p:nvSpPr>
        <p:spPr>
          <a:xfrm>
            <a:off x="0" y="0"/>
            <a:ext cx="12191695" cy="5806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6" name="Shape 46"/>
          <p:cNvSpPr/>
          <p:nvPr/>
        </p:nvSpPr>
        <p:spPr>
          <a:xfrm>
            <a:off x="0" y="571500"/>
            <a:ext cx="12191695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pic>
        <p:nvPicPr>
          <p:cNvPr id="77" name="Image 28" descr="preencoded.png">    </p:cNvPr>
          <p:cNvPicPr>
            <a:picLocks noChangeAspect="1"/>
          </p:cNvPicPr>
          <p:nvPr/>
        </p:nvPicPr>
        <p:blipFill>
          <a:blip r:embed="rId29"/>
          <a:srcRect l="-360" r="-360" t="0" b="0"/>
          <a:stretch/>
        </p:blipFill>
        <p:spPr>
          <a:xfrm>
            <a:off x="571500" y="95098"/>
            <a:ext cx="57607" cy="381305"/>
          </a:xfrm>
          <a:prstGeom prst="rect">
            <a:avLst/>
          </a:prstGeom>
        </p:spPr>
      </p:pic>
      <p:sp>
        <p:nvSpPr>
          <p:cNvPr id="78" name="Text 47"/>
          <p:cNvSpPr txBox="1"/>
          <p:nvPr/>
        </p:nvSpPr>
        <p:spPr>
          <a:xfrm>
            <a:off x="819302" y="0"/>
            <a:ext cx="311993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IA / Flow Summary</a:t>
            </a:r>
            <a:endParaRPr lang="en-US" sz="2200" dirty="0"/>
          </a:p>
        </p:txBody>
      </p:sp>
      <p:sp>
        <p:nvSpPr>
          <p:cNvPr id="79" name="Text 48"/>
          <p:cNvSpPr txBox="1"/>
          <p:nvPr/>
        </p:nvSpPr>
        <p:spPr>
          <a:xfrm>
            <a:off x="819302" y="381305"/>
            <a:ext cx="287670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서비스 프로세스 흐름도 및 구조 요약</a:t>
            </a:r>
            <a:endParaRPr lang="en-US" sz="1000" dirty="0"/>
          </a:p>
        </p:txBody>
      </p:sp>
      <p:sp>
        <p:nvSpPr>
          <p:cNvPr id="80" name="Shape 49"/>
          <p:cNvSpPr/>
          <p:nvPr/>
        </p:nvSpPr>
        <p:spPr>
          <a:xfrm>
            <a:off x="5820156" y="1962302"/>
            <a:ext cx="304495" cy="304495"/>
          </a:xfrm>
          <a:prstGeom prst="ellipse">
            <a:avLst/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1" name="Text 50"/>
          <p:cNvSpPr txBox="1"/>
          <p:nvPr/>
        </p:nvSpPr>
        <p:spPr>
          <a:xfrm>
            <a:off x="5790895" y="1962302"/>
            <a:ext cx="362102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000" dirty="0"/>
          </a:p>
        </p:txBody>
      </p:sp>
      <p:sp>
        <p:nvSpPr>
          <p:cNvPr id="82" name="Shape 51"/>
          <p:cNvSpPr/>
          <p:nvPr/>
        </p:nvSpPr>
        <p:spPr>
          <a:xfrm>
            <a:off x="5820156" y="2915107"/>
            <a:ext cx="304495" cy="304495"/>
          </a:xfrm>
          <a:prstGeom prst="ellipse">
            <a:avLst/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3" name="Text 52"/>
          <p:cNvSpPr txBox="1"/>
          <p:nvPr/>
        </p:nvSpPr>
        <p:spPr>
          <a:xfrm>
            <a:off x="5790895" y="2915107"/>
            <a:ext cx="362102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000" dirty="0"/>
          </a:p>
        </p:txBody>
      </p:sp>
      <p:sp>
        <p:nvSpPr>
          <p:cNvPr id="84" name="Shape 53"/>
          <p:cNvSpPr/>
          <p:nvPr/>
        </p:nvSpPr>
        <p:spPr>
          <a:xfrm>
            <a:off x="5820156" y="3866998"/>
            <a:ext cx="304495" cy="304495"/>
          </a:xfrm>
          <a:prstGeom prst="ellipse">
            <a:avLst/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5" name="Text 54"/>
          <p:cNvSpPr txBox="1"/>
          <p:nvPr/>
        </p:nvSpPr>
        <p:spPr>
          <a:xfrm>
            <a:off x="5790895" y="3866998"/>
            <a:ext cx="362102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000" dirty="0"/>
          </a:p>
        </p:txBody>
      </p:sp>
      <p:sp>
        <p:nvSpPr>
          <p:cNvPr id="86" name="Shape 55"/>
          <p:cNvSpPr/>
          <p:nvPr/>
        </p:nvSpPr>
        <p:spPr>
          <a:xfrm>
            <a:off x="5820156" y="4724705"/>
            <a:ext cx="304495" cy="304495"/>
          </a:xfrm>
          <a:prstGeom prst="ellipse">
            <a:avLst/>
          </a:prstGeom>
          <a:solidFill>
            <a:srgbClr val="1E40A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87" name="Image 29" descr="preencoded.png">    </p:cNvPr>
          <p:cNvPicPr>
            <a:picLocks noChangeAspect="1"/>
          </p:cNvPicPr>
          <p:nvPr/>
        </p:nvPicPr>
        <p:blipFill>
          <a:blip r:embed="rId30"/>
          <a:srcRect l="0" r="0" t="-1100" b="-1100"/>
          <a:stretch/>
        </p:blipFill>
        <p:spPr>
          <a:xfrm>
            <a:off x="5915254" y="4809744"/>
            <a:ext cx="114300" cy="13350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80644"/>
            <a:ext cx="12191695" cy="7058254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71500" y="961949"/>
            <a:ext cx="3047695" cy="6295644"/>
          </a:xfrm>
          <a:prstGeom prst="roundRect">
            <a:avLst>
              <a:gd name="adj" fmla="val 1125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57707" y="1248156"/>
            <a:ext cx="257586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ID 규칙 정의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57707" y="1591056"/>
            <a:ext cx="255300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화면 ID는 카테고리(영문)와 순번(숫자)으로 조합하여 고유하게 식별합니다.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57707" y="2367382"/>
            <a:ext cx="24761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57707" y="2529230"/>
            <a:ext cx="26673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카테고리 구분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57707" y="2833726"/>
            <a:ext cx="304495" cy="228600"/>
          </a:xfrm>
          <a:prstGeom prst="roundRect">
            <a:avLst>
              <a:gd name="adj" fmla="val 66667"/>
            </a:avLst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8446" y="2833726"/>
            <a:ext cx="362102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276502" y="2852928"/>
            <a:ext cx="136062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Login (로그인/계정)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57707" y="3138221"/>
            <a:ext cx="304495" cy="228600"/>
          </a:xfrm>
          <a:prstGeom prst="roundRect">
            <a:avLst>
              <a:gd name="adj" fmla="val 66667"/>
            </a:avLst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8446" y="3138221"/>
            <a:ext cx="362102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1276502" y="3157423"/>
            <a:ext cx="20409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Sign Up Step (회원가입 단계)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57707" y="3443630"/>
            <a:ext cx="304495" cy="228600"/>
          </a:xfrm>
          <a:prstGeom prst="roundRect">
            <a:avLst>
              <a:gd name="adj" fmla="val 66667"/>
            </a:avLst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8446" y="3443630"/>
            <a:ext cx="362102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276502" y="3461918"/>
            <a:ext cx="127650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Popup (팝업/모달)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57707" y="6007608"/>
            <a:ext cx="24761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57707" y="6169457"/>
            <a:ext cx="26673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설계 현황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857707" y="6455664"/>
            <a:ext cx="61539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총 화면 수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2757830" y="6436462"/>
            <a:ext cx="6848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12 Pages</a:t>
            </a:r>
            <a:endParaRPr lang="en-US" sz="1000" dirty="0"/>
          </a:p>
        </p:txBody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rcRect l="-195" r="-195" t="0" b="0"/>
          <a:stretch/>
        </p:blipFill>
        <p:spPr>
          <a:xfrm>
            <a:off x="857707" y="6665062"/>
            <a:ext cx="2476195" cy="75895"/>
          </a:xfrm>
          <a:prstGeom prst="rect">
            <a:avLst/>
          </a:prstGeom>
        </p:spPr>
      </p:pic>
      <p:sp>
        <p:nvSpPr>
          <p:cNvPr id="24" name="Text 21"/>
          <p:cNvSpPr txBox="1"/>
          <p:nvPr/>
        </p:nvSpPr>
        <p:spPr>
          <a:xfrm>
            <a:off x="758038" y="6817766"/>
            <a:ext cx="257586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진척률 100%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4000500" y="961949"/>
            <a:ext cx="3715207" cy="3057754"/>
          </a:xfrm>
          <a:prstGeom prst="roundRect">
            <a:avLst>
              <a:gd name="adj" fmla="val 111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238244" y="1524305"/>
            <a:ext cx="3238805" cy="9144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>
                <a:alpha val="0"/>
              </a:srgbClr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4238244" y="1162202"/>
            <a:ext cx="267005" cy="267005"/>
          </a:xfrm>
          <a:prstGeom prst="roundRect">
            <a:avLst>
              <a:gd name="adj" fmla="val 73385"/>
            </a:avLst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8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04995" y="1228954"/>
            <a:ext cx="133502" cy="133502"/>
          </a:xfrm>
          <a:prstGeom prst="rect">
            <a:avLst/>
          </a:prstGeom>
        </p:spPr>
      </p:pic>
      <p:sp>
        <p:nvSpPr>
          <p:cNvPr id="29" name="Text 25"/>
          <p:cNvSpPr txBox="1"/>
          <p:nvPr/>
        </p:nvSpPr>
        <p:spPr>
          <a:xfrm>
            <a:off x="4600346" y="1181405"/>
            <a:ext cx="117134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로그인 및 계정</a:t>
            </a:r>
            <a:endParaRPr lang="en-US" sz="1200" dirty="0"/>
          </a:p>
        </p:txBody>
      </p:sp>
      <p:sp>
        <p:nvSpPr>
          <p:cNvPr id="30" name="Shape 26"/>
          <p:cNvSpPr/>
          <p:nvPr/>
        </p:nvSpPr>
        <p:spPr>
          <a:xfrm>
            <a:off x="4238244" y="2171700"/>
            <a:ext cx="3238805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4238244" y="1733702"/>
            <a:ext cx="381305" cy="209398"/>
          </a:xfrm>
          <a:prstGeom prst="roundRect">
            <a:avLst>
              <a:gd name="adj" fmla="val 79396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28"/>
          <p:cNvSpPr txBox="1"/>
          <p:nvPr/>
        </p:nvSpPr>
        <p:spPr>
          <a:xfrm>
            <a:off x="4200754" y="1733702"/>
            <a:ext cx="457200" cy="2103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L-01</a:t>
            </a:r>
            <a:endParaRPr lang="en-US" sz="900" dirty="0"/>
          </a:p>
        </p:txBody>
      </p:sp>
      <p:sp>
        <p:nvSpPr>
          <p:cNvPr id="33" name="Text 29"/>
          <p:cNvSpPr txBox="1"/>
          <p:nvPr/>
        </p:nvSpPr>
        <p:spPr>
          <a:xfrm>
            <a:off x="4714646" y="1723644"/>
            <a:ext cx="295351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파트너 로그인</a:t>
            </a:r>
            <a:endParaRPr lang="en-US" sz="1000" dirty="0"/>
          </a:p>
        </p:txBody>
      </p:sp>
      <p:sp>
        <p:nvSpPr>
          <p:cNvPr id="34" name="Text 30"/>
          <p:cNvSpPr txBox="1"/>
          <p:nvPr/>
        </p:nvSpPr>
        <p:spPr>
          <a:xfrm>
            <a:off x="4714646" y="1943100"/>
            <a:ext cx="295351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이메일/비밀번호 인증 및 계정 상태 확인 트리거</a:t>
            </a:r>
            <a:endParaRPr lang="en-US" sz="900" dirty="0"/>
          </a:p>
        </p:txBody>
      </p:sp>
      <p:sp>
        <p:nvSpPr>
          <p:cNvPr id="35" name="Shape 31"/>
          <p:cNvSpPr/>
          <p:nvPr/>
        </p:nvSpPr>
        <p:spPr>
          <a:xfrm>
            <a:off x="4238244" y="2282342"/>
            <a:ext cx="381305" cy="209398"/>
          </a:xfrm>
          <a:prstGeom prst="roundRect">
            <a:avLst>
              <a:gd name="adj" fmla="val 79396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Text 32"/>
          <p:cNvSpPr txBox="1"/>
          <p:nvPr/>
        </p:nvSpPr>
        <p:spPr>
          <a:xfrm>
            <a:off x="4200754" y="2282342"/>
            <a:ext cx="457200" cy="2103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L-02</a:t>
            </a:r>
            <a:endParaRPr lang="en-US" sz="900" dirty="0"/>
          </a:p>
        </p:txBody>
      </p:sp>
      <p:sp>
        <p:nvSpPr>
          <p:cNvPr id="37" name="Text 33"/>
          <p:cNvSpPr txBox="1"/>
          <p:nvPr/>
        </p:nvSpPr>
        <p:spPr>
          <a:xfrm>
            <a:off x="4714646" y="2272284"/>
            <a:ext cx="295351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계정 상태 팝업</a:t>
            </a:r>
            <a:endParaRPr lang="en-US" sz="1000" dirty="0"/>
          </a:p>
        </p:txBody>
      </p:sp>
      <p:sp>
        <p:nvSpPr>
          <p:cNvPr id="38" name="Text 34"/>
          <p:cNvSpPr txBox="1"/>
          <p:nvPr/>
        </p:nvSpPr>
        <p:spPr>
          <a:xfrm>
            <a:off x="4714646" y="2491740"/>
            <a:ext cx="335950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심사중(대기) 또는 반려(거절) 상태 시 노출되는 안내 모달</a:t>
            </a:r>
            <a:endParaRPr lang="en-US" sz="900" dirty="0"/>
          </a:p>
        </p:txBody>
      </p:sp>
      <p:sp>
        <p:nvSpPr>
          <p:cNvPr id="39" name="Shape 35"/>
          <p:cNvSpPr/>
          <p:nvPr/>
        </p:nvSpPr>
        <p:spPr>
          <a:xfrm>
            <a:off x="7905902" y="961949"/>
            <a:ext cx="3715207" cy="3057754"/>
          </a:xfrm>
          <a:prstGeom prst="roundRect">
            <a:avLst>
              <a:gd name="adj" fmla="val 111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Shape 36"/>
          <p:cNvSpPr/>
          <p:nvPr/>
        </p:nvSpPr>
        <p:spPr>
          <a:xfrm>
            <a:off x="8143646" y="1524305"/>
            <a:ext cx="3238805" cy="9144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>
                <a:alpha val="0"/>
              </a:srgbClr>
            </a:solidFill>
            <a:prstDash val="solid"/>
          </a:ln>
        </p:spPr>
      </p:sp>
      <p:sp>
        <p:nvSpPr>
          <p:cNvPr id="41" name="Shape 37"/>
          <p:cNvSpPr/>
          <p:nvPr/>
        </p:nvSpPr>
        <p:spPr>
          <a:xfrm>
            <a:off x="8143646" y="1162202"/>
            <a:ext cx="267005" cy="267005"/>
          </a:xfrm>
          <a:prstGeom prst="roundRect">
            <a:avLst>
              <a:gd name="adj" fmla="val 73385"/>
            </a:avLst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2" name="Image 2" descr="preencoded.png">    </p:cNvPr>
          <p:cNvPicPr>
            <a:picLocks noChangeAspect="1"/>
          </p:cNvPicPr>
          <p:nvPr/>
        </p:nvPicPr>
        <p:blipFill>
          <a:blip r:embed="rId3"/>
          <a:srcRect l="-1507" r="-1507" t="0" b="0"/>
          <a:stretch/>
        </p:blipFill>
        <p:spPr>
          <a:xfrm>
            <a:off x="8191195" y="1228954"/>
            <a:ext cx="171907" cy="133502"/>
          </a:xfrm>
          <a:prstGeom prst="rect">
            <a:avLst/>
          </a:prstGeom>
        </p:spPr>
      </p:pic>
      <p:sp>
        <p:nvSpPr>
          <p:cNvPr id="43" name="Text 38"/>
          <p:cNvSpPr txBox="1"/>
          <p:nvPr/>
        </p:nvSpPr>
        <p:spPr>
          <a:xfrm>
            <a:off x="8505749" y="1181405"/>
            <a:ext cx="169346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회원가입 (기본 정보)</a:t>
            </a:r>
            <a:endParaRPr lang="en-US" sz="1200" dirty="0"/>
          </a:p>
        </p:txBody>
      </p:sp>
      <p:sp>
        <p:nvSpPr>
          <p:cNvPr id="44" name="Shape 39"/>
          <p:cNvSpPr/>
          <p:nvPr/>
        </p:nvSpPr>
        <p:spPr>
          <a:xfrm>
            <a:off x="8143646" y="2171700"/>
            <a:ext cx="3238805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45" name="Shape 40"/>
          <p:cNvSpPr/>
          <p:nvPr/>
        </p:nvSpPr>
        <p:spPr>
          <a:xfrm>
            <a:off x="8143646" y="1733702"/>
            <a:ext cx="381305" cy="209398"/>
          </a:xfrm>
          <a:prstGeom prst="roundRect">
            <a:avLst>
              <a:gd name="adj" fmla="val 79396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6" name="Text 41"/>
          <p:cNvSpPr txBox="1"/>
          <p:nvPr/>
        </p:nvSpPr>
        <p:spPr>
          <a:xfrm>
            <a:off x="8106156" y="1733702"/>
            <a:ext cx="457200" cy="2103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S-01</a:t>
            </a:r>
            <a:endParaRPr lang="en-US" sz="900" dirty="0"/>
          </a:p>
        </p:txBody>
      </p:sp>
      <p:sp>
        <p:nvSpPr>
          <p:cNvPr id="47" name="Text 42"/>
          <p:cNvSpPr txBox="1"/>
          <p:nvPr/>
        </p:nvSpPr>
        <p:spPr>
          <a:xfrm>
            <a:off x="8620049" y="1723644"/>
            <a:ext cx="295351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가입 시작 / 계정 생성</a:t>
            </a:r>
            <a:endParaRPr lang="en-US" sz="1000" dirty="0"/>
          </a:p>
        </p:txBody>
      </p:sp>
      <p:sp>
        <p:nvSpPr>
          <p:cNvPr id="48" name="Text 43"/>
          <p:cNvSpPr txBox="1"/>
          <p:nvPr/>
        </p:nvSpPr>
        <p:spPr>
          <a:xfrm>
            <a:off x="8620049" y="1943100"/>
            <a:ext cx="295351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이메일(ID) 중복 확인 및 비밀번호 설정</a:t>
            </a:r>
            <a:endParaRPr lang="en-US" sz="900" dirty="0"/>
          </a:p>
        </p:txBody>
      </p:sp>
      <p:sp>
        <p:nvSpPr>
          <p:cNvPr id="49" name="Shape 44"/>
          <p:cNvSpPr/>
          <p:nvPr/>
        </p:nvSpPr>
        <p:spPr>
          <a:xfrm>
            <a:off x="8143646" y="2720340"/>
            <a:ext cx="3238805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50" name="Shape 45"/>
          <p:cNvSpPr/>
          <p:nvPr/>
        </p:nvSpPr>
        <p:spPr>
          <a:xfrm>
            <a:off x="8143646" y="2282342"/>
            <a:ext cx="390449" cy="209398"/>
          </a:xfrm>
          <a:prstGeom prst="roundRect">
            <a:avLst>
              <a:gd name="adj" fmla="val 79396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1" name="Text 46"/>
          <p:cNvSpPr txBox="1"/>
          <p:nvPr/>
        </p:nvSpPr>
        <p:spPr>
          <a:xfrm>
            <a:off x="8106156" y="2282342"/>
            <a:ext cx="467258" cy="2103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S-02</a:t>
            </a:r>
            <a:endParaRPr lang="en-US" sz="900" dirty="0"/>
          </a:p>
        </p:txBody>
      </p:sp>
      <p:sp>
        <p:nvSpPr>
          <p:cNvPr id="52" name="Text 47"/>
          <p:cNvSpPr txBox="1"/>
          <p:nvPr/>
        </p:nvSpPr>
        <p:spPr>
          <a:xfrm>
            <a:off x="8627364" y="2272284"/>
            <a:ext cx="295351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회사 기본정보</a:t>
            </a:r>
            <a:endParaRPr lang="en-US" sz="1000" dirty="0"/>
          </a:p>
        </p:txBody>
      </p:sp>
      <p:sp>
        <p:nvSpPr>
          <p:cNvPr id="53" name="Text 48"/>
          <p:cNvSpPr txBox="1"/>
          <p:nvPr/>
        </p:nvSpPr>
        <p:spPr>
          <a:xfrm>
            <a:off x="8627364" y="2491740"/>
            <a:ext cx="295351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회사명, 대표전화, 주소 등 기본 식별 정보 입력</a:t>
            </a:r>
            <a:endParaRPr lang="en-US" sz="900" dirty="0"/>
          </a:p>
        </p:txBody>
      </p:sp>
      <p:sp>
        <p:nvSpPr>
          <p:cNvPr id="54" name="Shape 49"/>
          <p:cNvSpPr/>
          <p:nvPr/>
        </p:nvSpPr>
        <p:spPr>
          <a:xfrm>
            <a:off x="8143646" y="3268980"/>
            <a:ext cx="3238805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55" name="Shape 50"/>
          <p:cNvSpPr/>
          <p:nvPr/>
        </p:nvSpPr>
        <p:spPr>
          <a:xfrm>
            <a:off x="8143646" y="2830982"/>
            <a:ext cx="390449" cy="209398"/>
          </a:xfrm>
          <a:prstGeom prst="roundRect">
            <a:avLst>
              <a:gd name="adj" fmla="val 79396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6" name="Text 51"/>
          <p:cNvSpPr txBox="1"/>
          <p:nvPr/>
        </p:nvSpPr>
        <p:spPr>
          <a:xfrm>
            <a:off x="8106156" y="2830982"/>
            <a:ext cx="467258" cy="2103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S-03</a:t>
            </a:r>
            <a:endParaRPr lang="en-US" sz="900" dirty="0"/>
          </a:p>
        </p:txBody>
      </p:sp>
      <p:sp>
        <p:nvSpPr>
          <p:cNvPr id="57" name="Text 52"/>
          <p:cNvSpPr txBox="1"/>
          <p:nvPr/>
        </p:nvSpPr>
        <p:spPr>
          <a:xfrm>
            <a:off x="8629193" y="2820924"/>
            <a:ext cx="295351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사업자 정보</a:t>
            </a:r>
            <a:endParaRPr lang="en-US" sz="1000" dirty="0"/>
          </a:p>
        </p:txBody>
      </p:sp>
      <p:sp>
        <p:nvSpPr>
          <p:cNvPr id="58" name="Text 53"/>
          <p:cNvSpPr txBox="1"/>
          <p:nvPr/>
        </p:nvSpPr>
        <p:spPr>
          <a:xfrm>
            <a:off x="8629193" y="3040380"/>
            <a:ext cx="295351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사업자등록번호(진위확인), 법인번호 입력 (선택)</a:t>
            </a:r>
            <a:endParaRPr lang="en-US" sz="900" dirty="0"/>
          </a:p>
        </p:txBody>
      </p:sp>
      <p:sp>
        <p:nvSpPr>
          <p:cNvPr id="59" name="Shape 54"/>
          <p:cNvSpPr/>
          <p:nvPr/>
        </p:nvSpPr>
        <p:spPr>
          <a:xfrm>
            <a:off x="8143646" y="3379622"/>
            <a:ext cx="400507" cy="209398"/>
          </a:xfrm>
          <a:prstGeom prst="roundRect">
            <a:avLst>
              <a:gd name="adj" fmla="val 79396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0" name="Text 55"/>
          <p:cNvSpPr txBox="1"/>
          <p:nvPr/>
        </p:nvSpPr>
        <p:spPr>
          <a:xfrm>
            <a:off x="8106156" y="3379622"/>
            <a:ext cx="476402" cy="2103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S-04</a:t>
            </a:r>
            <a:endParaRPr lang="en-US" sz="900" dirty="0"/>
          </a:p>
        </p:txBody>
      </p:sp>
      <p:sp>
        <p:nvSpPr>
          <p:cNvPr id="61" name="Text 56"/>
          <p:cNvSpPr txBox="1"/>
          <p:nvPr/>
        </p:nvSpPr>
        <p:spPr>
          <a:xfrm>
            <a:off x="8632850" y="3369564"/>
            <a:ext cx="294345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대표자 정보</a:t>
            </a:r>
            <a:endParaRPr lang="en-US" sz="1000" dirty="0"/>
          </a:p>
        </p:txBody>
      </p:sp>
      <p:sp>
        <p:nvSpPr>
          <p:cNvPr id="62" name="Text 57"/>
          <p:cNvSpPr txBox="1"/>
          <p:nvPr/>
        </p:nvSpPr>
        <p:spPr>
          <a:xfrm>
            <a:off x="8632850" y="3589020"/>
            <a:ext cx="294345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대표자명, 연락처 등 법적 책임자 정보</a:t>
            </a:r>
            <a:endParaRPr lang="en-US" sz="900" dirty="0"/>
          </a:p>
        </p:txBody>
      </p:sp>
      <p:sp>
        <p:nvSpPr>
          <p:cNvPr id="63" name="Shape 58"/>
          <p:cNvSpPr/>
          <p:nvPr/>
        </p:nvSpPr>
        <p:spPr>
          <a:xfrm>
            <a:off x="4000500" y="4204411"/>
            <a:ext cx="3715207" cy="3057754"/>
          </a:xfrm>
          <a:prstGeom prst="roundRect">
            <a:avLst>
              <a:gd name="adj" fmla="val 111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4" name="Shape 59"/>
          <p:cNvSpPr/>
          <p:nvPr/>
        </p:nvSpPr>
        <p:spPr>
          <a:xfrm>
            <a:off x="4238244" y="4765853"/>
            <a:ext cx="3238805" cy="9144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>
                <a:alpha val="0"/>
              </a:srgbClr>
            </a:solidFill>
            <a:prstDash val="solid"/>
          </a:ln>
        </p:spPr>
      </p:sp>
      <p:sp>
        <p:nvSpPr>
          <p:cNvPr id="65" name="Shape 60"/>
          <p:cNvSpPr/>
          <p:nvPr/>
        </p:nvSpPr>
        <p:spPr>
          <a:xfrm>
            <a:off x="4238244" y="4403750"/>
            <a:ext cx="267005" cy="267005"/>
          </a:xfrm>
          <a:prstGeom prst="roundRect">
            <a:avLst>
              <a:gd name="adj" fmla="val 73385"/>
            </a:avLst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66" name="Image 3" descr="preencoded.png">    </p:cNvPr>
          <p:cNvPicPr>
            <a:picLocks noChangeAspect="1"/>
          </p:cNvPicPr>
          <p:nvPr/>
        </p:nvPicPr>
        <p:blipFill>
          <a:blip r:embed="rId4"/>
          <a:srcRect l="-2512" r="-2512" t="0" b="0"/>
          <a:stretch/>
        </p:blipFill>
        <p:spPr>
          <a:xfrm>
            <a:off x="4319626" y="4470502"/>
            <a:ext cx="105156" cy="133502"/>
          </a:xfrm>
          <a:prstGeom prst="rect">
            <a:avLst/>
          </a:prstGeom>
        </p:spPr>
      </p:pic>
      <p:sp>
        <p:nvSpPr>
          <p:cNvPr id="67" name="Text 61"/>
          <p:cNvSpPr txBox="1"/>
          <p:nvPr/>
        </p:nvSpPr>
        <p:spPr>
          <a:xfrm>
            <a:off x="4600346" y="4422953"/>
            <a:ext cx="169529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회원가입 (상세/서류)</a:t>
            </a:r>
            <a:endParaRPr lang="en-US" sz="1200" dirty="0"/>
          </a:p>
        </p:txBody>
      </p:sp>
      <p:sp>
        <p:nvSpPr>
          <p:cNvPr id="68" name="Shape 62"/>
          <p:cNvSpPr/>
          <p:nvPr/>
        </p:nvSpPr>
        <p:spPr>
          <a:xfrm>
            <a:off x="4238244" y="5414162"/>
            <a:ext cx="3238805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69" name="Shape 63"/>
          <p:cNvSpPr/>
          <p:nvPr/>
        </p:nvSpPr>
        <p:spPr>
          <a:xfrm>
            <a:off x="4238244" y="4975250"/>
            <a:ext cx="390449" cy="209398"/>
          </a:xfrm>
          <a:prstGeom prst="roundRect">
            <a:avLst>
              <a:gd name="adj" fmla="val 79396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0" name="Text 64"/>
          <p:cNvSpPr txBox="1"/>
          <p:nvPr/>
        </p:nvSpPr>
        <p:spPr>
          <a:xfrm>
            <a:off x="4200754" y="4975250"/>
            <a:ext cx="467258" cy="2103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S-05</a:t>
            </a:r>
            <a:endParaRPr lang="en-US" sz="900" dirty="0"/>
          </a:p>
        </p:txBody>
      </p:sp>
      <p:sp>
        <p:nvSpPr>
          <p:cNvPr id="71" name="Text 65"/>
          <p:cNvSpPr txBox="1"/>
          <p:nvPr/>
        </p:nvSpPr>
        <p:spPr>
          <a:xfrm>
            <a:off x="4721047" y="4966106"/>
            <a:ext cx="295351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담당자 정보</a:t>
            </a:r>
            <a:endParaRPr lang="en-US" sz="1000" dirty="0"/>
          </a:p>
        </p:txBody>
      </p:sp>
      <p:sp>
        <p:nvSpPr>
          <p:cNvPr id="72" name="Text 66"/>
          <p:cNvSpPr txBox="1"/>
          <p:nvPr/>
        </p:nvSpPr>
        <p:spPr>
          <a:xfrm>
            <a:off x="4721047" y="5185562"/>
            <a:ext cx="295351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실무 운영 담당자 연락처 및 부서 정보</a:t>
            </a:r>
            <a:endParaRPr lang="en-US" sz="900" dirty="0"/>
          </a:p>
        </p:txBody>
      </p:sp>
      <p:sp>
        <p:nvSpPr>
          <p:cNvPr id="73" name="Shape 67"/>
          <p:cNvSpPr/>
          <p:nvPr/>
        </p:nvSpPr>
        <p:spPr>
          <a:xfrm>
            <a:off x="4238244" y="5962802"/>
            <a:ext cx="3238805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74" name="Shape 68"/>
          <p:cNvSpPr/>
          <p:nvPr/>
        </p:nvSpPr>
        <p:spPr>
          <a:xfrm>
            <a:off x="4238244" y="5523890"/>
            <a:ext cx="390449" cy="209398"/>
          </a:xfrm>
          <a:prstGeom prst="roundRect">
            <a:avLst>
              <a:gd name="adj" fmla="val 79396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5" name="Text 69"/>
          <p:cNvSpPr txBox="1"/>
          <p:nvPr/>
        </p:nvSpPr>
        <p:spPr>
          <a:xfrm>
            <a:off x="4200754" y="5523890"/>
            <a:ext cx="467258" cy="2103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S-06</a:t>
            </a:r>
            <a:endParaRPr lang="en-US" sz="900" dirty="0"/>
          </a:p>
        </p:txBody>
      </p:sp>
      <p:sp>
        <p:nvSpPr>
          <p:cNvPr id="76" name="Text 70"/>
          <p:cNvSpPr txBox="1"/>
          <p:nvPr/>
        </p:nvSpPr>
        <p:spPr>
          <a:xfrm>
            <a:off x="4724705" y="5514746"/>
            <a:ext cx="295351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서류 업로드</a:t>
            </a:r>
            <a:endParaRPr lang="en-US" sz="1000" dirty="0"/>
          </a:p>
        </p:txBody>
      </p:sp>
      <p:sp>
        <p:nvSpPr>
          <p:cNvPr id="77" name="Text 71"/>
          <p:cNvSpPr txBox="1"/>
          <p:nvPr/>
        </p:nvSpPr>
        <p:spPr>
          <a:xfrm>
            <a:off x="4724705" y="5734202"/>
            <a:ext cx="295351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사업자등록증 및 기타 증빙 서류 파일 제출</a:t>
            </a:r>
            <a:endParaRPr lang="en-US" sz="900" dirty="0"/>
          </a:p>
        </p:txBody>
      </p:sp>
      <p:sp>
        <p:nvSpPr>
          <p:cNvPr id="78" name="Shape 72"/>
          <p:cNvSpPr/>
          <p:nvPr/>
        </p:nvSpPr>
        <p:spPr>
          <a:xfrm>
            <a:off x="4238244" y="6072530"/>
            <a:ext cx="381305" cy="209398"/>
          </a:xfrm>
          <a:prstGeom prst="roundRect">
            <a:avLst>
              <a:gd name="adj" fmla="val 79396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9" name="Text 73"/>
          <p:cNvSpPr txBox="1"/>
          <p:nvPr/>
        </p:nvSpPr>
        <p:spPr>
          <a:xfrm>
            <a:off x="4200754" y="6072530"/>
            <a:ext cx="457200" cy="2103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S-07</a:t>
            </a:r>
            <a:endParaRPr lang="en-US" sz="900" dirty="0"/>
          </a:p>
        </p:txBody>
      </p:sp>
      <p:sp>
        <p:nvSpPr>
          <p:cNvPr id="80" name="Text 74"/>
          <p:cNvSpPr txBox="1"/>
          <p:nvPr/>
        </p:nvSpPr>
        <p:spPr>
          <a:xfrm>
            <a:off x="4714646" y="6063386"/>
            <a:ext cx="295351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업종 선택 및 키워드</a:t>
            </a:r>
            <a:endParaRPr lang="en-US" sz="1000" dirty="0"/>
          </a:p>
        </p:txBody>
      </p:sp>
      <p:sp>
        <p:nvSpPr>
          <p:cNvPr id="81" name="Text 75"/>
          <p:cNvSpPr txBox="1"/>
          <p:nvPr/>
        </p:nvSpPr>
        <p:spPr>
          <a:xfrm>
            <a:off x="4714646" y="6281928"/>
            <a:ext cx="295351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카테고리 선택 및 검색 키워드 태깅</a:t>
            </a:r>
            <a:endParaRPr lang="en-US" sz="900" dirty="0"/>
          </a:p>
        </p:txBody>
      </p:sp>
      <p:sp>
        <p:nvSpPr>
          <p:cNvPr id="82" name="Shape 76"/>
          <p:cNvSpPr/>
          <p:nvPr/>
        </p:nvSpPr>
        <p:spPr>
          <a:xfrm>
            <a:off x="7905902" y="4204411"/>
            <a:ext cx="3715207" cy="3057754"/>
          </a:xfrm>
          <a:prstGeom prst="roundRect">
            <a:avLst>
              <a:gd name="adj" fmla="val 111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3" name="Shape 77"/>
          <p:cNvSpPr/>
          <p:nvPr/>
        </p:nvSpPr>
        <p:spPr>
          <a:xfrm>
            <a:off x="8143646" y="4765853"/>
            <a:ext cx="3238805" cy="9144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>
                <a:alpha val="0"/>
              </a:srgbClr>
            </a:solidFill>
            <a:prstDash val="solid"/>
          </a:ln>
        </p:spPr>
      </p:sp>
      <p:sp>
        <p:nvSpPr>
          <p:cNvPr id="84" name="Shape 78"/>
          <p:cNvSpPr/>
          <p:nvPr/>
        </p:nvSpPr>
        <p:spPr>
          <a:xfrm>
            <a:off x="8143646" y="4403750"/>
            <a:ext cx="267005" cy="267005"/>
          </a:xfrm>
          <a:prstGeom prst="roundRect">
            <a:avLst>
              <a:gd name="adj" fmla="val 73385"/>
            </a:avLst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85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8210398" y="4470502"/>
            <a:ext cx="133502" cy="133502"/>
          </a:xfrm>
          <a:prstGeom prst="rect">
            <a:avLst/>
          </a:prstGeom>
        </p:spPr>
      </p:pic>
      <p:sp>
        <p:nvSpPr>
          <p:cNvPr id="86" name="Text 79"/>
          <p:cNvSpPr txBox="1"/>
          <p:nvPr/>
        </p:nvSpPr>
        <p:spPr>
          <a:xfrm>
            <a:off x="8505749" y="4422953"/>
            <a:ext cx="169529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회원가입 (정책/완료)</a:t>
            </a:r>
            <a:endParaRPr lang="en-US" sz="1200" dirty="0"/>
          </a:p>
        </p:txBody>
      </p:sp>
      <p:sp>
        <p:nvSpPr>
          <p:cNvPr id="87" name="Shape 80"/>
          <p:cNvSpPr/>
          <p:nvPr/>
        </p:nvSpPr>
        <p:spPr>
          <a:xfrm>
            <a:off x="8143646" y="5414162"/>
            <a:ext cx="3238805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88" name="Shape 81"/>
          <p:cNvSpPr/>
          <p:nvPr/>
        </p:nvSpPr>
        <p:spPr>
          <a:xfrm>
            <a:off x="8143646" y="4975250"/>
            <a:ext cx="390449" cy="209398"/>
          </a:xfrm>
          <a:prstGeom prst="roundRect">
            <a:avLst>
              <a:gd name="adj" fmla="val 79396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9" name="Text 82"/>
          <p:cNvSpPr txBox="1"/>
          <p:nvPr/>
        </p:nvSpPr>
        <p:spPr>
          <a:xfrm>
            <a:off x="8106156" y="4975250"/>
            <a:ext cx="467258" cy="2103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S-08</a:t>
            </a:r>
            <a:endParaRPr lang="en-US" sz="900" dirty="0"/>
          </a:p>
        </p:txBody>
      </p:sp>
      <p:sp>
        <p:nvSpPr>
          <p:cNvPr id="90" name="Text 83"/>
          <p:cNvSpPr txBox="1"/>
          <p:nvPr/>
        </p:nvSpPr>
        <p:spPr>
          <a:xfrm>
            <a:off x="8630107" y="4966106"/>
            <a:ext cx="294345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상품 옵션 및 제휴키</a:t>
            </a:r>
            <a:endParaRPr lang="en-US" sz="1000" dirty="0"/>
          </a:p>
        </p:txBody>
      </p:sp>
      <p:sp>
        <p:nvSpPr>
          <p:cNvPr id="91" name="Text 84"/>
          <p:cNvSpPr txBox="1"/>
          <p:nvPr/>
        </p:nvSpPr>
        <p:spPr>
          <a:xfrm>
            <a:off x="8630107" y="5185562"/>
            <a:ext cx="294345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취급 상품 유형, 정산 방식, 연동 키 설정</a:t>
            </a:r>
            <a:endParaRPr lang="en-US" sz="900" dirty="0"/>
          </a:p>
        </p:txBody>
      </p:sp>
      <p:sp>
        <p:nvSpPr>
          <p:cNvPr id="92" name="Shape 85"/>
          <p:cNvSpPr/>
          <p:nvPr/>
        </p:nvSpPr>
        <p:spPr>
          <a:xfrm>
            <a:off x="8143646" y="5962802"/>
            <a:ext cx="3238805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93" name="Shape 86"/>
          <p:cNvSpPr/>
          <p:nvPr/>
        </p:nvSpPr>
        <p:spPr>
          <a:xfrm>
            <a:off x="8143646" y="5523890"/>
            <a:ext cx="390449" cy="209398"/>
          </a:xfrm>
          <a:prstGeom prst="roundRect">
            <a:avLst>
              <a:gd name="adj" fmla="val 79396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4" name="Text 87"/>
          <p:cNvSpPr txBox="1"/>
          <p:nvPr/>
        </p:nvSpPr>
        <p:spPr>
          <a:xfrm>
            <a:off x="8106156" y="5523890"/>
            <a:ext cx="467258" cy="2103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S-09</a:t>
            </a:r>
            <a:endParaRPr lang="en-US" sz="900" dirty="0"/>
          </a:p>
        </p:txBody>
      </p:sp>
      <p:sp>
        <p:nvSpPr>
          <p:cNvPr id="95" name="Text 88"/>
          <p:cNvSpPr txBox="1"/>
          <p:nvPr/>
        </p:nvSpPr>
        <p:spPr>
          <a:xfrm>
            <a:off x="8629193" y="5514746"/>
            <a:ext cx="295351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약관 동의 및 제출</a:t>
            </a:r>
            <a:endParaRPr lang="en-US" sz="1000" dirty="0"/>
          </a:p>
        </p:txBody>
      </p:sp>
      <p:sp>
        <p:nvSpPr>
          <p:cNvPr id="96" name="Text 89"/>
          <p:cNvSpPr txBox="1"/>
          <p:nvPr/>
        </p:nvSpPr>
        <p:spPr>
          <a:xfrm>
            <a:off x="8629193" y="5734202"/>
            <a:ext cx="295351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서비스 이용 약관 동의 및 최종 가입 신청</a:t>
            </a:r>
            <a:endParaRPr lang="en-US" sz="900" dirty="0"/>
          </a:p>
        </p:txBody>
      </p:sp>
      <p:sp>
        <p:nvSpPr>
          <p:cNvPr id="97" name="Shape 90"/>
          <p:cNvSpPr/>
          <p:nvPr/>
        </p:nvSpPr>
        <p:spPr>
          <a:xfrm>
            <a:off x="8143646" y="6072530"/>
            <a:ext cx="381305" cy="209398"/>
          </a:xfrm>
          <a:prstGeom prst="roundRect">
            <a:avLst>
              <a:gd name="adj" fmla="val 79396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8" name="Text 91"/>
          <p:cNvSpPr txBox="1"/>
          <p:nvPr/>
        </p:nvSpPr>
        <p:spPr>
          <a:xfrm>
            <a:off x="8106156" y="6072530"/>
            <a:ext cx="457200" cy="2103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S-10</a:t>
            </a:r>
            <a:endParaRPr lang="en-US" sz="900" dirty="0"/>
          </a:p>
        </p:txBody>
      </p:sp>
      <p:sp>
        <p:nvSpPr>
          <p:cNvPr id="99" name="Text 92"/>
          <p:cNvSpPr txBox="1"/>
          <p:nvPr/>
        </p:nvSpPr>
        <p:spPr>
          <a:xfrm>
            <a:off x="8620049" y="6063386"/>
            <a:ext cx="295351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제출 완료 및 심사 안내</a:t>
            </a:r>
            <a:endParaRPr lang="en-US" sz="1000" dirty="0"/>
          </a:p>
        </p:txBody>
      </p:sp>
      <p:sp>
        <p:nvSpPr>
          <p:cNvPr id="100" name="Text 93"/>
          <p:cNvSpPr txBox="1"/>
          <p:nvPr/>
        </p:nvSpPr>
        <p:spPr>
          <a:xfrm>
            <a:off x="8620049" y="6281928"/>
            <a:ext cx="295351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신청 완료 피드백 및 심사 소요 기간(SLA) 안내</a:t>
            </a:r>
            <a:endParaRPr lang="en-US" sz="900" dirty="0"/>
          </a:p>
        </p:txBody>
      </p:sp>
      <p:sp>
        <p:nvSpPr>
          <p:cNvPr id="101" name="Shape 94"/>
          <p:cNvSpPr/>
          <p:nvPr/>
        </p:nvSpPr>
        <p:spPr>
          <a:xfrm>
            <a:off x="0" y="7637069"/>
            <a:ext cx="12191695" cy="18105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2" name="Shape 95"/>
          <p:cNvSpPr/>
          <p:nvPr/>
        </p:nvSpPr>
        <p:spPr>
          <a:xfrm>
            <a:off x="0" y="7637069"/>
            <a:ext cx="12191695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03" name="Text 96"/>
          <p:cNvSpPr txBox="1"/>
          <p:nvPr/>
        </p:nvSpPr>
        <p:spPr>
          <a:xfrm>
            <a:off x="571500" y="7646213"/>
            <a:ext cx="191658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B2B 파트너 입점 화면설계서 v0.9</a:t>
            </a:r>
            <a:endParaRPr lang="en-US" sz="900" dirty="0"/>
          </a:p>
        </p:txBody>
      </p:sp>
      <p:sp>
        <p:nvSpPr>
          <p:cNvPr id="104" name="Text 97"/>
          <p:cNvSpPr txBox="1"/>
          <p:nvPr/>
        </p:nvSpPr>
        <p:spPr>
          <a:xfrm>
            <a:off x="11205058" y="7646213"/>
            <a:ext cx="49743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Page 04</a:t>
            </a:r>
            <a:endParaRPr lang="en-US" sz="900" dirty="0"/>
          </a:p>
        </p:txBody>
      </p:sp>
      <p:sp>
        <p:nvSpPr>
          <p:cNvPr id="105" name="Shape 98"/>
          <p:cNvSpPr/>
          <p:nvPr/>
        </p:nvSpPr>
        <p:spPr>
          <a:xfrm>
            <a:off x="0" y="0"/>
            <a:ext cx="12191695" cy="5806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6" name="Shape 99"/>
          <p:cNvSpPr/>
          <p:nvPr/>
        </p:nvSpPr>
        <p:spPr>
          <a:xfrm>
            <a:off x="0" y="571500"/>
            <a:ext cx="12191695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pic>
        <p:nvPicPr>
          <p:cNvPr id="107" name="Image 5" descr="preencoded.png">    </p:cNvPr>
          <p:cNvPicPr>
            <a:picLocks noChangeAspect="1"/>
          </p:cNvPicPr>
          <p:nvPr/>
        </p:nvPicPr>
        <p:blipFill>
          <a:blip r:embed="rId6"/>
          <a:srcRect l="-360" r="-360" t="0" b="0"/>
          <a:stretch/>
        </p:blipFill>
        <p:spPr>
          <a:xfrm>
            <a:off x="571500" y="95098"/>
            <a:ext cx="57607" cy="381305"/>
          </a:xfrm>
          <a:prstGeom prst="rect">
            <a:avLst/>
          </a:prstGeom>
        </p:spPr>
      </p:pic>
      <p:sp>
        <p:nvSpPr>
          <p:cNvPr id="108" name="Text 100"/>
          <p:cNvSpPr txBox="1"/>
          <p:nvPr/>
        </p:nvSpPr>
        <p:spPr>
          <a:xfrm>
            <a:off x="819302" y="0"/>
            <a:ext cx="386059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화면 목록 (Screen Index)</a:t>
            </a:r>
            <a:endParaRPr lang="en-US" sz="2200" dirty="0"/>
          </a:p>
        </p:txBody>
      </p:sp>
      <p:sp>
        <p:nvSpPr>
          <p:cNvPr id="109" name="Text 101"/>
          <p:cNvSpPr txBox="1"/>
          <p:nvPr/>
        </p:nvSpPr>
        <p:spPr>
          <a:xfrm>
            <a:off x="819302" y="381305"/>
            <a:ext cx="344820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로그인 및 회원가입 프로세스 전체 화면 정의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286207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277063"/>
            <a:ext cx="12191695" cy="914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1305" y="0"/>
            <a:ext cx="514807" cy="276149"/>
          </a:xfrm>
          <a:prstGeom prst="roundRect">
            <a:avLst>
              <a:gd name="adj" fmla="val 45672"/>
            </a:avLst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81305" y="0"/>
            <a:ext cx="571500" cy="2770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L-01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000354" y="4572"/>
            <a:ext cx="174559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로그인 화면 (Login)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0427818" y="42977"/>
            <a:ext cx="14676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PC Web / 1280px Grid </a:t>
            </a:r>
            <a:endParaRPr lang="en-US" sz="10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rcRect l="-837" r="-837" t="0" b="0"/>
          <a:stretch/>
        </p:blipFill>
        <p:spPr>
          <a:xfrm>
            <a:off x="10199218" y="69494"/>
            <a:ext cx="152705" cy="133502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0" y="286207"/>
            <a:ext cx="12191695" cy="7572146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rcRect l="-2" r="-2" t="0" b="0"/>
          <a:stretch/>
        </p:blipFill>
        <p:spPr>
          <a:xfrm>
            <a:off x="381305" y="571500"/>
            <a:ext cx="5715000" cy="7000646"/>
          </a:xfrm>
          <a:prstGeom prst="rect">
            <a:avLst/>
          </a:prstGeom>
        </p:spPr>
      </p:pic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rcRect l="-3" r="-3" t="0" b="0"/>
          <a:stretch/>
        </p:blipFill>
        <p:spPr>
          <a:xfrm>
            <a:off x="580644" y="771754"/>
            <a:ext cx="5315407" cy="6601054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580644" y="771754"/>
            <a:ext cx="5315407" cy="228600"/>
          </a:xfrm>
          <a:prstGeom prst="roundRect">
            <a:avLst>
              <a:gd name="adj" fmla="val 100000"/>
            </a:avLst>
          </a:prstGeom>
          <a:solidFill>
            <a:srgbClr val="F1F5F9"/>
          </a:solidFill>
          <a:ln/>
        </p:spPr>
      </p:sp>
      <p:sp>
        <p:nvSpPr>
          <p:cNvPr id="15" name="Shape 10"/>
          <p:cNvSpPr/>
          <p:nvPr/>
        </p:nvSpPr>
        <p:spPr>
          <a:xfrm>
            <a:off x="580644" y="991210"/>
            <a:ext cx="5315407" cy="9144"/>
          </a:xfrm>
          <a:prstGeom prst="roundRect">
            <a:avLst>
              <a:gd name="adj" fmla="val 2500000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694944" y="843077"/>
            <a:ext cx="75895" cy="75895"/>
          </a:xfrm>
          <a:prstGeom prst="ellipse">
            <a:avLst/>
          </a:prstGeom>
          <a:solidFill>
            <a:srgbClr val="CBD5E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828446" y="843077"/>
            <a:ext cx="75895" cy="75895"/>
          </a:xfrm>
          <a:prstGeom prst="ellipse">
            <a:avLst/>
          </a:prstGeom>
          <a:solidFill>
            <a:srgbClr val="CBD5E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961949" y="843077"/>
            <a:ext cx="75895" cy="75895"/>
          </a:xfrm>
          <a:prstGeom prst="ellipse">
            <a:avLst/>
          </a:prstGeom>
          <a:solidFill>
            <a:srgbClr val="CBD5E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1037844" y="804672"/>
            <a:ext cx="48006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b2b-partner.travel.com/login</a:t>
            </a:r>
            <a:endParaRPr lang="en-US" sz="900" dirty="0"/>
          </a:p>
        </p:txBody>
      </p:sp>
      <p:sp>
        <p:nvSpPr>
          <p:cNvPr id="20" name="Shape 15"/>
          <p:cNvSpPr/>
          <p:nvPr/>
        </p:nvSpPr>
        <p:spPr>
          <a:xfrm>
            <a:off x="580644" y="1000354"/>
            <a:ext cx="5315407" cy="6372454"/>
          </a:xfrm>
          <a:prstGeom prst="roundRect">
            <a:avLst>
              <a:gd name="adj" fmla="val 185"/>
            </a:avLst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1524305" y="1681582"/>
            <a:ext cx="3429000" cy="5009998"/>
          </a:xfrm>
          <a:prstGeom prst="roundRect">
            <a:avLst>
              <a:gd name="adj" fmla="val 8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3010205" y="2072030"/>
            <a:ext cx="457200" cy="457200"/>
          </a:xfrm>
          <a:prstGeom prst="roundRect">
            <a:avLst>
              <a:gd name="adj" fmla="val 33333"/>
            </a:avLst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rcRect l="-1282" r="-1282" t="0" b="0"/>
          <a:stretch/>
        </p:blipFill>
        <p:spPr>
          <a:xfrm>
            <a:off x="3129077" y="2204618"/>
            <a:ext cx="219456" cy="190195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819656" y="2643530"/>
            <a:ext cx="2839212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파트너 로그인</a:t>
            </a:r>
            <a:endParaRPr lang="en-US" sz="1800" dirty="0"/>
          </a:p>
        </p:txBody>
      </p:sp>
      <p:sp>
        <p:nvSpPr>
          <p:cNvPr id="25" name="Text 19"/>
          <p:cNvSpPr txBox="1"/>
          <p:nvPr/>
        </p:nvSpPr>
        <p:spPr>
          <a:xfrm>
            <a:off x="1819656" y="2986430"/>
            <a:ext cx="28392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여행의 시작을 함께하는 파트너 센터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1914754" y="3709721"/>
            <a:ext cx="2648102" cy="362102"/>
          </a:xfrm>
          <a:prstGeom prst="roundRect">
            <a:avLst>
              <a:gd name="adj" fmla="val 3987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1914754" y="4453128"/>
            <a:ext cx="2648102" cy="362102"/>
          </a:xfrm>
          <a:prstGeom prst="roundRect">
            <a:avLst>
              <a:gd name="adj" fmla="val 3987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rcRect l="-33" r="-33" t="0" b="0"/>
          <a:stretch/>
        </p:blipFill>
        <p:spPr>
          <a:xfrm>
            <a:off x="4276649" y="4548226"/>
            <a:ext cx="171907" cy="152705"/>
          </a:xfrm>
          <a:prstGeom prst="rect">
            <a:avLst/>
          </a:prstGeom>
        </p:spPr>
      </p:pic>
      <p:sp>
        <p:nvSpPr>
          <p:cNvPr id="29" name="Shape 22"/>
          <p:cNvSpPr/>
          <p:nvPr/>
        </p:nvSpPr>
        <p:spPr>
          <a:xfrm>
            <a:off x="1914754" y="5309921"/>
            <a:ext cx="2648102" cy="381305"/>
          </a:xfrm>
          <a:prstGeom prst="roundRect">
            <a:avLst>
              <a:gd name="adj" fmla="val 35971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Text 23"/>
          <p:cNvSpPr txBox="1"/>
          <p:nvPr/>
        </p:nvSpPr>
        <p:spPr>
          <a:xfrm>
            <a:off x="1857146" y="5928970"/>
            <a:ext cx="127193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계정이 없으신가요?</a:t>
            </a:r>
            <a:endParaRPr lang="en-US" sz="1000" dirty="0"/>
          </a:p>
        </p:txBody>
      </p:sp>
      <p:sp>
        <p:nvSpPr>
          <p:cNvPr id="31" name="Text 24"/>
          <p:cNvSpPr txBox="1"/>
          <p:nvPr/>
        </p:nvSpPr>
        <p:spPr>
          <a:xfrm>
            <a:off x="3599078" y="5928970"/>
            <a:ext cx="12435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|</a:t>
            </a:r>
            <a:endParaRPr lang="en-US" sz="1000" dirty="0"/>
          </a:p>
        </p:txBody>
      </p:sp>
      <p:sp>
        <p:nvSpPr>
          <p:cNvPr id="32" name="Text 25"/>
          <p:cNvSpPr txBox="1"/>
          <p:nvPr/>
        </p:nvSpPr>
        <p:spPr>
          <a:xfrm>
            <a:off x="2440534" y="7067398"/>
            <a:ext cx="190469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© 2026 Travel Platform Corp.</a:t>
            </a:r>
            <a:endParaRPr lang="en-US" sz="900" dirty="0"/>
          </a:p>
        </p:txBody>
      </p:sp>
      <p:sp>
        <p:nvSpPr>
          <p:cNvPr id="33" name="Shape 26"/>
          <p:cNvSpPr/>
          <p:nvPr/>
        </p:nvSpPr>
        <p:spPr>
          <a:xfrm>
            <a:off x="6381598" y="571500"/>
            <a:ext cx="5429707" cy="7000646"/>
          </a:xfrm>
          <a:prstGeom prst="roundRect">
            <a:avLst>
              <a:gd name="adj" fmla="val 23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Shape 27"/>
          <p:cNvSpPr/>
          <p:nvPr/>
        </p:nvSpPr>
        <p:spPr>
          <a:xfrm>
            <a:off x="6620256" y="1132942"/>
            <a:ext cx="4953305" cy="19202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6620256" y="847649"/>
            <a:ext cx="152705" cy="152705"/>
          </a:xfrm>
          <a:prstGeom prst="rect">
            <a:avLst/>
          </a:prstGeom>
        </p:spPr>
      </p:pic>
      <p:sp>
        <p:nvSpPr>
          <p:cNvPr id="36" name="Text 28"/>
          <p:cNvSpPr txBox="1"/>
          <p:nvPr/>
        </p:nvSpPr>
        <p:spPr>
          <a:xfrm>
            <a:off x="6848856" y="809244"/>
            <a:ext cx="211500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UI Description &amp; Interaction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20256" y="1248156"/>
          <a:ext cx="4953305" cy="3391510"/>
        </p:xfrm>
        <a:graphic>
          <a:graphicData uri="http://schemas.openxmlformats.org/drawingml/2006/table">
            <a:tbl>
              <a:tblPr/>
              <a:tblGrid>
                <a:gridCol w="1238098"/>
                <a:gridCol w="1981505"/>
                <a:gridCol w="1733702"/>
              </a:tblGrid>
              <a:tr h="5652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b="1" dirty="0">
                          <a:solidFill>
                            <a:srgbClr val="64748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Element</a:t>
                      </a:r>
                      <a:endParaRPr lang="en-US" sz="97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5895" marR="75895" marT="75895" marB="75895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b="1" dirty="0">
                          <a:solidFill>
                            <a:srgbClr val="64748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Description</a:t>
                      </a:r>
                      <a:endParaRPr lang="en-US" sz="97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5895" marR="75895" marT="75895" marB="75895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b="1" dirty="0">
                          <a:solidFill>
                            <a:srgbClr val="64748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Rules / Interaction</a:t>
                      </a:r>
                      <a:endParaRPr lang="en-US" sz="97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5895" marR="75895" marT="75895" marB="75895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652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</a:t>
                      </a:r>
                      <a:pPr indent="0" marL="0">
                        <a:buNone/>
                      </a:pP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3341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Container</a:t>
                      </a:r>
                      <a:endParaRPr lang="en-US" sz="1200" dirty="0"/>
                    </a:p>
                  </a:txBody>
                  <a:tcPr marL="75895" marR="75895" marT="95098" marB="95098" anchor="t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3341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로그인 카드 컨테이너</a:t>
                      </a:r>
                      <a:endParaRPr lang="en-US" sz="97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5895" marR="75895" marT="95098" marB="95098" anchor="t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3341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중앙 정렬 (Flex center)</a:t>
                      </a:r>
                      <a:pPr indent="0" marL="0">
                        <a:buNone/>
                      </a:pP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3341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Shadow 적용</a:t>
                      </a:r>
                      <a:endParaRPr lang="en-US" sz="1200" dirty="0"/>
                    </a:p>
                  </a:txBody>
                  <a:tcPr marL="75895" marR="75895" marT="95098" marB="95098" anchor="t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52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</a:t>
                      </a:r>
                      <a:pPr indent="0" marL="0">
                        <a:buNone/>
                      </a:pP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3341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Email Input</a:t>
                      </a:r>
                      <a:endParaRPr lang="en-US" sz="1200" dirty="0"/>
                    </a:p>
                  </a:txBody>
                  <a:tcPr marL="75895" marR="75895" marT="95098" marB="95098" anchor="t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3341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아이디(이메일) 입력 필드</a:t>
                      </a:r>
                      <a:endParaRPr lang="en-US" sz="97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5895" marR="75895" marT="95098" marB="95098" anchor="t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3341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Max 254자</a:t>
                      </a:r>
                      <a:pPr indent="0" marL="0">
                        <a:buNone/>
                      </a:pP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3341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영문, 숫자, 특수문자 허용</a:t>
                      </a:r>
                      <a:endParaRPr lang="en-US" sz="1200" dirty="0"/>
                    </a:p>
                  </a:txBody>
                  <a:tcPr marL="75895" marR="75895" marT="95098" marB="95098" anchor="t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52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4</a:t>
                      </a:r>
                      <a:pPr indent="0" marL="0">
                        <a:buNone/>
                      </a:pP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3341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Password</a:t>
                      </a:r>
                      <a:endParaRPr lang="en-US" sz="1200" dirty="0"/>
                    </a:p>
                  </a:txBody>
                  <a:tcPr marL="75895" marR="75895" marT="95098" marB="95098" anchor="t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3341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비밀번호 입력 필드 + Show/Hide 토글</a:t>
                      </a:r>
                      <a:endParaRPr lang="en-US" sz="97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5895" marR="75895" marT="95098" marB="95098" anchor="t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3341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기본 마스킹(●●●)</a:t>
                      </a:r>
                      <a:pPr indent="0" marL="0">
                        <a:buNone/>
                      </a:pP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3341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Eye 아이콘 클릭 시 토글</a:t>
                      </a:r>
                      <a:endParaRPr lang="en-US" sz="1200" dirty="0"/>
                    </a:p>
                  </a:txBody>
                  <a:tcPr marL="75895" marR="75895" marT="95098" marB="95098" anchor="t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52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6</a:t>
                      </a:r>
                      <a:pPr indent="0" marL="0">
                        <a:buNone/>
                      </a:pP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3341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Login Btn</a:t>
                      </a:r>
                      <a:endParaRPr lang="en-US" sz="1200" dirty="0"/>
                    </a:p>
                  </a:txBody>
                  <a:tcPr marL="75895" marR="75895" marT="95098" marB="95098" anchor="t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3341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로그인 실행 버튼 (Primary)</a:t>
                      </a:r>
                      <a:endParaRPr lang="en-US" sz="97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5895" marR="75895" marT="95098" marB="95098" anchor="t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3341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클릭 시 유효성 검사 후 API 호출</a:t>
                      </a:r>
                      <a:pPr indent="0" marL="0">
                        <a:buNone/>
                      </a:pP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3341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Loading 시 Spinner 노출</a:t>
                      </a:r>
                      <a:endParaRPr lang="en-US" sz="1200" dirty="0"/>
                    </a:p>
                  </a:txBody>
                  <a:tcPr marL="75895" marR="75895" marT="95098" marB="95098" anchor="t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52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7</a:t>
                      </a:r>
                      <a:pPr indent="0" marL="0">
                        <a:buNone/>
                      </a:pP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3341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Links</a:t>
                      </a:r>
                      <a:endParaRPr lang="en-US" sz="1200" dirty="0"/>
                    </a:p>
                  </a:txBody>
                  <a:tcPr marL="75895" marR="75895" marT="95098" marB="95098" anchor="t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3341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회원가입 / 비밀번호 찾기</a:t>
                      </a:r>
                      <a:endParaRPr lang="en-US" sz="97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5895" marR="75895" marT="95098" marB="95098" anchor="t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3341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회원가입: S-01 화면으로 이동</a:t>
                      </a:r>
                      <a:pPr indent="0" marL="0">
                        <a:buNone/>
                      </a:pP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3341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비번찾기: 별도 팝업/페이지</a:t>
                      </a:r>
                      <a:endParaRPr lang="en-US" sz="1200" dirty="0"/>
                    </a:p>
                  </a:txBody>
                  <a:tcPr marL="75895" marR="75895" marT="95098" marB="95098" anchor="t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8" name="Shape 29"/>
          <p:cNvSpPr/>
          <p:nvPr/>
        </p:nvSpPr>
        <p:spPr>
          <a:xfrm>
            <a:off x="6620256" y="5152644"/>
            <a:ext cx="4953305" cy="19202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pic>
        <p:nvPicPr>
          <p:cNvPr id="39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6620256" y="4867351"/>
            <a:ext cx="152705" cy="152705"/>
          </a:xfrm>
          <a:prstGeom prst="rect">
            <a:avLst/>
          </a:prstGeom>
        </p:spPr>
      </p:pic>
      <p:sp>
        <p:nvSpPr>
          <p:cNvPr id="40" name="Text 30"/>
          <p:cNvSpPr txBox="1"/>
          <p:nvPr/>
        </p:nvSpPr>
        <p:spPr>
          <a:xfrm>
            <a:off x="6848856" y="4828946"/>
            <a:ext cx="144841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Component States</a:t>
            </a:r>
            <a:endParaRPr lang="en-US" sz="1200" dirty="0"/>
          </a:p>
        </p:txBody>
      </p:sp>
      <p:sp>
        <p:nvSpPr>
          <p:cNvPr id="41" name="Shape 31"/>
          <p:cNvSpPr/>
          <p:nvPr/>
        </p:nvSpPr>
        <p:spPr>
          <a:xfrm>
            <a:off x="6620256" y="5266944"/>
            <a:ext cx="2400300" cy="1095451"/>
          </a:xfrm>
          <a:prstGeom prst="roundRect">
            <a:avLst>
              <a:gd name="adj" fmla="val 435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32"/>
          <p:cNvSpPr txBox="1"/>
          <p:nvPr/>
        </p:nvSpPr>
        <p:spPr>
          <a:xfrm>
            <a:off x="6743700" y="5391302"/>
            <a:ext cx="223936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Input - Focus</a:t>
            </a:r>
            <a:endParaRPr lang="en-US" sz="800" dirty="0"/>
          </a:p>
        </p:txBody>
      </p:sp>
      <p:sp>
        <p:nvSpPr>
          <p:cNvPr id="43" name="Shape 33"/>
          <p:cNvSpPr/>
          <p:nvPr/>
        </p:nvSpPr>
        <p:spPr>
          <a:xfrm>
            <a:off x="6743700" y="5624474"/>
            <a:ext cx="2152498" cy="342900"/>
          </a:xfrm>
          <a:prstGeom prst="roundRect">
            <a:avLst>
              <a:gd name="adj" fmla="val 29630"/>
            </a:avLst>
          </a:prstGeom>
          <a:solidFill>
            <a:srgbClr val="FFFF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4" name="Text 34"/>
          <p:cNvSpPr txBox="1"/>
          <p:nvPr/>
        </p:nvSpPr>
        <p:spPr>
          <a:xfrm>
            <a:off x="6848856" y="5703113"/>
            <a:ext cx="12390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user@example.com</a:t>
            </a:r>
            <a:endParaRPr lang="en-US" sz="900" dirty="0"/>
          </a:p>
        </p:txBody>
      </p:sp>
      <p:pic>
        <p:nvPicPr>
          <p:cNvPr id="45" name="Image 7" descr="preencoded.png">    </p:cNvPr>
          <p:cNvPicPr>
            <a:picLocks noChangeAspect="1"/>
          </p:cNvPicPr>
          <p:nvPr/>
        </p:nvPicPr>
        <p:blipFill>
          <a:blip r:embed="rId8">
            <a:alphaModFix amt="92000"/>
          </a:blip>
          <a:srcRect l="0" r="0" t="-2187" b="-2187"/>
          <a:stretch/>
        </p:blipFill>
        <p:spPr>
          <a:xfrm>
            <a:off x="8026603" y="5719572"/>
            <a:ext cx="9144" cy="152705"/>
          </a:xfrm>
          <a:prstGeom prst="rect">
            <a:avLst/>
          </a:prstGeom>
        </p:spPr>
      </p:pic>
      <p:sp>
        <p:nvSpPr>
          <p:cNvPr id="46" name="Shape 35"/>
          <p:cNvSpPr/>
          <p:nvPr/>
        </p:nvSpPr>
        <p:spPr>
          <a:xfrm>
            <a:off x="9172346" y="5266944"/>
            <a:ext cx="2400300" cy="1095451"/>
          </a:xfrm>
          <a:prstGeom prst="roundRect">
            <a:avLst>
              <a:gd name="adj" fmla="val 435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36"/>
          <p:cNvSpPr txBox="1"/>
          <p:nvPr/>
        </p:nvSpPr>
        <p:spPr>
          <a:xfrm>
            <a:off x="9296705" y="5391302"/>
            <a:ext cx="223936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Input - Error</a:t>
            </a:r>
            <a:endParaRPr lang="en-US" sz="800" dirty="0"/>
          </a:p>
        </p:txBody>
      </p:sp>
      <p:sp>
        <p:nvSpPr>
          <p:cNvPr id="48" name="Shape 37"/>
          <p:cNvSpPr/>
          <p:nvPr/>
        </p:nvSpPr>
        <p:spPr>
          <a:xfrm>
            <a:off x="9296705" y="5624474"/>
            <a:ext cx="2152498" cy="342900"/>
          </a:xfrm>
          <a:prstGeom prst="roundRect">
            <a:avLst>
              <a:gd name="adj" fmla="val 29630"/>
            </a:avLst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9" name="Text 38"/>
          <p:cNvSpPr txBox="1"/>
          <p:nvPr/>
        </p:nvSpPr>
        <p:spPr>
          <a:xfrm>
            <a:off x="9400946" y="5624474"/>
            <a:ext cx="8001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F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invalid-email</a:t>
            </a:r>
            <a:endParaRPr lang="en-US" sz="900" dirty="0"/>
          </a:p>
        </p:txBody>
      </p:sp>
      <p:pic>
        <p:nvPicPr>
          <p:cNvPr id="50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11220602" y="5734202"/>
            <a:ext cx="123444" cy="123444"/>
          </a:xfrm>
          <a:prstGeom prst="rect">
            <a:avLst/>
          </a:prstGeom>
        </p:spPr>
      </p:pic>
      <p:sp>
        <p:nvSpPr>
          <p:cNvPr id="51" name="Text 39"/>
          <p:cNvSpPr txBox="1"/>
          <p:nvPr/>
        </p:nvSpPr>
        <p:spPr>
          <a:xfrm>
            <a:off x="9296705" y="6005779"/>
            <a:ext cx="25868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F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이메일 형식이 올바르지 않습니다.</a:t>
            </a:r>
            <a:endParaRPr lang="en-US" sz="1200" dirty="0"/>
          </a:p>
        </p:txBody>
      </p:sp>
      <p:sp>
        <p:nvSpPr>
          <p:cNvPr id="52" name="Shape 40"/>
          <p:cNvSpPr/>
          <p:nvPr/>
        </p:nvSpPr>
        <p:spPr>
          <a:xfrm>
            <a:off x="6620256" y="6510528"/>
            <a:ext cx="2400300" cy="828446"/>
          </a:xfrm>
          <a:prstGeom prst="roundRect">
            <a:avLst>
              <a:gd name="adj" fmla="val 761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Text 41"/>
          <p:cNvSpPr txBox="1"/>
          <p:nvPr/>
        </p:nvSpPr>
        <p:spPr>
          <a:xfrm>
            <a:off x="6743700" y="6633972"/>
            <a:ext cx="223936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Button - Default</a:t>
            </a:r>
            <a:endParaRPr lang="en-US" sz="800" dirty="0"/>
          </a:p>
        </p:txBody>
      </p:sp>
      <p:sp>
        <p:nvSpPr>
          <p:cNvPr id="54" name="Shape 42"/>
          <p:cNvSpPr/>
          <p:nvPr/>
        </p:nvSpPr>
        <p:spPr>
          <a:xfrm>
            <a:off x="6743700" y="6867144"/>
            <a:ext cx="2152498" cy="342900"/>
          </a:xfrm>
          <a:prstGeom prst="roundRect">
            <a:avLst>
              <a:gd name="adj" fmla="val 2963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5" name="Text 43"/>
          <p:cNvSpPr txBox="1"/>
          <p:nvPr/>
        </p:nvSpPr>
        <p:spPr>
          <a:xfrm>
            <a:off x="6705295" y="6867144"/>
            <a:ext cx="2229307" cy="3429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로그인</a:t>
            </a:r>
            <a:endParaRPr lang="en-US" sz="900" dirty="0"/>
          </a:p>
        </p:txBody>
      </p:sp>
      <p:sp>
        <p:nvSpPr>
          <p:cNvPr id="56" name="Shape 44"/>
          <p:cNvSpPr/>
          <p:nvPr/>
        </p:nvSpPr>
        <p:spPr>
          <a:xfrm>
            <a:off x="9172346" y="6510528"/>
            <a:ext cx="2400300" cy="828446"/>
          </a:xfrm>
          <a:prstGeom prst="roundRect">
            <a:avLst>
              <a:gd name="adj" fmla="val 761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7" name="Text 45"/>
          <p:cNvSpPr txBox="1"/>
          <p:nvPr/>
        </p:nvSpPr>
        <p:spPr>
          <a:xfrm>
            <a:off x="9296705" y="6633972"/>
            <a:ext cx="223936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Button - Loading</a:t>
            </a:r>
            <a:endParaRPr lang="en-US" sz="800" dirty="0"/>
          </a:p>
        </p:txBody>
      </p:sp>
      <p:sp>
        <p:nvSpPr>
          <p:cNvPr id="58" name="Shape 46"/>
          <p:cNvSpPr/>
          <p:nvPr/>
        </p:nvSpPr>
        <p:spPr>
          <a:xfrm>
            <a:off x="9296705" y="6867144"/>
            <a:ext cx="2152498" cy="342900"/>
          </a:xfrm>
          <a:prstGeom prst="roundRect">
            <a:avLst>
              <a:gd name="adj" fmla="val 29630"/>
            </a:avLst>
          </a:prstGeom>
          <a:solidFill>
            <a:srgbClr val="2563EB">
              <a:alpha val="8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9" name="Text 47"/>
          <p:cNvSpPr txBox="1"/>
          <p:nvPr/>
        </p:nvSpPr>
        <p:spPr>
          <a:xfrm>
            <a:off x="9258300" y="6867144"/>
            <a:ext cx="2229307" cy="3429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처리중... </a:t>
            </a:r>
            <a:endParaRPr lang="en-US" sz="900" dirty="0"/>
          </a:p>
        </p:txBody>
      </p:sp>
      <p:pic>
        <p:nvPicPr>
          <p:cNvPr id="60" name="Image 9" descr="preencoded.png">    </p:cNvPr>
          <p:cNvPicPr>
            <a:picLocks noChangeAspect="1"/>
          </p:cNvPicPr>
          <p:nvPr/>
        </p:nvPicPr>
        <p:blipFill>
          <a:blip r:embed="rId10">
            <a:alphaModFix amt="80000"/>
          </a:blip>
          <a:srcRect l="0" r="0" t="0" b="0"/>
          <a:stretch/>
        </p:blipFill>
        <p:spPr>
          <a:xfrm>
            <a:off x="10019995" y="6951269"/>
            <a:ext cx="181051" cy="181051"/>
          </a:xfrm>
          <a:prstGeom prst="rect">
            <a:avLst/>
          </a:prstGeom>
        </p:spPr>
      </p:pic>
      <p:sp>
        <p:nvSpPr>
          <p:cNvPr id="61" name="Shape 48"/>
          <p:cNvSpPr/>
          <p:nvPr/>
        </p:nvSpPr>
        <p:spPr>
          <a:xfrm>
            <a:off x="0" y="7858354"/>
            <a:ext cx="12191695" cy="18105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2" name="Shape 49"/>
          <p:cNvSpPr/>
          <p:nvPr/>
        </p:nvSpPr>
        <p:spPr>
          <a:xfrm>
            <a:off x="0" y="7858354"/>
            <a:ext cx="12191695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63" name="Text 50"/>
          <p:cNvSpPr txBox="1"/>
          <p:nvPr/>
        </p:nvSpPr>
        <p:spPr>
          <a:xfrm>
            <a:off x="381305" y="7867498"/>
            <a:ext cx="191749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B2B 파트너 입점 화면설계서 v0.9</a:t>
            </a:r>
            <a:endParaRPr lang="en-US" sz="900" dirty="0"/>
          </a:p>
        </p:txBody>
      </p:sp>
      <p:sp>
        <p:nvSpPr>
          <p:cNvPr id="64" name="Text 51"/>
          <p:cNvSpPr txBox="1"/>
          <p:nvPr/>
        </p:nvSpPr>
        <p:spPr>
          <a:xfrm>
            <a:off x="11330330" y="7867498"/>
            <a:ext cx="56235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Page 05</a:t>
            </a:r>
            <a:endParaRPr lang="en-US" sz="900" dirty="0"/>
          </a:p>
        </p:txBody>
      </p:sp>
      <p:sp>
        <p:nvSpPr>
          <p:cNvPr id="65" name="Text 52"/>
          <p:cNvSpPr txBox="1"/>
          <p:nvPr/>
        </p:nvSpPr>
        <p:spPr>
          <a:xfrm>
            <a:off x="1399946" y="1595628"/>
            <a:ext cx="305410" cy="228600"/>
          </a:xfrm>
          <a:prstGeom prst="rect">
            <a:avLst/>
          </a:prstGeom>
          <a:solidFill>
            <a:srgbClr val="EF4444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900" dirty="0"/>
          </a:p>
        </p:txBody>
      </p:sp>
      <p:sp>
        <p:nvSpPr>
          <p:cNvPr id="66" name="Text 53"/>
          <p:cNvSpPr txBox="1"/>
          <p:nvPr/>
        </p:nvSpPr>
        <p:spPr>
          <a:xfrm>
            <a:off x="4486046" y="1880921"/>
            <a:ext cx="305410" cy="228600"/>
          </a:xfrm>
          <a:prstGeom prst="rect">
            <a:avLst/>
          </a:prstGeom>
          <a:solidFill>
            <a:srgbClr val="EF4444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900" dirty="0"/>
          </a:p>
        </p:txBody>
      </p:sp>
      <p:sp>
        <p:nvSpPr>
          <p:cNvPr id="67" name="Text 54"/>
          <p:cNvSpPr txBox="1"/>
          <p:nvPr/>
        </p:nvSpPr>
        <p:spPr>
          <a:xfrm>
            <a:off x="4410151" y="3719779"/>
            <a:ext cx="305410" cy="228600"/>
          </a:xfrm>
          <a:prstGeom prst="rect">
            <a:avLst/>
          </a:prstGeom>
          <a:solidFill>
            <a:srgbClr val="EF4444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900" dirty="0"/>
          </a:p>
        </p:txBody>
      </p:sp>
      <p:sp>
        <p:nvSpPr>
          <p:cNvPr id="68" name="Text 55"/>
          <p:cNvSpPr txBox="1"/>
          <p:nvPr/>
        </p:nvSpPr>
        <p:spPr>
          <a:xfrm>
            <a:off x="4410151" y="4462272"/>
            <a:ext cx="305410" cy="228600"/>
          </a:xfrm>
          <a:prstGeom prst="rect">
            <a:avLst/>
          </a:prstGeom>
          <a:solidFill>
            <a:srgbClr val="EF4444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900" dirty="0"/>
          </a:p>
        </p:txBody>
      </p:sp>
      <p:sp>
        <p:nvSpPr>
          <p:cNvPr id="69" name="Text 56"/>
          <p:cNvSpPr txBox="1"/>
          <p:nvPr/>
        </p:nvSpPr>
        <p:spPr>
          <a:xfrm>
            <a:off x="2717597" y="4919472"/>
            <a:ext cx="305410" cy="228600"/>
          </a:xfrm>
          <a:prstGeom prst="rect">
            <a:avLst/>
          </a:prstGeom>
          <a:solidFill>
            <a:srgbClr val="EF4444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900" dirty="0"/>
          </a:p>
        </p:txBody>
      </p:sp>
      <p:sp>
        <p:nvSpPr>
          <p:cNvPr id="70" name="Text 57"/>
          <p:cNvSpPr txBox="1"/>
          <p:nvPr/>
        </p:nvSpPr>
        <p:spPr>
          <a:xfrm>
            <a:off x="4410151" y="5357470"/>
            <a:ext cx="305410" cy="228600"/>
          </a:xfrm>
          <a:prstGeom prst="rect">
            <a:avLst/>
          </a:prstGeom>
          <a:solidFill>
            <a:srgbClr val="EF4444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900" dirty="0"/>
          </a:p>
        </p:txBody>
      </p:sp>
      <p:sp>
        <p:nvSpPr>
          <p:cNvPr id="71" name="Text 58"/>
          <p:cNvSpPr txBox="1"/>
          <p:nvPr/>
        </p:nvSpPr>
        <p:spPr>
          <a:xfrm>
            <a:off x="4105656" y="5919826"/>
            <a:ext cx="305410" cy="228600"/>
          </a:xfrm>
          <a:prstGeom prst="rect">
            <a:avLst/>
          </a:prstGeom>
          <a:solidFill>
            <a:srgbClr val="EF4444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761695"/>
            <a:ext cx="12191695" cy="5715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81305" y="990295"/>
            <a:ext cx="7477049" cy="5257800"/>
          </a:xfrm>
          <a:prstGeom prst="roundRect">
            <a:avLst>
              <a:gd name="adj" fmla="val 25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90449" y="1000354"/>
            <a:ext cx="7457846" cy="428854"/>
          </a:xfrm>
          <a:prstGeom prst="roundRect">
            <a:avLst>
              <a:gd name="adj" fmla="val 37906"/>
            </a:avLst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390449" y="1420063"/>
            <a:ext cx="7457846" cy="9144"/>
          </a:xfrm>
          <a:prstGeom prst="roundRect">
            <a:avLst>
              <a:gd name="adj" fmla="val 1777778"/>
            </a:avLst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52551" y="1114654"/>
            <a:ext cx="713506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UI 구성요소 및 정책</a:t>
            </a:r>
            <a:endParaRPr lang="en-US" sz="10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3154" y="1150315"/>
            <a:ext cx="133502" cy="133502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390449" y="1429207"/>
            <a:ext cx="7457846" cy="58064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1" name="Shape 8"/>
          <p:cNvSpPr/>
          <p:nvPr/>
        </p:nvSpPr>
        <p:spPr>
          <a:xfrm>
            <a:off x="390449" y="2000707"/>
            <a:ext cx="7457846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62102" y="1543507"/>
            <a:ext cx="62910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961949" y="1543507"/>
            <a:ext cx="13908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항목명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2295144" y="1543507"/>
            <a:ext cx="101041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유형/속성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3247949" y="1543507"/>
            <a:ext cx="198150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유효성/조건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5152644" y="1543507"/>
            <a:ext cx="277246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상세 설명 및 에러 메시지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390449" y="3100730"/>
            <a:ext cx="7457846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362102" y="2005279"/>
            <a:ext cx="629107" cy="10954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900" dirty="0"/>
          </a:p>
        </p:txBody>
      </p:sp>
      <p:sp>
        <p:nvSpPr>
          <p:cNvPr id="19" name="Text 16"/>
          <p:cNvSpPr txBox="1"/>
          <p:nvPr/>
        </p:nvSpPr>
        <p:spPr>
          <a:xfrm>
            <a:off x="961949" y="2005279"/>
            <a:ext cx="1390802" cy="10954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이메일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2447849" y="2373782"/>
            <a:ext cx="647395" cy="352044"/>
          </a:xfrm>
          <a:prstGeom prst="roundRect">
            <a:avLst>
              <a:gd name="adj" fmla="val 28080"/>
            </a:avLst>
          </a:prstGeom>
          <a:solidFill>
            <a:srgbClr val="E0E7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2447849" y="2373782"/>
            <a:ext cx="705002" cy="3529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338C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Input (Text)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3400654" y="2357323"/>
            <a:ext cx="705002" cy="200254"/>
          </a:xfrm>
          <a:prstGeom prst="roundRect">
            <a:avLst>
              <a:gd name="adj" fmla="val 86975"/>
            </a:avLst>
          </a:prstGeom>
          <a:solidFill>
            <a:srgbClr val="FEE2E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3400654" y="2357323"/>
            <a:ext cx="781812" cy="2002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B91C1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Mandatory</a:t>
            </a:r>
            <a:endParaRPr lang="en-US" sz="800" dirty="0"/>
          </a:p>
        </p:txBody>
      </p:sp>
      <p:sp>
        <p:nvSpPr>
          <p:cNvPr id="24" name="Text 21"/>
          <p:cNvSpPr txBox="1"/>
          <p:nvPr/>
        </p:nvSpPr>
        <p:spPr>
          <a:xfrm>
            <a:off x="3400654" y="2590495"/>
            <a:ext cx="83941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Max 254 char</a:t>
            </a:r>
            <a:endParaRPr lang="en-US" sz="900" dirty="0"/>
          </a:p>
        </p:txBody>
      </p:sp>
      <p:sp>
        <p:nvSpPr>
          <p:cNvPr id="25" name="Text 22"/>
          <p:cNvSpPr txBox="1"/>
          <p:nvPr/>
        </p:nvSpPr>
        <p:spPr>
          <a:xfrm>
            <a:off x="5305349" y="2081174"/>
            <a:ext cx="258135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파트너 아이디(이메일 주소) 입력 필드</a:t>
            </a:r>
            <a:endParaRPr lang="en-US" sz="900" dirty="0"/>
          </a:p>
        </p:txBody>
      </p:sp>
      <p:sp>
        <p:nvSpPr>
          <p:cNvPr id="26" name="Text 23"/>
          <p:cNvSpPr txBox="1"/>
          <p:nvPr/>
        </p:nvSpPr>
        <p:spPr>
          <a:xfrm>
            <a:off x="5305349" y="2305202"/>
            <a:ext cx="2467051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Placeholder: "이메일 주소를 입력해주세요"</a:t>
            </a:r>
            <a:endParaRPr lang="en-US" sz="900" dirty="0"/>
          </a:p>
        </p:txBody>
      </p:sp>
      <p:sp>
        <p:nvSpPr>
          <p:cNvPr id="27" name="Text 24"/>
          <p:cNvSpPr txBox="1"/>
          <p:nvPr/>
        </p:nvSpPr>
        <p:spPr>
          <a:xfrm>
            <a:off x="5305349" y="2714854"/>
            <a:ext cx="2467051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ERR: "이메일 형식이 올바르지 않습니다." (OnBlur)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390449" y="3857854"/>
            <a:ext cx="7457846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362102" y="3105302"/>
            <a:ext cx="629107" cy="7525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900" dirty="0"/>
          </a:p>
        </p:txBody>
      </p:sp>
      <p:sp>
        <p:nvSpPr>
          <p:cNvPr id="30" name="Text 27"/>
          <p:cNvSpPr txBox="1"/>
          <p:nvPr/>
        </p:nvSpPr>
        <p:spPr>
          <a:xfrm>
            <a:off x="961949" y="3105302"/>
            <a:ext cx="1390802" cy="7525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비밀번호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2447849" y="3305556"/>
            <a:ext cx="647395" cy="352044"/>
          </a:xfrm>
          <a:prstGeom prst="roundRect">
            <a:avLst>
              <a:gd name="adj" fmla="val 28080"/>
            </a:avLst>
          </a:prstGeom>
          <a:solidFill>
            <a:srgbClr val="E0E7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2447849" y="3305556"/>
            <a:ext cx="705002" cy="3529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338C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Input (PW)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3400654" y="3288182"/>
            <a:ext cx="705002" cy="200254"/>
          </a:xfrm>
          <a:prstGeom prst="roundRect">
            <a:avLst>
              <a:gd name="adj" fmla="val 86975"/>
            </a:avLst>
          </a:prstGeom>
          <a:solidFill>
            <a:srgbClr val="FEE2E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3400654" y="3288182"/>
            <a:ext cx="781812" cy="2002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B91C1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Mandatory</a:t>
            </a:r>
            <a:endParaRPr lang="en-US" sz="800" dirty="0"/>
          </a:p>
        </p:txBody>
      </p:sp>
      <p:sp>
        <p:nvSpPr>
          <p:cNvPr id="35" name="Text 32"/>
          <p:cNvSpPr txBox="1"/>
          <p:nvPr/>
        </p:nvSpPr>
        <p:spPr>
          <a:xfrm>
            <a:off x="3400654" y="3522269"/>
            <a:ext cx="78181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Min 8 char</a:t>
            </a:r>
            <a:endParaRPr lang="en-US" sz="900" dirty="0"/>
          </a:p>
        </p:txBody>
      </p:sp>
      <p:sp>
        <p:nvSpPr>
          <p:cNvPr id="36" name="Text 33"/>
          <p:cNvSpPr txBox="1"/>
          <p:nvPr/>
        </p:nvSpPr>
        <p:spPr>
          <a:xfrm>
            <a:off x="5305349" y="3181198"/>
            <a:ext cx="254111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비밀번호 입력 (마스킹 처리)</a:t>
            </a:r>
            <a:endParaRPr lang="en-US" sz="900" dirty="0"/>
          </a:p>
        </p:txBody>
      </p:sp>
      <p:sp>
        <p:nvSpPr>
          <p:cNvPr id="37" name="Text 34"/>
          <p:cNvSpPr txBox="1"/>
          <p:nvPr/>
        </p:nvSpPr>
        <p:spPr>
          <a:xfrm>
            <a:off x="5305349" y="3405226"/>
            <a:ext cx="279989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우측 '눈' 아이콘 클릭 시 토글 (Show/Hide)</a:t>
            </a:r>
            <a:endParaRPr lang="en-US" sz="900" dirty="0"/>
          </a:p>
        </p:txBody>
      </p:sp>
      <p:sp>
        <p:nvSpPr>
          <p:cNvPr id="38" name="Text 35"/>
          <p:cNvSpPr txBox="1"/>
          <p:nvPr/>
        </p:nvSpPr>
        <p:spPr>
          <a:xfrm>
            <a:off x="5305349" y="3629254"/>
            <a:ext cx="279989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ERR: "비밀번호를 입력해주세요." (Empty Case)</a:t>
            </a:r>
            <a:endParaRPr lang="en-US" sz="900" dirty="0"/>
          </a:p>
        </p:txBody>
      </p:sp>
      <p:sp>
        <p:nvSpPr>
          <p:cNvPr id="39" name="Shape 36"/>
          <p:cNvSpPr/>
          <p:nvPr/>
        </p:nvSpPr>
        <p:spPr>
          <a:xfrm>
            <a:off x="390449" y="4582058"/>
            <a:ext cx="7457846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362102" y="3866998"/>
            <a:ext cx="629107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900" dirty="0"/>
          </a:p>
        </p:txBody>
      </p:sp>
      <p:sp>
        <p:nvSpPr>
          <p:cNvPr id="41" name="Text 38"/>
          <p:cNvSpPr txBox="1"/>
          <p:nvPr/>
        </p:nvSpPr>
        <p:spPr>
          <a:xfrm>
            <a:off x="961949" y="3866998"/>
            <a:ext cx="1390802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로그인 상태 유지</a:t>
            </a: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2447849" y="4123944"/>
            <a:ext cx="666598" cy="200254"/>
          </a:xfrm>
          <a:prstGeom prst="roundRect">
            <a:avLst>
              <a:gd name="adj" fmla="val 86975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2447849" y="4123944"/>
            <a:ext cx="743407" cy="2002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Checkbox</a:t>
            </a:r>
            <a:endParaRPr lang="en-US" sz="800" dirty="0"/>
          </a:p>
        </p:txBody>
      </p:sp>
      <p:sp>
        <p:nvSpPr>
          <p:cNvPr id="44" name="Text 41"/>
          <p:cNvSpPr txBox="1"/>
          <p:nvPr/>
        </p:nvSpPr>
        <p:spPr>
          <a:xfrm>
            <a:off x="3247949" y="3866998"/>
            <a:ext cx="1981505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Default: Off</a:t>
            </a:r>
            <a:endParaRPr lang="en-US" sz="900" dirty="0"/>
          </a:p>
        </p:txBody>
      </p:sp>
      <p:sp>
        <p:nvSpPr>
          <p:cNvPr id="45" name="Text 42"/>
          <p:cNvSpPr txBox="1"/>
          <p:nvPr/>
        </p:nvSpPr>
        <p:spPr>
          <a:xfrm>
            <a:off x="5305349" y="3943807"/>
            <a:ext cx="1381658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체크 시 Refresh Token 유효기간 연장 (최대 30일)</a:t>
            </a:r>
            <a:endParaRPr lang="en-US" sz="900" dirty="0"/>
          </a:p>
        </p:txBody>
      </p:sp>
      <p:sp>
        <p:nvSpPr>
          <p:cNvPr id="46" name="Text 43"/>
          <p:cNvSpPr txBox="1"/>
          <p:nvPr/>
        </p:nvSpPr>
        <p:spPr>
          <a:xfrm>
            <a:off x="6622999" y="3943807"/>
            <a:ext cx="1133856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보안 정책상 공용 PC 경고 툴팁 제공 권장</a:t>
            </a:r>
            <a:endParaRPr lang="en-US" sz="900" dirty="0"/>
          </a:p>
        </p:txBody>
      </p:sp>
      <p:sp>
        <p:nvSpPr>
          <p:cNvPr id="47" name="Shape 44"/>
          <p:cNvSpPr/>
          <p:nvPr/>
        </p:nvSpPr>
        <p:spPr>
          <a:xfrm>
            <a:off x="390449" y="4586630"/>
            <a:ext cx="7457846" cy="91440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48" name="Shape 45"/>
          <p:cNvSpPr/>
          <p:nvPr/>
        </p:nvSpPr>
        <p:spPr>
          <a:xfrm>
            <a:off x="390449" y="5491886"/>
            <a:ext cx="7457846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362102" y="4586630"/>
            <a:ext cx="629107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900" dirty="0"/>
          </a:p>
        </p:txBody>
      </p:sp>
      <p:sp>
        <p:nvSpPr>
          <p:cNvPr id="50" name="Text 47"/>
          <p:cNvSpPr txBox="1"/>
          <p:nvPr/>
        </p:nvSpPr>
        <p:spPr>
          <a:xfrm>
            <a:off x="961949" y="4586630"/>
            <a:ext cx="1390802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로그인 버튼</a:t>
            </a:r>
            <a:endParaRPr lang="en-US" sz="900" dirty="0"/>
          </a:p>
        </p:txBody>
      </p:sp>
      <p:sp>
        <p:nvSpPr>
          <p:cNvPr id="51" name="Shape 48"/>
          <p:cNvSpPr/>
          <p:nvPr/>
        </p:nvSpPr>
        <p:spPr>
          <a:xfrm>
            <a:off x="2447849" y="4941418"/>
            <a:ext cx="485546" cy="200254"/>
          </a:xfrm>
          <a:prstGeom prst="roundRect">
            <a:avLst>
              <a:gd name="adj" fmla="val 86975"/>
            </a:avLst>
          </a:prstGeom>
          <a:solidFill>
            <a:srgbClr val="DCFCE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2447849" y="4941418"/>
            <a:ext cx="562356" cy="2002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580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Button</a:t>
            </a:r>
            <a:endParaRPr lang="en-US" sz="800" dirty="0"/>
          </a:p>
        </p:txBody>
      </p:sp>
      <p:sp>
        <p:nvSpPr>
          <p:cNvPr id="53" name="Text 50"/>
          <p:cNvSpPr txBox="1"/>
          <p:nvPr/>
        </p:nvSpPr>
        <p:spPr>
          <a:xfrm>
            <a:off x="3247949" y="4586630"/>
            <a:ext cx="1981505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Primary / Full</a:t>
            </a:r>
            <a:endParaRPr lang="en-US" sz="900" dirty="0"/>
          </a:p>
        </p:txBody>
      </p:sp>
      <p:sp>
        <p:nvSpPr>
          <p:cNvPr id="54" name="Text 51"/>
          <p:cNvSpPr txBox="1"/>
          <p:nvPr/>
        </p:nvSpPr>
        <p:spPr>
          <a:xfrm>
            <a:off x="5305349" y="4662526"/>
            <a:ext cx="284561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클릭 시 1, 2번 필드 Validation 후 서버 전송</a:t>
            </a:r>
            <a:endParaRPr lang="en-US" sz="900" dirty="0"/>
          </a:p>
        </p:txBody>
      </p:sp>
      <p:sp>
        <p:nvSpPr>
          <p:cNvPr id="55" name="Text 52"/>
          <p:cNvSpPr txBox="1"/>
          <p:nvPr/>
        </p:nvSpPr>
        <p:spPr>
          <a:xfrm>
            <a:off x="5305349" y="4886554"/>
            <a:ext cx="258135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로딩 시 스피너 노출 및 버튼 비활성화</a:t>
            </a:r>
            <a:endParaRPr lang="en-US" sz="900" dirty="0"/>
          </a:p>
        </p:txBody>
      </p:sp>
      <p:sp>
        <p:nvSpPr>
          <p:cNvPr id="56" name="Text 53"/>
          <p:cNvSpPr txBox="1"/>
          <p:nvPr/>
        </p:nvSpPr>
        <p:spPr>
          <a:xfrm>
            <a:off x="5305349" y="5110582"/>
            <a:ext cx="2467051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Global ERR: "이메일 또는 비밀번호가 일치하지 않습니다."</a:t>
            </a:r>
            <a:endParaRPr lang="en-US" sz="900" dirty="0"/>
          </a:p>
        </p:txBody>
      </p:sp>
      <p:sp>
        <p:nvSpPr>
          <p:cNvPr id="57" name="Text 54"/>
          <p:cNvSpPr txBox="1"/>
          <p:nvPr/>
        </p:nvSpPr>
        <p:spPr>
          <a:xfrm>
            <a:off x="362102" y="5501030"/>
            <a:ext cx="629107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900" dirty="0"/>
          </a:p>
        </p:txBody>
      </p:sp>
      <p:sp>
        <p:nvSpPr>
          <p:cNvPr id="58" name="Text 55"/>
          <p:cNvSpPr txBox="1"/>
          <p:nvPr/>
        </p:nvSpPr>
        <p:spPr>
          <a:xfrm>
            <a:off x="961949" y="5501030"/>
            <a:ext cx="1390802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하단 링크</a:t>
            </a:r>
            <a:endParaRPr lang="en-US" sz="900" dirty="0"/>
          </a:p>
        </p:txBody>
      </p:sp>
      <p:sp>
        <p:nvSpPr>
          <p:cNvPr id="59" name="Shape 56"/>
          <p:cNvSpPr/>
          <p:nvPr/>
        </p:nvSpPr>
        <p:spPr>
          <a:xfrm>
            <a:off x="2447849" y="5757977"/>
            <a:ext cx="371246" cy="200254"/>
          </a:xfrm>
          <a:prstGeom prst="roundRect">
            <a:avLst>
              <a:gd name="adj" fmla="val 86975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0" name="Text 57"/>
          <p:cNvSpPr txBox="1"/>
          <p:nvPr/>
        </p:nvSpPr>
        <p:spPr>
          <a:xfrm>
            <a:off x="2447849" y="5757977"/>
            <a:ext cx="448056" cy="2002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Link</a:t>
            </a:r>
            <a:endParaRPr lang="en-US" sz="800" dirty="0"/>
          </a:p>
        </p:txBody>
      </p:sp>
      <p:sp>
        <p:nvSpPr>
          <p:cNvPr id="61" name="Text 58"/>
          <p:cNvSpPr txBox="1"/>
          <p:nvPr/>
        </p:nvSpPr>
        <p:spPr>
          <a:xfrm>
            <a:off x="3247949" y="5501030"/>
            <a:ext cx="1981505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페이지 이동</a:t>
            </a:r>
            <a:endParaRPr lang="en-US" sz="900" dirty="0"/>
          </a:p>
        </p:txBody>
      </p:sp>
      <p:sp>
        <p:nvSpPr>
          <p:cNvPr id="62" name="Text 59"/>
          <p:cNvSpPr txBox="1"/>
          <p:nvPr/>
        </p:nvSpPr>
        <p:spPr>
          <a:xfrm>
            <a:off x="5305349" y="5576926"/>
            <a:ext cx="1228954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회원가입: S-01 (회원가입 시작) 화면으로 이동</a:t>
            </a:r>
            <a:endParaRPr lang="en-US" sz="900" dirty="0"/>
          </a:p>
        </p:txBody>
      </p:sp>
      <p:sp>
        <p:nvSpPr>
          <p:cNvPr id="63" name="Text 60"/>
          <p:cNvSpPr txBox="1"/>
          <p:nvPr/>
        </p:nvSpPr>
        <p:spPr>
          <a:xfrm>
            <a:off x="6471209" y="5576926"/>
            <a:ext cx="1286561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비밀번호 찾기: 비밀번호 재설정 프로세스로 이동</a:t>
            </a:r>
            <a:endParaRPr lang="en-US" sz="900" dirty="0"/>
          </a:p>
        </p:txBody>
      </p:sp>
      <p:sp>
        <p:nvSpPr>
          <p:cNvPr id="64" name="Shape 61"/>
          <p:cNvSpPr/>
          <p:nvPr/>
        </p:nvSpPr>
        <p:spPr>
          <a:xfrm>
            <a:off x="8083296" y="990295"/>
            <a:ext cx="3733495" cy="2495398"/>
          </a:xfrm>
          <a:prstGeom prst="roundRect">
            <a:avLst>
              <a:gd name="adj" fmla="val 111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5" name="Shape 62"/>
          <p:cNvSpPr/>
          <p:nvPr/>
        </p:nvSpPr>
        <p:spPr>
          <a:xfrm>
            <a:off x="8283550" y="1485900"/>
            <a:ext cx="3333902" cy="19202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pic>
        <p:nvPicPr>
          <p:cNvPr id="66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556" b="-556"/>
          <a:stretch/>
        </p:blipFill>
        <p:spPr>
          <a:xfrm>
            <a:off x="8283550" y="1226210"/>
            <a:ext cx="123444" cy="142646"/>
          </a:xfrm>
          <a:prstGeom prst="rect">
            <a:avLst/>
          </a:prstGeom>
        </p:spPr>
      </p:pic>
      <p:sp>
        <p:nvSpPr>
          <p:cNvPr id="67" name="Text 63"/>
          <p:cNvSpPr txBox="1"/>
          <p:nvPr/>
        </p:nvSpPr>
        <p:spPr>
          <a:xfrm>
            <a:off x="8483803" y="1190549"/>
            <a:ext cx="1324051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로그인 프로세스 로직</a:t>
            </a:r>
            <a:endParaRPr lang="en-US" sz="1100" dirty="0"/>
          </a:p>
        </p:txBody>
      </p:sp>
      <p:sp>
        <p:nvSpPr>
          <p:cNvPr id="68" name="Shape 64"/>
          <p:cNvSpPr/>
          <p:nvPr/>
        </p:nvSpPr>
        <p:spPr>
          <a:xfrm>
            <a:off x="8283550" y="1633118"/>
            <a:ext cx="190195" cy="190195"/>
          </a:xfrm>
          <a:prstGeom prst="ellipse">
            <a:avLst/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9" name="Text 65"/>
          <p:cNvSpPr txBox="1"/>
          <p:nvPr/>
        </p:nvSpPr>
        <p:spPr>
          <a:xfrm>
            <a:off x="8245145" y="1633118"/>
            <a:ext cx="267005" cy="1911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B82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800" dirty="0"/>
          </a:p>
        </p:txBody>
      </p:sp>
      <p:sp>
        <p:nvSpPr>
          <p:cNvPr id="70" name="Text 66"/>
          <p:cNvSpPr txBox="1"/>
          <p:nvPr/>
        </p:nvSpPr>
        <p:spPr>
          <a:xfrm>
            <a:off x="8569757" y="1614830"/>
            <a:ext cx="369783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자격 증명 확인:</a:t>
            </a:r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DB 상의 해시된 비밀번호와 일치 여부 확인</a:t>
            </a:r>
            <a:endParaRPr lang="en-US" sz="900" dirty="0"/>
          </a:p>
        </p:txBody>
      </p:sp>
      <p:sp>
        <p:nvSpPr>
          <p:cNvPr id="71" name="Shape 67"/>
          <p:cNvSpPr/>
          <p:nvPr/>
        </p:nvSpPr>
        <p:spPr>
          <a:xfrm>
            <a:off x="8283550" y="1957730"/>
            <a:ext cx="190195" cy="190195"/>
          </a:xfrm>
          <a:prstGeom prst="ellipse">
            <a:avLst/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2" name="Text 68"/>
          <p:cNvSpPr txBox="1"/>
          <p:nvPr/>
        </p:nvSpPr>
        <p:spPr>
          <a:xfrm>
            <a:off x="8245145" y="1957730"/>
            <a:ext cx="267005" cy="1911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B82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800" dirty="0"/>
          </a:p>
        </p:txBody>
      </p:sp>
      <p:sp>
        <p:nvSpPr>
          <p:cNvPr id="73" name="Text 69"/>
          <p:cNvSpPr txBox="1"/>
          <p:nvPr/>
        </p:nvSpPr>
        <p:spPr>
          <a:xfrm>
            <a:off x="8569757" y="1938528"/>
            <a:ext cx="1803197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계정 상태(Status) 체크:</a:t>
            </a:r>
            <a:pPr algn="l" indent="0" marL="0">
              <a:buNone/>
            </a:pPr>
            <a:endParaRPr lang="en-US" sz="900" dirty="0"/>
          </a:p>
          <a:p>
            <a:pPr algn="l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[Approved]</a:t>
            </a:r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홈으로 이동</a:t>
            </a:r>
            <a:pPr algn="l" indent="0" marL="0">
              <a:buNone/>
            </a:pPr>
            <a:endParaRPr lang="en-US" sz="900" dirty="0"/>
          </a:p>
          <a:p>
            <a:pPr algn="l"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[Pending]</a:t>
            </a:r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L-02 심사중 팝업 호출</a:t>
            </a:r>
            <a:pPr algn="l" indent="0" marL="0">
              <a:buNone/>
            </a:pPr>
            <a:endParaRPr lang="en-US" sz="900" dirty="0"/>
          </a:p>
          <a:p>
            <a:pPr algn="l"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[Rejected]</a:t>
            </a:r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L-02 반려 팝업 호출</a:t>
            </a:r>
            <a:endParaRPr lang="en-US" sz="900" dirty="0"/>
          </a:p>
        </p:txBody>
      </p:sp>
      <p:sp>
        <p:nvSpPr>
          <p:cNvPr id="74" name="Shape 70"/>
          <p:cNvSpPr/>
          <p:nvPr/>
        </p:nvSpPr>
        <p:spPr>
          <a:xfrm>
            <a:off x="8283550" y="2814523"/>
            <a:ext cx="190195" cy="190195"/>
          </a:xfrm>
          <a:prstGeom prst="ellipse">
            <a:avLst/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5" name="Text 71"/>
          <p:cNvSpPr txBox="1"/>
          <p:nvPr/>
        </p:nvSpPr>
        <p:spPr>
          <a:xfrm>
            <a:off x="8245145" y="2814523"/>
            <a:ext cx="267005" cy="1911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B82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800" dirty="0"/>
          </a:p>
        </p:txBody>
      </p:sp>
      <p:sp>
        <p:nvSpPr>
          <p:cNvPr id="76" name="Text 72"/>
          <p:cNvSpPr txBox="1"/>
          <p:nvPr/>
        </p:nvSpPr>
        <p:spPr>
          <a:xfrm>
            <a:off x="8569757" y="2795321"/>
            <a:ext cx="3124505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토큰 발급:</a:t>
            </a:r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성공 시 Access/Refresh Token 발급 및 쿠키/스토리지 저장</a:t>
            </a:r>
            <a:endParaRPr lang="en-US" sz="900" dirty="0"/>
          </a:p>
        </p:txBody>
      </p:sp>
      <p:sp>
        <p:nvSpPr>
          <p:cNvPr id="77" name="Shape 73"/>
          <p:cNvSpPr/>
          <p:nvPr/>
        </p:nvSpPr>
        <p:spPr>
          <a:xfrm>
            <a:off x="8083296" y="3672230"/>
            <a:ext cx="3733495" cy="2581351"/>
          </a:xfrm>
          <a:prstGeom prst="roundRect">
            <a:avLst>
              <a:gd name="adj" fmla="val 104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8" name="Shape 74"/>
          <p:cNvSpPr/>
          <p:nvPr/>
        </p:nvSpPr>
        <p:spPr>
          <a:xfrm>
            <a:off x="8283550" y="4166921"/>
            <a:ext cx="3333902" cy="19202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pic>
        <p:nvPicPr>
          <p:cNvPr id="79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283550" y="3907231"/>
            <a:ext cx="142646" cy="142646"/>
          </a:xfrm>
          <a:prstGeom prst="rect">
            <a:avLst/>
          </a:prstGeom>
        </p:spPr>
      </p:pic>
      <p:sp>
        <p:nvSpPr>
          <p:cNvPr id="80" name="Text 75"/>
          <p:cNvSpPr txBox="1"/>
          <p:nvPr/>
        </p:nvSpPr>
        <p:spPr>
          <a:xfrm>
            <a:off x="8503006" y="3871570"/>
            <a:ext cx="1105510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보안 및 예외 처리</a:t>
            </a:r>
            <a:endParaRPr lang="en-US" sz="1100" dirty="0"/>
          </a:p>
        </p:txBody>
      </p:sp>
      <p:sp>
        <p:nvSpPr>
          <p:cNvPr id="81" name="Shape 76"/>
          <p:cNvSpPr/>
          <p:nvPr/>
        </p:nvSpPr>
        <p:spPr>
          <a:xfrm>
            <a:off x="8283550" y="4315054"/>
            <a:ext cx="190195" cy="190195"/>
          </a:xfrm>
          <a:prstGeom prst="ellipse">
            <a:avLst/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82" name="Image 3" descr="preencoded.png">    </p:cNvPr>
          <p:cNvPicPr>
            <a:picLocks noChangeAspect="1"/>
          </p:cNvPicPr>
          <p:nvPr/>
        </p:nvPicPr>
        <p:blipFill>
          <a:blip r:embed="rId4"/>
          <a:srcRect l="-2571" r="-2571" t="0" b="0"/>
          <a:stretch/>
        </p:blipFill>
        <p:spPr>
          <a:xfrm>
            <a:off x="8326526" y="4352544"/>
            <a:ext cx="105156" cy="114300"/>
          </a:xfrm>
          <a:prstGeom prst="rect">
            <a:avLst/>
          </a:prstGeom>
        </p:spPr>
      </p:pic>
      <p:sp>
        <p:nvSpPr>
          <p:cNvPr id="83" name="Text 77"/>
          <p:cNvSpPr txBox="1"/>
          <p:nvPr/>
        </p:nvSpPr>
        <p:spPr>
          <a:xfrm>
            <a:off x="8569757" y="4295851"/>
            <a:ext cx="3124505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로그인 실패 잠금:</a:t>
            </a:r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5회 연속 실패 시 10분간 계정 잠금 처리 (보안 정책 #SEC-002)</a:t>
            </a:r>
            <a:endParaRPr lang="en-US" sz="900" dirty="0"/>
          </a:p>
        </p:txBody>
      </p:sp>
      <p:sp>
        <p:nvSpPr>
          <p:cNvPr id="84" name="Shape 78"/>
          <p:cNvSpPr/>
          <p:nvPr/>
        </p:nvSpPr>
        <p:spPr>
          <a:xfrm>
            <a:off x="8283550" y="4800600"/>
            <a:ext cx="190195" cy="190195"/>
          </a:xfrm>
          <a:prstGeom prst="ellipse">
            <a:avLst/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85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-80" b="-80"/>
          <a:stretch/>
        </p:blipFill>
        <p:spPr>
          <a:xfrm>
            <a:off x="8307324" y="4839005"/>
            <a:ext cx="142646" cy="114300"/>
          </a:xfrm>
          <a:prstGeom prst="rect">
            <a:avLst/>
          </a:prstGeom>
        </p:spPr>
      </p:pic>
      <p:sp>
        <p:nvSpPr>
          <p:cNvPr id="86" name="Text 79"/>
          <p:cNvSpPr txBox="1"/>
          <p:nvPr/>
        </p:nvSpPr>
        <p:spPr>
          <a:xfrm>
            <a:off x="8569757" y="4781398"/>
            <a:ext cx="3124505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봇 방지:</a:t>
            </a:r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비정상적인 접근 패턴 감지 시 reCAPTCHA v3 챌린지 노출</a:t>
            </a:r>
            <a:endParaRPr lang="en-US" sz="900" dirty="0"/>
          </a:p>
        </p:txBody>
      </p:sp>
      <p:sp>
        <p:nvSpPr>
          <p:cNvPr id="87" name="Shape 80"/>
          <p:cNvSpPr/>
          <p:nvPr/>
        </p:nvSpPr>
        <p:spPr>
          <a:xfrm>
            <a:off x="8283550" y="5286146"/>
            <a:ext cx="190195" cy="190195"/>
          </a:xfrm>
          <a:prstGeom prst="ellipse">
            <a:avLst/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88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8321954" y="5324551"/>
            <a:ext cx="114300" cy="114300"/>
          </a:xfrm>
          <a:prstGeom prst="rect">
            <a:avLst/>
          </a:prstGeom>
        </p:spPr>
      </p:pic>
      <p:sp>
        <p:nvSpPr>
          <p:cNvPr id="89" name="Text 81"/>
          <p:cNvSpPr txBox="1"/>
          <p:nvPr/>
        </p:nvSpPr>
        <p:spPr>
          <a:xfrm>
            <a:off x="8569757" y="5266944"/>
            <a:ext cx="372709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서버 에러:</a:t>
            </a:r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500 등 시스템 오류 시 공통 토스트 메시지 출력</a:t>
            </a:r>
            <a:endParaRPr lang="en-US" sz="900" dirty="0"/>
          </a:p>
        </p:txBody>
      </p:sp>
      <p:sp>
        <p:nvSpPr>
          <p:cNvPr id="90" name="Shape 82"/>
          <p:cNvSpPr/>
          <p:nvPr/>
        </p:nvSpPr>
        <p:spPr>
          <a:xfrm>
            <a:off x="0" y="6476695"/>
            <a:ext cx="12191695" cy="38130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1" name="Shape 83"/>
          <p:cNvSpPr/>
          <p:nvPr/>
        </p:nvSpPr>
        <p:spPr>
          <a:xfrm>
            <a:off x="0" y="6476695"/>
            <a:ext cx="12191695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92" name="Text 84"/>
          <p:cNvSpPr txBox="1"/>
          <p:nvPr/>
        </p:nvSpPr>
        <p:spPr>
          <a:xfrm>
            <a:off x="381305" y="6586423"/>
            <a:ext cx="191658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B2B 파트너 입점 화면설계서 v0.9</a:t>
            </a:r>
            <a:endParaRPr lang="en-US" sz="900" dirty="0"/>
          </a:p>
        </p:txBody>
      </p:sp>
      <p:sp>
        <p:nvSpPr>
          <p:cNvPr id="93" name="Text 85"/>
          <p:cNvSpPr txBox="1"/>
          <p:nvPr/>
        </p:nvSpPr>
        <p:spPr>
          <a:xfrm>
            <a:off x="10761574" y="6586423"/>
            <a:ext cx="125821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L-01 Detailed Specs</a:t>
            </a:r>
            <a:endParaRPr lang="en-US" sz="900" dirty="0"/>
          </a:p>
        </p:txBody>
      </p:sp>
      <p:sp>
        <p:nvSpPr>
          <p:cNvPr id="94" name="Shape 86"/>
          <p:cNvSpPr/>
          <p:nvPr/>
        </p:nvSpPr>
        <p:spPr>
          <a:xfrm>
            <a:off x="0" y="0"/>
            <a:ext cx="12191695" cy="76169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5" name="Shape 87"/>
          <p:cNvSpPr/>
          <p:nvPr/>
        </p:nvSpPr>
        <p:spPr>
          <a:xfrm>
            <a:off x="0" y="752551"/>
            <a:ext cx="12191695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96" name="Shape 88"/>
          <p:cNvSpPr/>
          <p:nvPr/>
        </p:nvSpPr>
        <p:spPr>
          <a:xfrm>
            <a:off x="381305" y="237744"/>
            <a:ext cx="514807" cy="276149"/>
          </a:xfrm>
          <a:prstGeom prst="roundRect">
            <a:avLst>
              <a:gd name="adj" fmla="val 45672"/>
            </a:avLst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7" name="Text 89"/>
          <p:cNvSpPr txBox="1"/>
          <p:nvPr/>
        </p:nvSpPr>
        <p:spPr>
          <a:xfrm>
            <a:off x="381305" y="237744"/>
            <a:ext cx="571500" cy="2770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L-01</a:t>
            </a:r>
            <a:endParaRPr lang="en-US" sz="1000" dirty="0"/>
          </a:p>
        </p:txBody>
      </p:sp>
      <p:sp>
        <p:nvSpPr>
          <p:cNvPr id="98" name="Text 90"/>
          <p:cNvSpPr txBox="1"/>
          <p:nvPr/>
        </p:nvSpPr>
        <p:spPr>
          <a:xfrm>
            <a:off x="1038758" y="128930"/>
            <a:ext cx="243870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로그인 - 상세 사양</a:t>
            </a:r>
            <a:endParaRPr lang="en-US" sz="1800" dirty="0"/>
          </a:p>
        </p:txBody>
      </p:sp>
      <p:sp>
        <p:nvSpPr>
          <p:cNvPr id="99" name="Text 91"/>
          <p:cNvSpPr txBox="1"/>
          <p:nvPr/>
        </p:nvSpPr>
        <p:spPr>
          <a:xfrm>
            <a:off x="1038758" y="471830"/>
            <a:ext cx="281452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사용자 인증 및 계정 상태 확인을 위한 진입 화면</a:t>
            </a:r>
            <a:endParaRPr lang="en-US" sz="900" dirty="0"/>
          </a:p>
        </p:txBody>
      </p:sp>
      <p:sp>
        <p:nvSpPr>
          <p:cNvPr id="100" name="Shape 92"/>
          <p:cNvSpPr/>
          <p:nvPr/>
        </p:nvSpPr>
        <p:spPr>
          <a:xfrm>
            <a:off x="9795053" y="338328"/>
            <a:ext cx="75895" cy="75895"/>
          </a:xfrm>
          <a:prstGeom prst="ellipse">
            <a:avLst/>
          </a:prstGeom>
          <a:solidFill>
            <a:srgbClr val="EF444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1" name="Shape 93"/>
          <p:cNvSpPr/>
          <p:nvPr/>
        </p:nvSpPr>
        <p:spPr>
          <a:xfrm>
            <a:off x="10553090" y="338328"/>
            <a:ext cx="75895" cy="75895"/>
          </a:xfrm>
          <a:prstGeom prst="ellipse">
            <a:avLst/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2" name="Shape 94"/>
          <p:cNvSpPr/>
          <p:nvPr/>
        </p:nvSpPr>
        <p:spPr>
          <a:xfrm>
            <a:off x="11310214" y="338328"/>
            <a:ext cx="75895" cy="75895"/>
          </a:xfrm>
          <a:prstGeom prst="ellipse">
            <a:avLst/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5715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562356"/>
            <a:ext cx="12191695" cy="914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1305" y="142646"/>
            <a:ext cx="533095" cy="276149"/>
          </a:xfrm>
          <a:prstGeom prst="roundRect">
            <a:avLst>
              <a:gd name="adj" fmla="val 45672"/>
            </a:avLst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81305" y="142646"/>
            <a:ext cx="590702" cy="2770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L-02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026871" y="147218"/>
            <a:ext cx="36201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계정 상태 팝업 (Account Status Modal)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0092233" y="185623"/>
            <a:ext cx="184983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Popup / 480px Fixed Width </a:t>
            </a:r>
            <a:endParaRPr lang="en-US" sz="10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rcRect l="-837" r="-837" t="0" b="0"/>
          <a:stretch/>
        </p:blipFill>
        <p:spPr>
          <a:xfrm>
            <a:off x="9863633" y="212141"/>
            <a:ext cx="152705" cy="133502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0" y="571500"/>
            <a:ext cx="12191695" cy="5905195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rcRect l="-4" r="-4" t="0" b="0"/>
          <a:stretch/>
        </p:blipFill>
        <p:spPr>
          <a:xfrm>
            <a:off x="381305" y="857707"/>
            <a:ext cx="6191402" cy="5333695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43154" y="1019556"/>
            <a:ext cx="222016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Overlay (Dimmed #000 50%)</a:t>
            </a:r>
            <a:endParaRPr lang="en-US" sz="10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rcRect l="-4" r="-4" t="0" b="0"/>
          <a:stretch/>
        </p:blipFill>
        <p:spPr>
          <a:xfrm>
            <a:off x="1190549" y="1152144"/>
            <a:ext cx="4572000" cy="2151583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3172054" y="1457554"/>
            <a:ext cx="609905" cy="609905"/>
          </a:xfrm>
          <a:prstGeom prst="ellipse">
            <a:avLst/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rcRect l="-133" r="-133" t="0" b="0"/>
          <a:stretch/>
        </p:blipFill>
        <p:spPr>
          <a:xfrm>
            <a:off x="3390595" y="1647749"/>
            <a:ext cx="171907" cy="22860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399946" y="2219249"/>
            <a:ext cx="415320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가입 심사 진행 중입니다</a:t>
            </a:r>
            <a:endParaRPr lang="en-US" sz="1500" dirty="0"/>
          </a:p>
        </p:txBody>
      </p:sp>
      <p:sp>
        <p:nvSpPr>
          <p:cNvPr id="18" name="Text 12"/>
          <p:cNvSpPr txBox="1"/>
          <p:nvPr/>
        </p:nvSpPr>
        <p:spPr>
          <a:xfrm>
            <a:off x="1457554" y="2562149"/>
            <a:ext cx="403890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파트너님의 입점 신청이 접수되어 심사가 진행 중입니다.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영업일 기준 1~3일 소요되며, 결과는 이메일로 안내됩니다. </a:t>
            </a:r>
            <a:endParaRPr lang="en-US" sz="100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1609344" y="3357677"/>
            <a:ext cx="114300" cy="114300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1800454" y="3338474"/>
            <a:ext cx="2867558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추가 서류 요청이 있을 경우 담당자 이메일로 연락드립니다.</a:t>
            </a:r>
            <a:pPr algn="l" indent="0" marL="0">
              <a:buNone/>
            </a:pP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문의: partner_help@travel.com </a:t>
            </a:r>
            <a:endParaRPr lang="en-US" sz="900" dirty="0"/>
          </a:p>
        </p:txBody>
      </p:sp>
      <p:sp>
        <p:nvSpPr>
          <p:cNvPr id="21" name="Shape 14"/>
          <p:cNvSpPr/>
          <p:nvPr/>
        </p:nvSpPr>
        <p:spPr>
          <a:xfrm>
            <a:off x="1495044" y="3985870"/>
            <a:ext cx="3962095" cy="381305"/>
          </a:xfrm>
          <a:prstGeom prst="roundRect">
            <a:avLst>
              <a:gd name="adj" fmla="val 35971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-4" b="-4"/>
          <a:stretch/>
        </p:blipFill>
        <p:spPr>
          <a:xfrm>
            <a:off x="1190549" y="3589934"/>
            <a:ext cx="4572000" cy="2306117"/>
          </a:xfrm>
          <a:prstGeom prst="rect">
            <a:avLst/>
          </a:prstGeom>
        </p:spPr>
      </p:pic>
      <p:sp>
        <p:nvSpPr>
          <p:cNvPr id="23" name="Shape 15"/>
          <p:cNvSpPr/>
          <p:nvPr/>
        </p:nvSpPr>
        <p:spPr>
          <a:xfrm>
            <a:off x="3172054" y="3894430"/>
            <a:ext cx="609905" cy="609905"/>
          </a:xfrm>
          <a:prstGeom prst="ellipse">
            <a:avLst/>
          </a:prstGeom>
          <a:solidFill>
            <a:srgbClr val="FEF2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3362249" y="4085539"/>
            <a:ext cx="228600" cy="228600"/>
          </a:xfrm>
          <a:prstGeom prst="rect">
            <a:avLst/>
          </a:prstGeom>
        </p:spPr>
      </p:pic>
      <p:sp>
        <p:nvSpPr>
          <p:cNvPr id="25" name="Text 16"/>
          <p:cNvSpPr txBox="1"/>
          <p:nvPr/>
        </p:nvSpPr>
        <p:spPr>
          <a:xfrm>
            <a:off x="1399946" y="4657039"/>
            <a:ext cx="415320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가입이 반려되었습니다</a:t>
            </a:r>
            <a:endParaRPr lang="en-US" sz="1500" dirty="0"/>
          </a:p>
        </p:txBody>
      </p:sp>
      <p:sp>
        <p:nvSpPr>
          <p:cNvPr id="26" name="Text 17"/>
          <p:cNvSpPr txBox="1"/>
          <p:nvPr/>
        </p:nvSpPr>
        <p:spPr>
          <a:xfrm>
            <a:off x="1457554" y="4999939"/>
            <a:ext cx="4038905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제출하신 정보에 오류가 있거나 기준에 부합하지 않아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입점 승인이 거절되었습니다. </a:t>
            </a:r>
            <a:endParaRPr lang="en-US" sz="1000" dirty="0"/>
          </a:p>
        </p:txBody>
      </p:sp>
      <p:sp>
        <p:nvSpPr>
          <p:cNvPr id="27" name="Shape 18"/>
          <p:cNvSpPr/>
          <p:nvPr/>
        </p:nvSpPr>
        <p:spPr>
          <a:xfrm>
            <a:off x="1495044" y="5533034"/>
            <a:ext cx="3962095" cy="895198"/>
          </a:xfrm>
          <a:prstGeom prst="roundRect">
            <a:avLst>
              <a:gd name="adj" fmla="val 8693"/>
            </a:avLst>
          </a:prstGeom>
          <a:solidFill>
            <a:srgbClr val="FEF2F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8" name="Text 19"/>
          <p:cNvSpPr txBox="1"/>
          <p:nvPr/>
        </p:nvSpPr>
        <p:spPr>
          <a:xfrm>
            <a:off x="1657807" y="5694883"/>
            <a:ext cx="382950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B91C1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반려 사유</a:t>
            </a:r>
            <a:endParaRPr lang="en-US" sz="900" dirty="0"/>
          </a:p>
        </p:txBody>
      </p:sp>
      <p:sp>
        <p:nvSpPr>
          <p:cNvPr id="29" name="Text 20"/>
          <p:cNvSpPr txBox="1"/>
          <p:nvPr/>
        </p:nvSpPr>
        <p:spPr>
          <a:xfrm>
            <a:off x="1657807" y="5885993"/>
            <a:ext cx="3715207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사업자 등록증 사본의 식별이 불가능합니다.</a:t>
            </a:r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고해상도 이미지로 다시 업로드해주세요. </a:t>
            </a:r>
            <a:endParaRPr lang="en-US" sz="1000" dirty="0"/>
          </a:p>
        </p:txBody>
      </p:sp>
      <p:sp>
        <p:nvSpPr>
          <p:cNvPr id="30" name="Shape 21"/>
          <p:cNvSpPr/>
          <p:nvPr/>
        </p:nvSpPr>
        <p:spPr>
          <a:xfrm>
            <a:off x="1495044" y="6656832"/>
            <a:ext cx="1933956" cy="400507"/>
          </a:xfrm>
          <a:prstGeom prst="roundRect">
            <a:avLst>
              <a:gd name="adj" fmla="val 3261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1" name="Shape 22"/>
          <p:cNvSpPr/>
          <p:nvPr/>
        </p:nvSpPr>
        <p:spPr>
          <a:xfrm>
            <a:off x="3543300" y="6656832"/>
            <a:ext cx="1914754" cy="400507"/>
          </a:xfrm>
          <a:prstGeom prst="roundRect">
            <a:avLst>
              <a:gd name="adj" fmla="val 32616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Shape 23"/>
          <p:cNvSpPr/>
          <p:nvPr/>
        </p:nvSpPr>
        <p:spPr>
          <a:xfrm>
            <a:off x="6858000" y="857707"/>
            <a:ext cx="4953305" cy="5333695"/>
          </a:xfrm>
          <a:prstGeom prst="roundRect">
            <a:avLst>
              <a:gd name="adj" fmla="val 28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Shape 24"/>
          <p:cNvSpPr/>
          <p:nvPr/>
        </p:nvSpPr>
        <p:spPr>
          <a:xfrm>
            <a:off x="7095744" y="1419149"/>
            <a:ext cx="4476902" cy="19202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pic>
        <p:nvPicPr>
          <p:cNvPr id="34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7095744" y="1133856"/>
            <a:ext cx="152705" cy="152705"/>
          </a:xfrm>
          <a:prstGeom prst="rect">
            <a:avLst/>
          </a:prstGeom>
        </p:spPr>
      </p:pic>
      <p:sp>
        <p:nvSpPr>
          <p:cNvPr id="35" name="Text 25"/>
          <p:cNvSpPr txBox="1"/>
          <p:nvPr/>
        </p:nvSpPr>
        <p:spPr>
          <a:xfrm>
            <a:off x="7324344" y="1095451"/>
            <a:ext cx="211500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UI Description &amp; Interaction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095744" y="1533449"/>
          <a:ext cx="4476902" cy="4124858"/>
        </p:xfrm>
        <a:graphic>
          <a:graphicData uri="http://schemas.openxmlformats.org/drawingml/2006/table">
            <a:tbl>
              <a:tblPr/>
              <a:tblGrid>
                <a:gridCol w="895198"/>
                <a:gridCol w="1790395"/>
                <a:gridCol w="1790395"/>
              </a:tblGrid>
              <a:tr h="8249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b="1" dirty="0">
                          <a:solidFill>
                            <a:srgbClr val="64748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Element</a:t>
                      </a:r>
                      <a:endParaRPr lang="en-US" sz="97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5895" marR="75895" marT="75895" marB="75895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b="1" dirty="0">
                          <a:solidFill>
                            <a:srgbClr val="64748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Description</a:t>
                      </a:r>
                      <a:endParaRPr lang="en-US" sz="97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5895" marR="75895" marT="75895" marB="75895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b="1" dirty="0">
                          <a:solidFill>
                            <a:srgbClr val="64748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Rules / Interaction</a:t>
                      </a:r>
                      <a:endParaRPr lang="en-US" sz="97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5895" marR="75895" marT="75895" marB="75895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8249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</a:t>
                      </a:r>
                      <a:pPr indent="0" marL="0">
                        <a:buNone/>
                      </a:pP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3341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Layout</a:t>
                      </a:r>
                      <a:endParaRPr lang="en-US" sz="1200" dirty="0"/>
                    </a:p>
                  </a:txBody>
                  <a:tcPr marL="75895" marR="75895" marT="95098" marB="95098" anchor="t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3341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모달 컨테이너 (480px)</a:t>
                      </a:r>
                      <a:endParaRPr lang="en-US" sz="97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5895" marR="75895" marT="95098" marB="95098" anchor="t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3341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• Dimmed 배경 클릭 시 닫힘 불가</a:t>
                      </a:r>
                      <a:pPr indent="0" marL="0">
                        <a:buNone/>
                      </a:pP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3341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• 화면 중앙 정렬 (Fixed Center)</a:t>
                      </a:r>
                      <a:endParaRPr lang="en-US" sz="1200" dirty="0"/>
                    </a:p>
                  </a:txBody>
                  <a:tcPr marL="75895" marR="75895" marT="95098" marB="95098" anchor="t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49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</a:t>
                      </a:r>
                      <a:pPr indent="0" marL="0">
                        <a:buNone/>
                      </a:pP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3341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Confirm</a:t>
                      </a:r>
                      <a:endParaRPr lang="en-US" sz="1200" dirty="0"/>
                    </a:p>
                  </a:txBody>
                  <a:tcPr marL="75895" marR="75895" marT="95098" marB="95098" anchor="t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3341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확인 버튼 (심사중)</a:t>
                      </a:r>
                      <a:endParaRPr lang="en-US" sz="97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5895" marR="75895" marT="95098" marB="95098" anchor="t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3341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• 클릭 시 팝업 닫힘 &amp; 로그인 화면 유지</a:t>
                      </a:r>
                      <a:pPr indent="0" marL="0">
                        <a:buNone/>
                      </a:pP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3341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• 홈 화면 진입 불가</a:t>
                      </a:r>
                      <a:endParaRPr lang="en-US" sz="1200" dirty="0"/>
                    </a:p>
                  </a:txBody>
                  <a:tcPr marL="75895" marR="75895" marT="95098" marB="95098" anchor="t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49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</a:t>
                      </a:r>
                      <a:pPr indent="0" marL="0">
                        <a:buNone/>
                      </a:pP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3341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Reason</a:t>
                      </a:r>
                      <a:endParaRPr lang="en-US" sz="1200" dirty="0"/>
                    </a:p>
                  </a:txBody>
                  <a:tcPr marL="75895" marR="75895" marT="95098" marB="95098" anchor="t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3341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반려 사유 영역</a:t>
                      </a:r>
                      <a:endParaRPr lang="en-US" sz="97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5895" marR="75895" marT="95098" marB="95098" anchor="t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3341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• Status=Rejected 일 때만 노출</a:t>
                      </a:r>
                      <a:pPr indent="0" marL="0">
                        <a:buNone/>
                      </a:pP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3341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• 관리자가 입력한 텍스트 그대로 출력</a:t>
                      </a:r>
                      <a:pPr indent="0" marL="0">
                        <a:buNone/>
                      </a:pP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3341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• 내용 길 경우 스크롤 처리</a:t>
                      </a:r>
                      <a:endParaRPr lang="en-US" sz="1200" dirty="0"/>
                    </a:p>
                  </a:txBody>
                  <a:tcPr marL="75895" marR="75895" marT="95098" marB="95098" anchor="t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49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4</a:t>
                      </a:r>
                      <a:pPr indent="0" marL="0">
                        <a:buNone/>
                      </a:pP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3341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Action</a:t>
                      </a:r>
                      <a:endParaRPr lang="en-US" sz="1200" dirty="0"/>
                    </a:p>
                  </a:txBody>
                  <a:tcPr marL="75895" marR="75895" marT="95098" marB="95098" anchor="t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3341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재신청 / 닫기 버튼</a:t>
                      </a:r>
                      <a:endParaRPr lang="en-US" sz="97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5895" marR="75895" marT="95098" marB="95098" anchor="t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3341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• </a:t>
                      </a:r>
                      <a:pPr indent="0" marL="0">
                        <a:buNone/>
                      </a:pPr>
                      <a:r>
                        <a:rPr lang="en-US" sz="975" b="1" dirty="0">
                          <a:solidFill>
                            <a:srgbClr val="3341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재신청:</a:t>
                      </a:r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3341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 회원가입 S-02 단계로 이동 (기존 입력 데이터 로드)</a:t>
                      </a:r>
                      <a:pPr indent="0" marL="0">
                        <a:buNone/>
                      </a:pP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3341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• </a:t>
                      </a:r>
                      <a:pPr indent="0" marL="0">
                        <a:buNone/>
                      </a:pPr>
                      <a:r>
                        <a:rPr lang="en-US" sz="975" b="1" dirty="0">
                          <a:solidFill>
                            <a:srgbClr val="3341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닫기:</a:t>
                      </a:r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3341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 팝업 닫고 로그인 화면 유지</a:t>
                      </a:r>
                      <a:endParaRPr lang="en-US" sz="1200" dirty="0"/>
                    </a:p>
                  </a:txBody>
                  <a:tcPr marL="75895" marR="75895" marT="95098" marB="95098" anchor="t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7" name="Shape 26"/>
          <p:cNvSpPr/>
          <p:nvPr/>
        </p:nvSpPr>
        <p:spPr>
          <a:xfrm>
            <a:off x="7095744" y="6167628"/>
            <a:ext cx="4476902" cy="19202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pic>
        <p:nvPicPr>
          <p:cNvPr id="38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7095744" y="5881421"/>
            <a:ext cx="152705" cy="152705"/>
          </a:xfrm>
          <a:prstGeom prst="rect">
            <a:avLst/>
          </a:prstGeom>
        </p:spPr>
      </p:pic>
      <p:sp>
        <p:nvSpPr>
          <p:cNvPr id="39" name="Text 27"/>
          <p:cNvSpPr txBox="1"/>
          <p:nvPr/>
        </p:nvSpPr>
        <p:spPr>
          <a:xfrm>
            <a:off x="7324344" y="5843930"/>
            <a:ext cx="98115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Status Logic</a:t>
            </a:r>
            <a:endParaRPr lang="en-US" sz="1200" dirty="0"/>
          </a:p>
        </p:txBody>
      </p:sp>
      <p:sp>
        <p:nvSpPr>
          <p:cNvPr id="40" name="Shape 28"/>
          <p:cNvSpPr/>
          <p:nvPr/>
        </p:nvSpPr>
        <p:spPr>
          <a:xfrm>
            <a:off x="7095744" y="6281928"/>
            <a:ext cx="4476902" cy="743407"/>
          </a:xfrm>
          <a:prstGeom prst="roundRect">
            <a:avLst>
              <a:gd name="adj" fmla="val 6308"/>
            </a:avLst>
          </a:prstGeom>
          <a:solidFill>
            <a:srgbClr val="FFFB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1" name="Shape 29"/>
          <p:cNvSpPr/>
          <p:nvPr/>
        </p:nvSpPr>
        <p:spPr>
          <a:xfrm>
            <a:off x="7095744" y="6281928"/>
            <a:ext cx="38405" cy="743407"/>
          </a:xfrm>
          <a:prstGeom prst="roundRect">
            <a:avLst>
              <a:gd name="adj" fmla="val 122099"/>
            </a:avLst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42" name="Text 30"/>
          <p:cNvSpPr txBox="1"/>
          <p:nvPr/>
        </p:nvSpPr>
        <p:spPr>
          <a:xfrm>
            <a:off x="7248449" y="6405372"/>
            <a:ext cx="111465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B4530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Status: Pending</a:t>
            </a:r>
            <a:endParaRPr lang="en-US" sz="900" dirty="0"/>
          </a:p>
        </p:txBody>
      </p:sp>
      <p:sp>
        <p:nvSpPr>
          <p:cNvPr id="43" name="Text 31"/>
          <p:cNvSpPr txBox="1"/>
          <p:nvPr/>
        </p:nvSpPr>
        <p:spPr>
          <a:xfrm>
            <a:off x="8358530" y="6405372"/>
            <a:ext cx="118597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(심사 대기/진행 중)</a:t>
            </a:r>
            <a:endParaRPr lang="en-US" sz="900" dirty="0"/>
          </a:p>
        </p:txBody>
      </p:sp>
      <p:sp>
        <p:nvSpPr>
          <p:cNvPr id="44" name="Text 32"/>
          <p:cNvSpPr txBox="1"/>
          <p:nvPr/>
        </p:nvSpPr>
        <p:spPr>
          <a:xfrm>
            <a:off x="7248449" y="6596482"/>
            <a:ext cx="4277563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로그인은 성공했으나 관리자 승인이 완료되지 않은 상태. 보안을 위해 서비스 메인 기능 접근은 차단됨.</a:t>
            </a:r>
            <a:endParaRPr lang="en-US" sz="900" dirty="0"/>
          </a:p>
        </p:txBody>
      </p:sp>
      <p:sp>
        <p:nvSpPr>
          <p:cNvPr id="45" name="Shape 33"/>
          <p:cNvSpPr/>
          <p:nvPr/>
        </p:nvSpPr>
        <p:spPr>
          <a:xfrm>
            <a:off x="7095744" y="7138721"/>
            <a:ext cx="4476902" cy="743407"/>
          </a:xfrm>
          <a:prstGeom prst="roundRect">
            <a:avLst>
              <a:gd name="adj" fmla="val 6308"/>
            </a:avLst>
          </a:prstGeom>
          <a:solidFill>
            <a:srgbClr val="FEF2F2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6" name="Shape 34"/>
          <p:cNvSpPr/>
          <p:nvPr/>
        </p:nvSpPr>
        <p:spPr>
          <a:xfrm>
            <a:off x="7095744" y="7138721"/>
            <a:ext cx="38405" cy="743407"/>
          </a:xfrm>
          <a:prstGeom prst="roundRect">
            <a:avLst>
              <a:gd name="adj" fmla="val 122099"/>
            </a:avLst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47" name="Text 35"/>
          <p:cNvSpPr txBox="1"/>
          <p:nvPr/>
        </p:nvSpPr>
        <p:spPr>
          <a:xfrm>
            <a:off x="7248449" y="7263079"/>
            <a:ext cx="119146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B91C1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Status: Rejected</a:t>
            </a:r>
            <a:endParaRPr lang="en-US" sz="900" dirty="0"/>
          </a:p>
        </p:txBody>
      </p:sp>
      <p:sp>
        <p:nvSpPr>
          <p:cNvPr id="48" name="Text 36"/>
          <p:cNvSpPr txBox="1"/>
          <p:nvPr/>
        </p:nvSpPr>
        <p:spPr>
          <a:xfrm>
            <a:off x="8433511" y="7263079"/>
            <a:ext cx="68854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(승인 거절)</a:t>
            </a:r>
            <a:endParaRPr lang="en-US" sz="900" dirty="0"/>
          </a:p>
        </p:txBody>
      </p:sp>
      <p:sp>
        <p:nvSpPr>
          <p:cNvPr id="49" name="Text 37"/>
          <p:cNvSpPr txBox="1"/>
          <p:nvPr/>
        </p:nvSpPr>
        <p:spPr>
          <a:xfrm>
            <a:off x="7248449" y="7453274"/>
            <a:ext cx="4277563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서류 미비, 자격 불충분 등의 사유로 거절된 상태. 반려 사유를 확인하고 정보를 수정하여 재심사를 요청할 수 있음.</a:t>
            </a:r>
            <a:endParaRPr lang="en-US" sz="900" dirty="0"/>
          </a:p>
        </p:txBody>
      </p:sp>
      <p:sp>
        <p:nvSpPr>
          <p:cNvPr id="50" name="Shape 38"/>
          <p:cNvSpPr/>
          <p:nvPr/>
        </p:nvSpPr>
        <p:spPr>
          <a:xfrm>
            <a:off x="0" y="6476695"/>
            <a:ext cx="12191695" cy="38130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1" name="Shape 39"/>
          <p:cNvSpPr/>
          <p:nvPr/>
        </p:nvSpPr>
        <p:spPr>
          <a:xfrm>
            <a:off x="0" y="6476695"/>
            <a:ext cx="12191695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52" name="Text 40"/>
          <p:cNvSpPr txBox="1"/>
          <p:nvPr/>
        </p:nvSpPr>
        <p:spPr>
          <a:xfrm>
            <a:off x="381305" y="6586423"/>
            <a:ext cx="191749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B2B 파트너 입점 화면설계서 v0.9</a:t>
            </a:r>
            <a:endParaRPr lang="en-US" sz="900" dirty="0"/>
          </a:p>
        </p:txBody>
      </p:sp>
      <p:sp>
        <p:nvSpPr>
          <p:cNvPr id="53" name="Text 41"/>
          <p:cNvSpPr txBox="1"/>
          <p:nvPr/>
        </p:nvSpPr>
        <p:spPr>
          <a:xfrm>
            <a:off x="11330330" y="6586423"/>
            <a:ext cx="56235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Page 07</a:t>
            </a:r>
            <a:endParaRPr lang="en-US" sz="900" dirty="0"/>
          </a:p>
        </p:txBody>
      </p:sp>
      <p:sp>
        <p:nvSpPr>
          <p:cNvPr id="54" name="Shape 42"/>
          <p:cNvSpPr/>
          <p:nvPr/>
        </p:nvSpPr>
        <p:spPr>
          <a:xfrm>
            <a:off x="1190549" y="1152144"/>
            <a:ext cx="1561795" cy="247802"/>
          </a:xfrm>
          <a:prstGeom prst="roundRect">
            <a:avLst>
              <a:gd name="adj" fmla="val 85155"/>
            </a:avLst>
          </a:prstGeom>
          <a:solidFill>
            <a:srgbClr val="47556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5" name="Text 43"/>
          <p:cNvSpPr txBox="1"/>
          <p:nvPr/>
        </p:nvSpPr>
        <p:spPr>
          <a:xfrm>
            <a:off x="1190549" y="1152144"/>
            <a:ext cx="1624889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CASE 1: 심사중 (Pending)</a:t>
            </a:r>
            <a:endParaRPr lang="en-US" sz="900" dirty="0"/>
          </a:p>
        </p:txBody>
      </p:sp>
      <p:sp>
        <p:nvSpPr>
          <p:cNvPr id="56" name="Shape 44"/>
          <p:cNvSpPr/>
          <p:nvPr/>
        </p:nvSpPr>
        <p:spPr>
          <a:xfrm>
            <a:off x="1190549" y="3589934"/>
            <a:ext cx="1514246" cy="247802"/>
          </a:xfrm>
          <a:prstGeom prst="roundRect">
            <a:avLst>
              <a:gd name="adj" fmla="val 85155"/>
            </a:avLst>
          </a:prstGeom>
          <a:solidFill>
            <a:srgbClr val="47556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7" name="Text 45"/>
          <p:cNvSpPr txBox="1"/>
          <p:nvPr/>
        </p:nvSpPr>
        <p:spPr>
          <a:xfrm>
            <a:off x="1190549" y="3589934"/>
            <a:ext cx="1575511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CASE 2: 반려 (Rejected)</a:t>
            </a:r>
            <a:endParaRPr lang="en-US" sz="900" dirty="0"/>
          </a:p>
        </p:txBody>
      </p:sp>
      <p:sp>
        <p:nvSpPr>
          <p:cNvPr id="58" name="Text 46"/>
          <p:cNvSpPr txBox="1"/>
          <p:nvPr/>
        </p:nvSpPr>
        <p:spPr>
          <a:xfrm>
            <a:off x="1248156" y="1248156"/>
            <a:ext cx="305410" cy="228600"/>
          </a:xfrm>
          <a:prstGeom prst="rect">
            <a:avLst/>
          </a:prstGeom>
          <a:solidFill>
            <a:srgbClr val="EF4444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900" dirty="0"/>
          </a:p>
        </p:txBody>
      </p:sp>
      <p:sp>
        <p:nvSpPr>
          <p:cNvPr id="59" name="Text 47"/>
          <p:cNvSpPr txBox="1"/>
          <p:nvPr/>
        </p:nvSpPr>
        <p:spPr>
          <a:xfrm>
            <a:off x="5400446" y="4300423"/>
            <a:ext cx="305410" cy="228600"/>
          </a:xfrm>
          <a:prstGeom prst="rect">
            <a:avLst/>
          </a:prstGeom>
          <a:solidFill>
            <a:srgbClr val="EF4444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900" dirty="0"/>
          </a:p>
        </p:txBody>
      </p:sp>
      <p:sp>
        <p:nvSpPr>
          <p:cNvPr id="60" name="Text 48"/>
          <p:cNvSpPr txBox="1"/>
          <p:nvPr/>
        </p:nvSpPr>
        <p:spPr>
          <a:xfrm>
            <a:off x="5277002" y="5447081"/>
            <a:ext cx="305410" cy="228600"/>
          </a:xfrm>
          <a:prstGeom prst="rect">
            <a:avLst/>
          </a:prstGeom>
          <a:solidFill>
            <a:srgbClr val="EF4444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900" dirty="0"/>
          </a:p>
        </p:txBody>
      </p:sp>
      <p:sp>
        <p:nvSpPr>
          <p:cNvPr id="61" name="Text 49"/>
          <p:cNvSpPr txBox="1"/>
          <p:nvPr/>
        </p:nvSpPr>
        <p:spPr>
          <a:xfrm>
            <a:off x="5400446" y="6990588"/>
            <a:ext cx="305410" cy="228600"/>
          </a:xfrm>
          <a:prstGeom prst="rect">
            <a:avLst/>
          </a:prstGeom>
          <a:solidFill>
            <a:srgbClr val="EF4444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761695"/>
            <a:ext cx="12191695" cy="5715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81305" y="990295"/>
            <a:ext cx="7477049" cy="5257800"/>
          </a:xfrm>
          <a:prstGeom prst="roundRect">
            <a:avLst>
              <a:gd name="adj" fmla="val 25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90449" y="1000354"/>
            <a:ext cx="7457846" cy="428854"/>
          </a:xfrm>
          <a:prstGeom prst="roundRect">
            <a:avLst>
              <a:gd name="adj" fmla="val 37906"/>
            </a:avLst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390449" y="1420063"/>
            <a:ext cx="7457846" cy="9144"/>
          </a:xfrm>
          <a:prstGeom prst="roundRect">
            <a:avLst>
              <a:gd name="adj" fmla="val 1777778"/>
            </a:avLst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52551" y="1114654"/>
            <a:ext cx="118963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상태별 UI 구성요소</a:t>
            </a:r>
            <a:endParaRPr lang="en-US" sz="10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3154" y="1150315"/>
            <a:ext cx="133502" cy="133502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5917997" y="1133856"/>
            <a:ext cx="212049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* Trigger: 로그인 API 응답 status 값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390449" y="1429207"/>
            <a:ext cx="7457846" cy="65745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2" name="Shape 9"/>
          <p:cNvSpPr/>
          <p:nvPr/>
        </p:nvSpPr>
        <p:spPr>
          <a:xfrm>
            <a:off x="390449" y="2077517"/>
            <a:ext cx="7457846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62102" y="1543507"/>
            <a:ext cx="629107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961949" y="1543507"/>
            <a:ext cx="1390802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구성요소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2295144" y="1543507"/>
            <a:ext cx="1010412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유형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3247949" y="1543507"/>
            <a:ext cx="178308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조건/상태</a:t>
            </a:r>
            <a:endParaRPr lang="en-US" sz="900" dirty="0"/>
          </a:p>
        </p:txBody>
      </p:sp>
      <p:sp>
        <p:nvSpPr>
          <p:cNvPr id="17" name="Text 14"/>
          <p:cNvSpPr txBox="1"/>
          <p:nvPr/>
        </p:nvSpPr>
        <p:spPr>
          <a:xfrm>
            <a:off x="4962449" y="1543507"/>
            <a:ext cx="2962656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상세 설명 및 데이터 바인딩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390449" y="3129077"/>
            <a:ext cx="7457846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362102" y="2081174"/>
            <a:ext cx="629107" cy="1047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900" dirty="0"/>
          </a:p>
        </p:txBody>
      </p:sp>
      <p:sp>
        <p:nvSpPr>
          <p:cNvPr id="20" name="Text 17"/>
          <p:cNvSpPr txBox="1"/>
          <p:nvPr/>
        </p:nvSpPr>
        <p:spPr>
          <a:xfrm>
            <a:off x="961949" y="2081174"/>
            <a:ext cx="1390802" cy="1047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모달 컨테이너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2447849" y="2195474"/>
            <a:ext cx="466344" cy="200254"/>
          </a:xfrm>
          <a:prstGeom prst="roundRect">
            <a:avLst>
              <a:gd name="adj" fmla="val 86975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2447849" y="2195474"/>
            <a:ext cx="543154" cy="2002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Modal</a:t>
            </a:r>
            <a:endParaRPr lang="en-US" sz="800" dirty="0"/>
          </a:p>
        </p:txBody>
      </p:sp>
      <p:sp>
        <p:nvSpPr>
          <p:cNvPr id="23" name="Text 20"/>
          <p:cNvSpPr txBox="1"/>
          <p:nvPr/>
        </p:nvSpPr>
        <p:spPr>
          <a:xfrm>
            <a:off x="3247949" y="2081174"/>
            <a:ext cx="1783080" cy="1047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Common</a:t>
            </a:r>
            <a:endParaRPr lang="en-US" sz="900" dirty="0"/>
          </a:p>
        </p:txBody>
      </p:sp>
      <p:sp>
        <p:nvSpPr>
          <p:cNvPr id="24" name="Text 21"/>
          <p:cNvSpPr txBox="1"/>
          <p:nvPr/>
        </p:nvSpPr>
        <p:spPr>
          <a:xfrm>
            <a:off x="5115154" y="2195474"/>
            <a:ext cx="191566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Width: 560px, Center Align</a:t>
            </a:r>
            <a:endParaRPr lang="en-US" sz="900" dirty="0"/>
          </a:p>
        </p:txBody>
      </p:sp>
      <p:sp>
        <p:nvSpPr>
          <p:cNvPr id="25" name="Text 22"/>
          <p:cNvSpPr txBox="1"/>
          <p:nvPr/>
        </p:nvSpPr>
        <p:spPr>
          <a:xfrm>
            <a:off x="5115154" y="2419502"/>
            <a:ext cx="2658161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Back-drop(Dim) 적용, 외부 영역 클릭 시 닫히지 않음 (Blocking)</a:t>
            </a:r>
            <a:endParaRPr lang="en-US" sz="900" dirty="0"/>
          </a:p>
        </p:txBody>
      </p:sp>
      <p:sp>
        <p:nvSpPr>
          <p:cNvPr id="26" name="Text 23"/>
          <p:cNvSpPr txBox="1"/>
          <p:nvPr/>
        </p:nvSpPr>
        <p:spPr>
          <a:xfrm>
            <a:off x="5115154" y="2829154"/>
            <a:ext cx="273222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우측 상단 'X' 버튼: [닫기] 버튼과 동일 동작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390449" y="4186123"/>
            <a:ext cx="7457846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362102" y="3138221"/>
            <a:ext cx="629107" cy="1047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900" dirty="0"/>
          </a:p>
        </p:txBody>
      </p:sp>
      <p:sp>
        <p:nvSpPr>
          <p:cNvPr id="29" name="Text 26"/>
          <p:cNvSpPr txBox="1"/>
          <p:nvPr/>
        </p:nvSpPr>
        <p:spPr>
          <a:xfrm>
            <a:off x="961949" y="3138221"/>
            <a:ext cx="1390802" cy="1047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아이콘 / 타이틀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2447849" y="3252521"/>
            <a:ext cx="638251" cy="200254"/>
          </a:xfrm>
          <a:prstGeom prst="roundRect">
            <a:avLst>
              <a:gd name="adj" fmla="val 86975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2447849" y="3252521"/>
            <a:ext cx="715061" cy="2002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Text/Icon</a:t>
            </a:r>
            <a:endParaRPr lang="en-US" sz="800" dirty="0"/>
          </a:p>
        </p:txBody>
      </p:sp>
      <p:sp>
        <p:nvSpPr>
          <p:cNvPr id="32" name="Text 29"/>
          <p:cNvSpPr txBox="1"/>
          <p:nvPr/>
        </p:nvSpPr>
        <p:spPr>
          <a:xfrm>
            <a:off x="3400654" y="3252521"/>
            <a:ext cx="972007" cy="219456"/>
          </a:xfrm>
          <a:prstGeom prst="rect">
            <a:avLst/>
          </a:prstGeom>
          <a:solidFill>
            <a:srgbClr val="FFF7ED"/>
          </a:solidFill>
          <a:ln w="12700">
            <a:solidFill>
              <a:srgbClr val="FFEDD5"/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2410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Case A: 심사중</a:t>
            </a:r>
            <a:endParaRPr lang="en-US" sz="800" dirty="0"/>
          </a:p>
        </p:txBody>
      </p:sp>
      <p:sp>
        <p:nvSpPr>
          <p:cNvPr id="33" name="Text 30"/>
          <p:cNvSpPr txBox="1"/>
          <p:nvPr/>
        </p:nvSpPr>
        <p:spPr>
          <a:xfrm>
            <a:off x="3400654" y="3504895"/>
            <a:ext cx="972007" cy="219456"/>
          </a:xfrm>
          <a:prstGeom prst="rect">
            <a:avLst/>
          </a:prstGeom>
          <a:solidFill>
            <a:srgbClr val="FEF2F2"/>
          </a:solidFill>
          <a:ln w="12700">
            <a:solidFill>
              <a:srgbClr val="FEE2E2"/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B91C1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Case B: 반려</a:t>
            </a:r>
            <a:endParaRPr lang="en-US" sz="800" dirty="0"/>
          </a:p>
        </p:txBody>
      </p:sp>
      <p:sp>
        <p:nvSpPr>
          <p:cNvPr id="34" name="Text 31"/>
          <p:cNvSpPr txBox="1"/>
          <p:nvPr/>
        </p:nvSpPr>
        <p:spPr>
          <a:xfrm>
            <a:off x="5115154" y="3252521"/>
            <a:ext cx="2658161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[심사중]</a:t>
            </a:r>
            <a:pPr algn="l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시계 아이콘 + "가입 심사가 진행 중입니다"</a:t>
            </a:r>
            <a:endParaRPr lang="en-US" sz="900" dirty="0"/>
          </a:p>
        </p:txBody>
      </p:sp>
      <p:sp>
        <p:nvSpPr>
          <p:cNvPr id="35" name="Text 32"/>
          <p:cNvSpPr txBox="1"/>
          <p:nvPr/>
        </p:nvSpPr>
        <p:spPr>
          <a:xfrm>
            <a:off x="5115154" y="3700577"/>
            <a:ext cx="2658161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[반려]</a:t>
            </a:r>
            <a:pPr algn="l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경고 아이콘 + "가입 신청이 반려되었습니다"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>
            <a:off x="390449" y="5511089"/>
            <a:ext cx="7457846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362102" y="4196182"/>
            <a:ext cx="629107" cy="13149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900" dirty="0"/>
          </a:p>
        </p:txBody>
      </p:sp>
      <p:sp>
        <p:nvSpPr>
          <p:cNvPr id="38" name="Text 35"/>
          <p:cNvSpPr txBox="1"/>
          <p:nvPr/>
        </p:nvSpPr>
        <p:spPr>
          <a:xfrm>
            <a:off x="961949" y="4196182"/>
            <a:ext cx="1390802" cy="13149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본문 메시지</a:t>
            </a:r>
            <a:endParaRPr lang="en-US" sz="900" dirty="0"/>
          </a:p>
        </p:txBody>
      </p:sp>
      <p:sp>
        <p:nvSpPr>
          <p:cNvPr id="39" name="Shape 36"/>
          <p:cNvSpPr/>
          <p:nvPr/>
        </p:nvSpPr>
        <p:spPr>
          <a:xfrm>
            <a:off x="2447849" y="4310482"/>
            <a:ext cx="638251" cy="200254"/>
          </a:xfrm>
          <a:prstGeom prst="roundRect">
            <a:avLst>
              <a:gd name="adj" fmla="val 86975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2447849" y="4310482"/>
            <a:ext cx="715061" cy="2002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Text Area</a:t>
            </a:r>
            <a:endParaRPr lang="en-US" sz="800" dirty="0"/>
          </a:p>
        </p:txBody>
      </p:sp>
      <p:sp>
        <p:nvSpPr>
          <p:cNvPr id="41" name="Text 38"/>
          <p:cNvSpPr txBox="1"/>
          <p:nvPr/>
        </p:nvSpPr>
        <p:spPr>
          <a:xfrm>
            <a:off x="3400654" y="4310482"/>
            <a:ext cx="972007" cy="219456"/>
          </a:xfrm>
          <a:prstGeom prst="rect">
            <a:avLst/>
          </a:prstGeom>
          <a:solidFill>
            <a:srgbClr val="FFF7ED"/>
          </a:solidFill>
          <a:ln w="12700">
            <a:solidFill>
              <a:srgbClr val="FFEDD5"/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2410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Case A: 심사중</a:t>
            </a:r>
            <a:endParaRPr lang="en-US" sz="800" dirty="0"/>
          </a:p>
        </p:txBody>
      </p:sp>
      <p:sp>
        <p:nvSpPr>
          <p:cNvPr id="42" name="Text 39"/>
          <p:cNvSpPr txBox="1"/>
          <p:nvPr/>
        </p:nvSpPr>
        <p:spPr>
          <a:xfrm>
            <a:off x="3400654" y="4562856"/>
            <a:ext cx="972007" cy="219456"/>
          </a:xfrm>
          <a:prstGeom prst="rect">
            <a:avLst/>
          </a:prstGeom>
          <a:solidFill>
            <a:srgbClr val="FEF2F2"/>
          </a:solidFill>
          <a:ln w="12700">
            <a:solidFill>
              <a:srgbClr val="FEE2E2"/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B91C1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Case B: 반려</a:t>
            </a:r>
            <a:endParaRPr lang="en-US" sz="800" dirty="0"/>
          </a:p>
        </p:txBody>
      </p:sp>
      <p:sp>
        <p:nvSpPr>
          <p:cNvPr id="43" name="Text 40"/>
          <p:cNvSpPr txBox="1"/>
          <p:nvPr/>
        </p:nvSpPr>
        <p:spPr>
          <a:xfrm>
            <a:off x="5115154" y="4310482"/>
            <a:ext cx="277246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심사중 (정적 텍스트)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5115154" y="4500677"/>
            <a:ext cx="19202" cy="304495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5210251" y="4500677"/>
            <a:ext cx="2563063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"영업일 기준 1~3일 소요됩니다... 결과는 이메일로 안내됩니다."</a:t>
            </a:r>
            <a:endParaRPr lang="en-US" sz="900" dirty="0"/>
          </a:p>
        </p:txBody>
      </p:sp>
      <p:sp>
        <p:nvSpPr>
          <p:cNvPr id="46" name="Text 43"/>
          <p:cNvSpPr txBox="1"/>
          <p:nvPr/>
        </p:nvSpPr>
        <p:spPr>
          <a:xfrm>
            <a:off x="5115154" y="4881982"/>
            <a:ext cx="277246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반려 (동적 데이터)</a:t>
            </a:r>
            <a:endParaRPr lang="en-US" sz="900" dirty="0"/>
          </a:p>
        </p:txBody>
      </p:sp>
      <p:sp>
        <p:nvSpPr>
          <p:cNvPr id="47" name="Shape 44"/>
          <p:cNvSpPr/>
          <p:nvPr/>
        </p:nvSpPr>
        <p:spPr>
          <a:xfrm>
            <a:off x="5115154" y="5072177"/>
            <a:ext cx="19202" cy="323698"/>
          </a:xfrm>
          <a:prstGeom prst="rect">
            <a:avLst/>
          </a:prstGeom>
          <a:solidFill>
            <a:srgbClr val="FECACA"/>
          </a:solidFill>
          <a:ln w="12700">
            <a:solidFill>
              <a:srgbClr val="FECACA">
                <a:alpha val="0"/>
              </a:srgbClr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5210251" y="5072177"/>
            <a:ext cx="2563063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Server Response의 </a:t>
            </a:r>
            <a:pPr algn="l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rejection_reason</a:t>
            </a:r>
            <a:pPr algn="l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텍스트 노출</a:t>
            </a:r>
            <a:endParaRPr lang="en-US" sz="900" dirty="0"/>
          </a:p>
        </p:txBody>
      </p:sp>
      <p:sp>
        <p:nvSpPr>
          <p:cNvPr id="49" name="Text 46"/>
          <p:cNvSpPr txBox="1"/>
          <p:nvPr/>
        </p:nvSpPr>
        <p:spPr>
          <a:xfrm>
            <a:off x="362102" y="5519318"/>
            <a:ext cx="629107" cy="7242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900" dirty="0"/>
          </a:p>
        </p:txBody>
      </p:sp>
      <p:sp>
        <p:nvSpPr>
          <p:cNvPr id="50" name="Text 47"/>
          <p:cNvSpPr txBox="1"/>
          <p:nvPr/>
        </p:nvSpPr>
        <p:spPr>
          <a:xfrm>
            <a:off x="961949" y="5519318"/>
            <a:ext cx="1390802" cy="7242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하단 버튼</a:t>
            </a:r>
            <a:endParaRPr lang="en-US" sz="900" dirty="0"/>
          </a:p>
        </p:txBody>
      </p:sp>
      <p:sp>
        <p:nvSpPr>
          <p:cNvPr id="51" name="Shape 48"/>
          <p:cNvSpPr/>
          <p:nvPr/>
        </p:nvSpPr>
        <p:spPr>
          <a:xfrm>
            <a:off x="2447849" y="5633618"/>
            <a:ext cx="647395" cy="352044"/>
          </a:xfrm>
          <a:prstGeom prst="roundRect">
            <a:avLst>
              <a:gd name="adj" fmla="val 28080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2447849" y="5633618"/>
            <a:ext cx="705002" cy="3529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Button Group</a:t>
            </a:r>
            <a:endParaRPr lang="en-US" sz="800" dirty="0"/>
          </a:p>
        </p:txBody>
      </p:sp>
      <p:sp>
        <p:nvSpPr>
          <p:cNvPr id="53" name="Text 50"/>
          <p:cNvSpPr txBox="1"/>
          <p:nvPr/>
        </p:nvSpPr>
        <p:spPr>
          <a:xfrm>
            <a:off x="3400654" y="5633618"/>
            <a:ext cx="972007" cy="219456"/>
          </a:xfrm>
          <a:prstGeom prst="rect">
            <a:avLst/>
          </a:prstGeom>
          <a:solidFill>
            <a:srgbClr val="FFF7ED"/>
          </a:solidFill>
          <a:ln w="12700">
            <a:solidFill>
              <a:srgbClr val="FFEDD5"/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2410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Case A: 심사중</a:t>
            </a:r>
            <a:endParaRPr lang="en-US" sz="800" dirty="0"/>
          </a:p>
        </p:txBody>
      </p:sp>
      <p:sp>
        <p:nvSpPr>
          <p:cNvPr id="54" name="Text 51"/>
          <p:cNvSpPr txBox="1"/>
          <p:nvPr/>
        </p:nvSpPr>
        <p:spPr>
          <a:xfrm>
            <a:off x="3400654" y="5886907"/>
            <a:ext cx="972007" cy="219456"/>
          </a:xfrm>
          <a:prstGeom prst="rect">
            <a:avLst/>
          </a:prstGeom>
          <a:solidFill>
            <a:srgbClr val="FEF2F2"/>
          </a:solidFill>
          <a:ln w="12700">
            <a:solidFill>
              <a:srgbClr val="FEE2E2"/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B91C1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Case B: 반려</a:t>
            </a:r>
            <a:endParaRPr lang="en-US" sz="800" dirty="0"/>
          </a:p>
        </p:txBody>
      </p:sp>
      <p:sp>
        <p:nvSpPr>
          <p:cNvPr id="55" name="Text 52"/>
          <p:cNvSpPr txBox="1"/>
          <p:nvPr/>
        </p:nvSpPr>
        <p:spPr>
          <a:xfrm>
            <a:off x="5115154" y="5652821"/>
            <a:ext cx="5148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[심사중]</a:t>
            </a:r>
            <a:endParaRPr lang="en-US" sz="900" dirty="0"/>
          </a:p>
        </p:txBody>
      </p:sp>
      <p:sp>
        <p:nvSpPr>
          <p:cNvPr id="56" name="Shape 53"/>
          <p:cNvSpPr/>
          <p:nvPr/>
        </p:nvSpPr>
        <p:spPr>
          <a:xfrm>
            <a:off x="5516575" y="5633618"/>
            <a:ext cx="390449" cy="209398"/>
          </a:xfrm>
          <a:prstGeom prst="roundRect">
            <a:avLst>
              <a:gd name="adj" fmla="val 79396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7" name="Text 54"/>
          <p:cNvSpPr txBox="1"/>
          <p:nvPr/>
        </p:nvSpPr>
        <p:spPr>
          <a:xfrm>
            <a:off x="5115154" y="5939028"/>
            <a:ext cx="3813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[반려]</a:t>
            </a:r>
            <a:endParaRPr lang="en-US" sz="900" dirty="0"/>
          </a:p>
        </p:txBody>
      </p:sp>
      <p:sp>
        <p:nvSpPr>
          <p:cNvPr id="58" name="Shape 55"/>
          <p:cNvSpPr/>
          <p:nvPr/>
        </p:nvSpPr>
        <p:spPr>
          <a:xfrm>
            <a:off x="5411419" y="5928970"/>
            <a:ext cx="476402" cy="190195"/>
          </a:xfrm>
          <a:prstGeom prst="roundRect">
            <a:avLst>
              <a:gd name="adj" fmla="val 96154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9" name="Shape 56"/>
          <p:cNvSpPr/>
          <p:nvPr/>
        </p:nvSpPr>
        <p:spPr>
          <a:xfrm>
            <a:off x="5917997" y="5919826"/>
            <a:ext cx="390449" cy="209398"/>
          </a:xfrm>
          <a:prstGeom prst="roundRect">
            <a:avLst>
              <a:gd name="adj" fmla="val 79396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>
            <a:off x="8083296" y="990295"/>
            <a:ext cx="3733495" cy="3152851"/>
          </a:xfrm>
          <a:prstGeom prst="roundRect">
            <a:avLst>
              <a:gd name="adj" fmla="val 70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8283550" y="1485900"/>
            <a:ext cx="3333902" cy="19202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pic>
        <p:nvPicPr>
          <p:cNvPr id="62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556" b="-556"/>
          <a:stretch/>
        </p:blipFill>
        <p:spPr>
          <a:xfrm>
            <a:off x="8283550" y="1226210"/>
            <a:ext cx="123444" cy="142646"/>
          </a:xfrm>
          <a:prstGeom prst="rect">
            <a:avLst/>
          </a:prstGeom>
        </p:spPr>
      </p:pic>
      <p:sp>
        <p:nvSpPr>
          <p:cNvPr id="63" name="Text 59"/>
          <p:cNvSpPr txBox="1"/>
          <p:nvPr/>
        </p:nvSpPr>
        <p:spPr>
          <a:xfrm>
            <a:off x="8483803" y="1190549"/>
            <a:ext cx="2086661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Data Binding (API Response)</a:t>
            </a:r>
            <a:endParaRPr lang="en-US" sz="1100" dirty="0"/>
          </a:p>
        </p:txBody>
      </p:sp>
      <p:sp>
        <p:nvSpPr>
          <p:cNvPr id="64" name="Text 60"/>
          <p:cNvSpPr txBox="1"/>
          <p:nvPr/>
        </p:nvSpPr>
        <p:spPr>
          <a:xfrm>
            <a:off x="8283550" y="1614830"/>
            <a:ext cx="34482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Case A: Pending (심사중)</a:t>
            </a:r>
            <a:endParaRPr lang="en-US" sz="900" dirty="0"/>
          </a:p>
        </p:txBody>
      </p:sp>
      <p:sp>
        <p:nvSpPr>
          <p:cNvPr id="65" name="Shape 61"/>
          <p:cNvSpPr/>
          <p:nvPr/>
        </p:nvSpPr>
        <p:spPr>
          <a:xfrm>
            <a:off x="8283550" y="1805026"/>
            <a:ext cx="3333902" cy="914400"/>
          </a:xfrm>
          <a:prstGeom prst="roundRect">
            <a:avLst>
              <a:gd name="adj" fmla="val 6250"/>
            </a:avLst>
          </a:prstGeom>
          <a:solidFill>
            <a:srgbClr val="1E29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6" name="Text 62"/>
          <p:cNvSpPr txBox="1"/>
          <p:nvPr/>
        </p:nvSpPr>
        <p:spPr>
          <a:xfrm>
            <a:off x="8283550" y="1805026"/>
            <a:ext cx="3410712" cy="9144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{</a:t>
            </a:r>
            <a:pPr algn="l" indent="0" marL="0">
              <a:buNone/>
            </a:pP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"status"</a:t>
            </a:r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</a:t>
            </a:r>
            <a:pPr algn="l" indent="0" marL="0">
              <a:buNone/>
            </a:pPr>
            <a:r>
              <a:rPr lang="en-US" sz="900" dirty="0">
                <a:solidFill>
                  <a:srgbClr val="FCA5A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"PENDING"</a:t>
            </a:r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</a:t>
            </a:r>
            <a:pPr algn="l" indent="0" marL="0">
              <a:buNone/>
            </a:pP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"display_msg"</a:t>
            </a:r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</a:t>
            </a:r>
            <a:pPr algn="l" indent="0" marL="0">
              <a:buNone/>
            </a:pPr>
            <a:r>
              <a:rPr lang="en-US" sz="900" dirty="0">
                <a:solidFill>
                  <a:srgbClr val="FCA5A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"심사 진행 중입니다."</a:t>
            </a:r>
            <a:pPr algn="l" indent="0" marL="0">
              <a:buNone/>
            </a:pP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} </a:t>
            </a:r>
            <a:endParaRPr lang="en-US" sz="900" dirty="0"/>
          </a:p>
        </p:txBody>
      </p:sp>
      <p:sp>
        <p:nvSpPr>
          <p:cNvPr id="67" name="Text 63"/>
          <p:cNvSpPr txBox="1"/>
          <p:nvPr/>
        </p:nvSpPr>
        <p:spPr>
          <a:xfrm>
            <a:off x="8397850" y="2100377"/>
            <a:ext cx="52212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"status"</a:t>
            </a:r>
            <a:endParaRPr lang="en-US" sz="900" dirty="0"/>
          </a:p>
        </p:txBody>
      </p:sp>
      <p:sp>
        <p:nvSpPr>
          <p:cNvPr id="68" name="Text 64"/>
          <p:cNvSpPr txBox="1"/>
          <p:nvPr/>
        </p:nvSpPr>
        <p:spPr>
          <a:xfrm>
            <a:off x="8897112" y="2100377"/>
            <a:ext cx="68580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CA5A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"PENDING"</a:t>
            </a:r>
            <a:endParaRPr lang="en-US" sz="900" dirty="0"/>
          </a:p>
        </p:txBody>
      </p:sp>
      <p:sp>
        <p:nvSpPr>
          <p:cNvPr id="69" name="Text 65"/>
          <p:cNvSpPr txBox="1"/>
          <p:nvPr/>
        </p:nvSpPr>
        <p:spPr>
          <a:xfrm>
            <a:off x="8397850" y="2271370"/>
            <a:ext cx="893369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"display_msg"</a:t>
            </a:r>
            <a:endParaRPr lang="en-US" sz="900" dirty="0"/>
          </a:p>
        </p:txBody>
      </p:sp>
      <p:sp>
        <p:nvSpPr>
          <p:cNvPr id="70" name="Text 66"/>
          <p:cNvSpPr txBox="1"/>
          <p:nvPr/>
        </p:nvSpPr>
        <p:spPr>
          <a:xfrm>
            <a:off x="9228125" y="2271370"/>
            <a:ext cx="1269187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CA5A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"심사 진행 중입니다."</a:t>
            </a:r>
            <a:endParaRPr lang="en-US" sz="900" dirty="0"/>
          </a:p>
        </p:txBody>
      </p:sp>
      <p:sp>
        <p:nvSpPr>
          <p:cNvPr id="71" name="Text 67"/>
          <p:cNvSpPr txBox="1"/>
          <p:nvPr/>
        </p:nvSpPr>
        <p:spPr>
          <a:xfrm>
            <a:off x="8283550" y="2833726"/>
            <a:ext cx="34482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Case B: Rejected (반려)</a:t>
            </a:r>
            <a:endParaRPr lang="en-US" sz="900" dirty="0"/>
          </a:p>
        </p:txBody>
      </p:sp>
      <p:sp>
        <p:nvSpPr>
          <p:cNvPr id="72" name="Shape 68"/>
          <p:cNvSpPr/>
          <p:nvPr/>
        </p:nvSpPr>
        <p:spPr>
          <a:xfrm>
            <a:off x="8283550" y="3023921"/>
            <a:ext cx="3333902" cy="914400"/>
          </a:xfrm>
          <a:prstGeom prst="roundRect">
            <a:avLst>
              <a:gd name="adj" fmla="val 6250"/>
            </a:avLst>
          </a:prstGeom>
          <a:solidFill>
            <a:srgbClr val="1E29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3" name="Text 69"/>
          <p:cNvSpPr txBox="1"/>
          <p:nvPr/>
        </p:nvSpPr>
        <p:spPr>
          <a:xfrm>
            <a:off x="8283550" y="3023921"/>
            <a:ext cx="3410712" cy="9144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{</a:t>
            </a:r>
            <a:pPr algn="l" indent="0" marL="0">
              <a:buNone/>
            </a:pP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"status"</a:t>
            </a:r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</a:t>
            </a:r>
            <a:pPr algn="l" indent="0" marL="0">
              <a:buNone/>
            </a:pPr>
            <a:r>
              <a:rPr lang="en-US" sz="900" dirty="0">
                <a:solidFill>
                  <a:srgbClr val="FCA5A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"REJECTED"</a:t>
            </a:r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</a:t>
            </a:r>
            <a:pPr algn="l" indent="0" marL="0">
              <a:buNone/>
            </a:pP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"rejection_reason"</a:t>
            </a:r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</a:t>
            </a:r>
            <a:pPr algn="l" indent="0" marL="0">
              <a:buNone/>
            </a:pPr>
            <a:r>
              <a:rPr lang="en-US" sz="900" dirty="0">
                <a:solidFill>
                  <a:srgbClr val="FCA5A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"사업자등록증 식별 불가..."</a:t>
            </a:r>
            <a:pPr algn="l" indent="0" marL="0">
              <a:buNone/>
            </a:pP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} </a:t>
            </a:r>
            <a:endParaRPr lang="en-US" sz="900" dirty="0"/>
          </a:p>
        </p:txBody>
      </p:sp>
      <p:sp>
        <p:nvSpPr>
          <p:cNvPr id="74" name="Text 70"/>
          <p:cNvSpPr txBox="1"/>
          <p:nvPr/>
        </p:nvSpPr>
        <p:spPr>
          <a:xfrm>
            <a:off x="8397850" y="3319272"/>
            <a:ext cx="52212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"status"</a:t>
            </a:r>
            <a:endParaRPr lang="en-US" sz="900" dirty="0"/>
          </a:p>
        </p:txBody>
      </p:sp>
      <p:sp>
        <p:nvSpPr>
          <p:cNvPr id="75" name="Text 71"/>
          <p:cNvSpPr txBox="1"/>
          <p:nvPr/>
        </p:nvSpPr>
        <p:spPr>
          <a:xfrm>
            <a:off x="8897112" y="3319272"/>
            <a:ext cx="76261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CA5A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"REJECTED"</a:t>
            </a:r>
            <a:endParaRPr lang="en-US" sz="900" dirty="0"/>
          </a:p>
        </p:txBody>
      </p:sp>
      <p:sp>
        <p:nvSpPr>
          <p:cNvPr id="76" name="Text 72"/>
          <p:cNvSpPr txBox="1"/>
          <p:nvPr/>
        </p:nvSpPr>
        <p:spPr>
          <a:xfrm>
            <a:off x="8397850" y="3491179"/>
            <a:ext cx="120152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"rejection_reason"</a:t>
            </a:r>
            <a:endParaRPr lang="en-US" sz="900" dirty="0"/>
          </a:p>
        </p:txBody>
      </p:sp>
      <p:sp>
        <p:nvSpPr>
          <p:cNvPr id="77" name="Text 73"/>
          <p:cNvSpPr txBox="1"/>
          <p:nvPr/>
        </p:nvSpPr>
        <p:spPr>
          <a:xfrm>
            <a:off x="9464040" y="3491179"/>
            <a:ext cx="163769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CA5A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"사업자등록증 식별 불가..."</a:t>
            </a:r>
            <a:endParaRPr lang="en-US" sz="900" dirty="0"/>
          </a:p>
        </p:txBody>
      </p:sp>
      <p:sp>
        <p:nvSpPr>
          <p:cNvPr id="78" name="Shape 74"/>
          <p:cNvSpPr/>
          <p:nvPr/>
        </p:nvSpPr>
        <p:spPr>
          <a:xfrm>
            <a:off x="8083296" y="4328770"/>
            <a:ext cx="3733495" cy="2457907"/>
          </a:xfrm>
          <a:prstGeom prst="roundRect">
            <a:avLst>
              <a:gd name="adj" fmla="val 115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9" name="Shape 75"/>
          <p:cNvSpPr/>
          <p:nvPr/>
        </p:nvSpPr>
        <p:spPr>
          <a:xfrm>
            <a:off x="8283550" y="4824374"/>
            <a:ext cx="3333902" cy="19202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pic>
        <p:nvPicPr>
          <p:cNvPr id="80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-1861" b="-1861"/>
          <a:stretch/>
        </p:blipFill>
        <p:spPr>
          <a:xfrm>
            <a:off x="8283550" y="4564685"/>
            <a:ext cx="85954" cy="142646"/>
          </a:xfrm>
          <a:prstGeom prst="rect">
            <a:avLst/>
          </a:prstGeom>
        </p:spPr>
      </p:pic>
      <p:sp>
        <p:nvSpPr>
          <p:cNvPr id="81" name="Text 76"/>
          <p:cNvSpPr txBox="1"/>
          <p:nvPr/>
        </p:nvSpPr>
        <p:spPr>
          <a:xfrm>
            <a:off x="8445398" y="4529023"/>
            <a:ext cx="1753819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Button Interaction Flow</a:t>
            </a:r>
            <a:endParaRPr lang="en-US" sz="1100" dirty="0"/>
          </a:p>
        </p:txBody>
      </p:sp>
      <p:sp>
        <p:nvSpPr>
          <p:cNvPr id="82" name="Text 77"/>
          <p:cNvSpPr txBox="1"/>
          <p:nvPr/>
        </p:nvSpPr>
        <p:spPr>
          <a:xfrm>
            <a:off x="8283550" y="4953305"/>
            <a:ext cx="543154" cy="219456"/>
          </a:xfrm>
          <a:prstGeom prst="rect">
            <a:avLst/>
          </a:prstGeom>
          <a:solidFill>
            <a:srgbClr val="FFF7ED"/>
          </a:solidFill>
          <a:ln w="12700">
            <a:solidFill>
              <a:srgbClr val="FFEDD5"/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2410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심사중</a:t>
            </a:r>
            <a:endParaRPr lang="en-US" sz="800" dirty="0"/>
          </a:p>
        </p:txBody>
      </p:sp>
      <p:sp>
        <p:nvSpPr>
          <p:cNvPr id="83" name="Text 78"/>
          <p:cNvSpPr txBox="1"/>
          <p:nvPr/>
        </p:nvSpPr>
        <p:spPr>
          <a:xfrm>
            <a:off x="8845906" y="4965192"/>
            <a:ext cx="82753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확인 / 닫기</a:t>
            </a:r>
            <a:endParaRPr lang="en-US" sz="1000" dirty="0"/>
          </a:p>
        </p:txBody>
      </p:sp>
      <p:sp>
        <p:nvSpPr>
          <p:cNvPr id="84" name="Shape 79"/>
          <p:cNvSpPr/>
          <p:nvPr/>
        </p:nvSpPr>
        <p:spPr>
          <a:xfrm>
            <a:off x="8283550" y="5300777"/>
            <a:ext cx="75895" cy="75895"/>
          </a:xfrm>
          <a:prstGeom prst="ellipse">
            <a:avLst/>
          </a:prstGeom>
          <a:solidFill>
            <a:srgbClr val="D1D5D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5" name="Text 80"/>
          <p:cNvSpPr txBox="1"/>
          <p:nvPr/>
        </p:nvSpPr>
        <p:spPr>
          <a:xfrm>
            <a:off x="8473745" y="5243170"/>
            <a:ext cx="264170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로그인 화면(L-01) 상태 유지 (홈 접근 불가)</a:t>
            </a:r>
            <a:endParaRPr lang="en-US" sz="900" dirty="0"/>
          </a:p>
        </p:txBody>
      </p:sp>
      <p:sp>
        <p:nvSpPr>
          <p:cNvPr id="86" name="Text 81"/>
          <p:cNvSpPr txBox="1"/>
          <p:nvPr/>
        </p:nvSpPr>
        <p:spPr>
          <a:xfrm>
            <a:off x="8283550" y="5695798"/>
            <a:ext cx="438912" cy="219456"/>
          </a:xfrm>
          <a:prstGeom prst="rect">
            <a:avLst/>
          </a:prstGeom>
          <a:solidFill>
            <a:srgbClr val="FEF2F2"/>
          </a:solidFill>
          <a:ln w="12700">
            <a:solidFill>
              <a:srgbClr val="FEE2E2"/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B91C1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반려</a:t>
            </a:r>
            <a:endParaRPr lang="en-US" sz="800" dirty="0"/>
          </a:p>
        </p:txBody>
      </p:sp>
      <p:sp>
        <p:nvSpPr>
          <p:cNvPr id="87" name="Text 82"/>
          <p:cNvSpPr txBox="1"/>
          <p:nvPr/>
        </p:nvSpPr>
        <p:spPr>
          <a:xfrm>
            <a:off x="8740750" y="5707685"/>
            <a:ext cx="79735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재신청 하기</a:t>
            </a:r>
            <a:endParaRPr lang="en-US" sz="1000" dirty="0"/>
          </a:p>
        </p:txBody>
      </p:sp>
      <p:sp>
        <p:nvSpPr>
          <p:cNvPr id="88" name="Shape 83"/>
          <p:cNvSpPr/>
          <p:nvPr/>
        </p:nvSpPr>
        <p:spPr>
          <a:xfrm>
            <a:off x="8283550" y="6043270"/>
            <a:ext cx="75895" cy="75895"/>
          </a:xfrm>
          <a:prstGeom prst="ellipse">
            <a:avLst/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9" name="Text 84"/>
          <p:cNvSpPr txBox="1"/>
          <p:nvPr/>
        </p:nvSpPr>
        <p:spPr>
          <a:xfrm>
            <a:off x="8473745" y="5986577"/>
            <a:ext cx="257403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회원가입 정보 입력 화면(S-02)으로 이동</a:t>
            </a:r>
            <a:endParaRPr lang="en-US" sz="900" dirty="0"/>
          </a:p>
        </p:txBody>
      </p:sp>
      <p:sp>
        <p:nvSpPr>
          <p:cNvPr id="90" name="Shape 85"/>
          <p:cNvSpPr/>
          <p:nvPr/>
        </p:nvSpPr>
        <p:spPr>
          <a:xfrm>
            <a:off x="8283550" y="6344107"/>
            <a:ext cx="75895" cy="75895"/>
          </a:xfrm>
          <a:prstGeom prst="ellipse">
            <a:avLst/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1" name="Text 86"/>
          <p:cNvSpPr txBox="1"/>
          <p:nvPr/>
        </p:nvSpPr>
        <p:spPr>
          <a:xfrm>
            <a:off x="8473745" y="6286500"/>
            <a:ext cx="293796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기존 입력 데이터 Load &amp; 수정 가능 상태 전환</a:t>
            </a:r>
            <a:endParaRPr lang="en-US" sz="900" dirty="0"/>
          </a:p>
        </p:txBody>
      </p:sp>
      <p:sp>
        <p:nvSpPr>
          <p:cNvPr id="92" name="Shape 87"/>
          <p:cNvSpPr/>
          <p:nvPr/>
        </p:nvSpPr>
        <p:spPr>
          <a:xfrm>
            <a:off x="0" y="6476695"/>
            <a:ext cx="12191695" cy="38130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3" name="Shape 88"/>
          <p:cNvSpPr/>
          <p:nvPr/>
        </p:nvSpPr>
        <p:spPr>
          <a:xfrm>
            <a:off x="0" y="6476695"/>
            <a:ext cx="12191695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94" name="Text 89"/>
          <p:cNvSpPr txBox="1"/>
          <p:nvPr/>
        </p:nvSpPr>
        <p:spPr>
          <a:xfrm>
            <a:off x="381305" y="6586423"/>
            <a:ext cx="191658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B2B 파트너 입점 화면설계서 v0.9</a:t>
            </a:r>
            <a:endParaRPr lang="en-US" sz="900" dirty="0"/>
          </a:p>
        </p:txBody>
      </p:sp>
      <p:sp>
        <p:nvSpPr>
          <p:cNvPr id="95" name="Text 90"/>
          <p:cNvSpPr txBox="1"/>
          <p:nvPr/>
        </p:nvSpPr>
        <p:spPr>
          <a:xfrm>
            <a:off x="10761574" y="6586423"/>
            <a:ext cx="125821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L-02 Detailed Specs</a:t>
            </a:r>
            <a:endParaRPr lang="en-US" sz="900" dirty="0"/>
          </a:p>
        </p:txBody>
      </p:sp>
      <p:sp>
        <p:nvSpPr>
          <p:cNvPr id="96" name="Shape 91"/>
          <p:cNvSpPr/>
          <p:nvPr/>
        </p:nvSpPr>
        <p:spPr>
          <a:xfrm>
            <a:off x="0" y="0"/>
            <a:ext cx="12191695" cy="76169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7" name="Shape 92"/>
          <p:cNvSpPr/>
          <p:nvPr/>
        </p:nvSpPr>
        <p:spPr>
          <a:xfrm>
            <a:off x="0" y="752551"/>
            <a:ext cx="12191695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98" name="Shape 93"/>
          <p:cNvSpPr/>
          <p:nvPr/>
        </p:nvSpPr>
        <p:spPr>
          <a:xfrm>
            <a:off x="381305" y="237744"/>
            <a:ext cx="533095" cy="276149"/>
          </a:xfrm>
          <a:prstGeom prst="roundRect">
            <a:avLst>
              <a:gd name="adj" fmla="val 45672"/>
            </a:avLst>
          </a:prstGeom>
          <a:solidFill>
            <a:srgbClr val="F59E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9" name="Text 94"/>
          <p:cNvSpPr txBox="1"/>
          <p:nvPr/>
        </p:nvSpPr>
        <p:spPr>
          <a:xfrm>
            <a:off x="381305" y="237744"/>
            <a:ext cx="590702" cy="2770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L-02</a:t>
            </a:r>
            <a:endParaRPr lang="en-US" sz="1000" dirty="0"/>
          </a:p>
        </p:txBody>
      </p:sp>
      <p:sp>
        <p:nvSpPr>
          <p:cNvPr id="100" name="Text 95"/>
          <p:cNvSpPr txBox="1"/>
          <p:nvPr/>
        </p:nvSpPr>
        <p:spPr>
          <a:xfrm>
            <a:off x="1065276" y="128930"/>
            <a:ext cx="3309214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계정 상태 팝업 - 상세 사양</a:t>
            </a:r>
            <a:endParaRPr lang="en-US" sz="1800" dirty="0"/>
          </a:p>
        </p:txBody>
      </p:sp>
      <p:sp>
        <p:nvSpPr>
          <p:cNvPr id="101" name="Text 96"/>
          <p:cNvSpPr txBox="1"/>
          <p:nvPr/>
        </p:nvSpPr>
        <p:spPr>
          <a:xfrm>
            <a:off x="1065276" y="471830"/>
            <a:ext cx="351038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로그인 후 계정 상태(심사중/반려)에 따라 노출되는 안내 모달</a:t>
            </a:r>
            <a:endParaRPr lang="en-US" sz="900" dirty="0"/>
          </a:p>
        </p:txBody>
      </p:sp>
      <p:sp>
        <p:nvSpPr>
          <p:cNvPr id="102" name="Text 97"/>
          <p:cNvSpPr txBox="1"/>
          <p:nvPr/>
        </p:nvSpPr>
        <p:spPr>
          <a:xfrm>
            <a:off x="9679838" y="252374"/>
            <a:ext cx="1114654" cy="247802"/>
          </a:xfrm>
          <a:prstGeom prst="rect">
            <a:avLst/>
          </a:prstGeom>
          <a:noFill/>
          <a:ln w="12700">
            <a:solidFill>
              <a:srgbClr val="E5E7EB"/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심사중 (Pending)</a:t>
            </a:r>
            <a:endParaRPr lang="en-US" sz="900" dirty="0"/>
          </a:p>
        </p:txBody>
      </p:sp>
      <p:sp>
        <p:nvSpPr>
          <p:cNvPr id="103" name="Text 98"/>
          <p:cNvSpPr txBox="1"/>
          <p:nvPr/>
        </p:nvSpPr>
        <p:spPr>
          <a:xfrm>
            <a:off x="10842955" y="252374"/>
            <a:ext cx="1028700" cy="247802"/>
          </a:xfrm>
          <a:prstGeom prst="rect">
            <a:avLst/>
          </a:prstGeom>
          <a:solidFill>
            <a:srgbClr val="FEF2F2"/>
          </a:solidFill>
          <a:ln w="12700">
            <a:solidFill>
              <a:srgbClr val="FEE2E2"/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DC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반려 (Rejected)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71500"/>
            <a:ext cx="12191695" cy="5905195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81305" y="800100"/>
            <a:ext cx="4953305" cy="5447995"/>
          </a:xfrm>
          <a:prstGeom prst="roundRect">
            <a:avLst>
              <a:gd name="adj" fmla="val 426"/>
            </a:avLst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3" b="-3"/>
          <a:stretch/>
        </p:blipFill>
        <p:spPr>
          <a:xfrm>
            <a:off x="580644" y="1000354"/>
            <a:ext cx="4552798" cy="504840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80644" y="1000354"/>
            <a:ext cx="4552798" cy="267005"/>
          </a:xfrm>
          <a:prstGeom prst="roundRect">
            <a:avLst>
              <a:gd name="adj" fmla="val 97847"/>
            </a:avLst>
          </a:prstGeom>
          <a:solidFill>
            <a:srgbClr val="F1F5F9"/>
          </a:solidFill>
          <a:ln/>
        </p:spPr>
      </p:sp>
      <p:sp>
        <p:nvSpPr>
          <p:cNvPr id="8" name="Shape 5"/>
          <p:cNvSpPr/>
          <p:nvPr/>
        </p:nvSpPr>
        <p:spPr>
          <a:xfrm>
            <a:off x="580644" y="1258214"/>
            <a:ext cx="4552798" cy="9144"/>
          </a:xfrm>
          <a:prstGeom prst="roundRect">
            <a:avLst>
              <a:gd name="adj" fmla="val 2857143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94944" y="1090879"/>
            <a:ext cx="75895" cy="75895"/>
          </a:xfrm>
          <a:prstGeom prst="ellipse">
            <a:avLst/>
          </a:prstGeom>
          <a:solidFill>
            <a:srgbClr val="FCA5A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28446" y="1090879"/>
            <a:ext cx="75895" cy="75895"/>
          </a:xfrm>
          <a:prstGeom prst="ellipse">
            <a:avLst/>
          </a:prstGeom>
          <a:solidFill>
            <a:srgbClr val="FCD34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61949" y="1090879"/>
            <a:ext cx="75895" cy="75895"/>
          </a:xfrm>
          <a:prstGeom prst="ellipse">
            <a:avLst/>
          </a:prstGeom>
          <a:solidFill>
            <a:srgbClr val="86EFA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037844" y="1052474"/>
            <a:ext cx="403890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partner.travel.com/signup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933602" y="1552651"/>
            <a:ext cx="38487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파트너 회원가입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933602" y="1895551"/>
            <a:ext cx="38487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여행 비즈니스의 시작을 함께하세요.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2590495" y="2276856"/>
            <a:ext cx="190195" cy="75895"/>
          </a:xfrm>
          <a:prstGeom prst="roundRect">
            <a:avLst>
              <a:gd name="adj" fmla="val 602411"/>
            </a:avLst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2819095" y="2276856"/>
            <a:ext cx="75895" cy="75895"/>
          </a:xfrm>
          <a:prstGeom prst="ellipse">
            <a:avLst/>
          </a:prstGeom>
          <a:solidFill>
            <a:srgbClr val="E2E8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2933395" y="2276856"/>
            <a:ext cx="75895" cy="75895"/>
          </a:xfrm>
          <a:prstGeom prst="ellipse">
            <a:avLst/>
          </a:prstGeom>
          <a:solidFill>
            <a:srgbClr val="E2E8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047695" y="2276856"/>
            <a:ext cx="75895" cy="75895"/>
          </a:xfrm>
          <a:prstGeom prst="ellipse">
            <a:avLst/>
          </a:prstGeom>
          <a:solidFill>
            <a:srgbClr val="E2E8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028700" y="2790749"/>
            <a:ext cx="2915107" cy="342900"/>
          </a:xfrm>
          <a:prstGeom prst="roundRect">
            <a:avLst>
              <a:gd name="adj" fmla="val 4444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017874" y="2790749"/>
            <a:ext cx="676656" cy="342900"/>
          </a:xfrm>
          <a:prstGeom prst="roundRect">
            <a:avLst>
              <a:gd name="adj" fmla="val 2963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028700" y="3495751"/>
            <a:ext cx="3657600" cy="342900"/>
          </a:xfrm>
          <a:prstGeom prst="roundRect">
            <a:avLst>
              <a:gd name="adj" fmla="val 4444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028700" y="3877056"/>
            <a:ext cx="3771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영문, 숫자, 특수문자 중 2종 이상 조합 (8~64자)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1028700" y="4466844"/>
            <a:ext cx="3657600" cy="342900"/>
          </a:xfrm>
          <a:prstGeom prst="roundRect">
            <a:avLst>
              <a:gd name="adj" fmla="val 4444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1228954" y="4962449"/>
            <a:ext cx="222565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[선택] 이벤트 및 혜택 정보 수신 동의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1028700" y="5333695"/>
            <a:ext cx="3657600" cy="381305"/>
          </a:xfrm>
          <a:prstGeom prst="roundRect">
            <a:avLst>
              <a:gd name="adj" fmla="val 35971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985162" y="5924398"/>
            <a:ext cx="1398118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이미 계정이 있으신가요?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5562295" y="800100"/>
            <a:ext cx="6248095" cy="5447995"/>
          </a:xfrm>
          <a:prstGeom prst="roundRect">
            <a:avLst>
              <a:gd name="adj" fmla="val 35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5572354" y="809244"/>
            <a:ext cx="6229807" cy="533095"/>
          </a:xfrm>
          <a:prstGeom prst="roundRect">
            <a:avLst>
              <a:gd name="adj" fmla="val 36756"/>
            </a:avLst>
          </a:prstGeom>
          <a:solidFill>
            <a:srgbClr val="FFFFFF"/>
          </a:solidFill>
          <a:ln/>
        </p:spPr>
      </p:sp>
      <p:sp>
        <p:nvSpPr>
          <p:cNvPr id="29" name="Shape 26"/>
          <p:cNvSpPr/>
          <p:nvPr/>
        </p:nvSpPr>
        <p:spPr>
          <a:xfrm>
            <a:off x="5572354" y="1333195"/>
            <a:ext cx="6229807" cy="9144"/>
          </a:xfrm>
          <a:prstGeom prst="roundRect">
            <a:avLst>
              <a:gd name="adj" fmla="val 2142857"/>
            </a:avLst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6000293" y="961949"/>
            <a:ext cx="113111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상세 사양 및 정책</a:t>
            </a:r>
            <a:endParaRPr lang="en-US" sz="1100" dirty="0"/>
          </a:p>
        </p:txBody>
      </p:sp>
      <p:pic>
        <p:nvPicPr>
          <p:cNvPr id="31" name="Image 1" descr="preencoded.png">    </p:cNvPr>
          <p:cNvPicPr>
            <a:picLocks noChangeAspect="1"/>
          </p:cNvPicPr>
          <p:nvPr/>
        </p:nvPicPr>
        <p:blipFill>
          <a:blip r:embed="rId2"/>
          <a:srcRect l="-428" r="-428" t="0" b="0"/>
          <a:stretch/>
        </p:blipFill>
        <p:spPr>
          <a:xfrm>
            <a:off x="5762549" y="997610"/>
            <a:ext cx="161849" cy="142646"/>
          </a:xfrm>
          <a:prstGeom prst="rect">
            <a:avLst/>
          </a:prstGeom>
        </p:spPr>
      </p:pic>
      <p:sp>
        <p:nvSpPr>
          <p:cNvPr id="32" name="Text 28"/>
          <p:cNvSpPr txBox="1"/>
          <p:nvPr/>
        </p:nvSpPr>
        <p:spPr>
          <a:xfrm>
            <a:off x="9965131" y="993038"/>
            <a:ext cx="172455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Last Updated: 2026-02-02</a:t>
            </a:r>
            <a:endParaRPr lang="en-US" sz="9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72354" y="1338682"/>
          <a:ext cx="6229807" cy="4668012"/>
        </p:xfrm>
        <a:graphic>
          <a:graphicData uri="http://schemas.openxmlformats.org/drawingml/2006/table">
            <a:tbl>
              <a:tblPr/>
              <a:tblGrid>
                <a:gridCol w="1557223"/>
                <a:gridCol w="934517"/>
                <a:gridCol w="3738067"/>
              </a:tblGrid>
              <a:tr h="77800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b="1" dirty="0">
                          <a:solidFill>
                            <a:srgbClr val="64748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UI 요소 (Element)</a:t>
                      </a:r>
                      <a:endParaRPr lang="en-US" sz="97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705" marR="152705" marT="95098" marB="95098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b="1" dirty="0">
                          <a:solidFill>
                            <a:srgbClr val="64748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속성</a:t>
                      </a:r>
                      <a:endParaRPr lang="en-US" sz="97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705" marR="152705" marT="95098" marB="95098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b="1" dirty="0">
                          <a:solidFill>
                            <a:srgbClr val="64748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상세 설명 및 규칙 (Description &amp; Rules)</a:t>
                      </a:r>
                      <a:endParaRPr lang="en-US" sz="97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705" marR="152705" marT="95098" marB="95098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77800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</a:t>
                      </a:r>
                      <a:pPr indent="0" marL="0">
                        <a:buNone/>
                      </a:pP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3341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이메일</a:t>
                      </a:r>
                      <a:endParaRPr lang="en-US" sz="1200" dirty="0"/>
                    </a:p>
                  </a:txBody>
                  <a:tcPr marL="152705" marR="152705" marT="114300" marB="114300" anchor="t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5" b="1" dirty="0">
                          <a:solidFill>
                            <a:srgbClr val="991B1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필수</a:t>
                      </a:r>
                      <a:endParaRPr lang="en-US" sz="1200" dirty="0"/>
                    </a:p>
                  </a:txBody>
                  <a:tcPr marL="152705" marR="152705" marT="114300" marB="114300" anchor="t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b="1" dirty="0">
                          <a:solidFill>
                            <a:srgbClr val="3341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형식:</a:t>
                      </a:r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3341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 표준 이메일 형식 (RFC 5322)</a:t>
                      </a:r>
                      <a:pPr indent="0" marL="0">
                        <a:spcAft>
                          <a:spcPts val="300"/>
                        </a:spcAft>
                        <a:buNone/>
                      </a:pP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975" b="1" dirty="0">
                          <a:solidFill>
                            <a:srgbClr val="3341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Action:</a:t>
                      </a:r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3341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 '중복확인' 버튼 클릭 시 API 호출</a:t>
                      </a:r>
                      <a:pPr indent="0" marL="0">
                        <a:spcAft>
                          <a:spcPts val="300"/>
                        </a:spcAft>
                        <a:buNone/>
                      </a:pP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성공: "사용 가능한 이메일입니다." (Green)</a:t>
                      </a:r>
                      <a:pPr indent="0" marL="0">
                        <a:buNone/>
                      </a:pP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중복: "이미 가입된 이메일입니다." (Red)</a:t>
                      </a:r>
                      <a:pPr indent="0" marL="0">
                        <a:spcBef>
                          <a:spcPts val="150"/>
                        </a:spcBef>
                        <a:buNone/>
                      </a:pP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형식오류: "올바른 이메일 형식이 아닙니다." (Red)</a:t>
                      </a:r>
                      <a:endParaRPr lang="en-US" sz="1200" dirty="0"/>
                    </a:p>
                  </a:txBody>
                  <a:tcPr marL="152705" marR="152705" marT="114300" marB="114300" anchor="t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800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</a:t>
                      </a:r>
                      <a:pPr indent="0" marL="0">
                        <a:buNone/>
                      </a:pP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3341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비밀번호</a:t>
                      </a:r>
                      <a:endParaRPr lang="en-US" sz="1200" dirty="0"/>
                    </a:p>
                  </a:txBody>
                  <a:tcPr marL="152705" marR="152705" marT="114300" marB="114300" anchor="t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5" b="1" dirty="0">
                          <a:solidFill>
                            <a:srgbClr val="991B1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필수</a:t>
                      </a:r>
                      <a:endParaRPr lang="en-US" sz="1200" dirty="0"/>
                    </a:p>
                  </a:txBody>
                  <a:tcPr marL="152705" marR="152705" marT="114300" marB="114300" anchor="t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b="1" dirty="0">
                          <a:solidFill>
                            <a:srgbClr val="3341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규칙:</a:t>
                      </a:r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3341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 8~64자. 영문 대/소문자, 숫자, 특수문자 중 2가지 이상 조합.</a:t>
                      </a:r>
                      <a:pPr indent="0" marL="0">
                        <a:spcAft>
                          <a:spcPts val="300"/>
                        </a:spcAft>
                        <a:buNone/>
                      </a:pP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보안 등급(Strong/Weak) 시각적 피드백 제공 권장.</a:t>
                      </a:r>
                      <a:endParaRPr lang="en-US" sz="1200" dirty="0"/>
                    </a:p>
                  </a:txBody>
                  <a:tcPr marL="152705" marR="152705" marT="114300" marB="114300" anchor="t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800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</a:t>
                      </a:r>
                      <a:pPr indent="0" marL="0">
                        <a:buNone/>
                      </a:pP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3341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비밀번호 확인</a:t>
                      </a:r>
                      <a:endParaRPr lang="en-US" sz="1200" dirty="0"/>
                    </a:p>
                  </a:txBody>
                  <a:tcPr marL="152705" marR="152705" marT="114300" marB="114300" anchor="t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5" b="1" dirty="0">
                          <a:solidFill>
                            <a:srgbClr val="991B1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필수</a:t>
                      </a:r>
                      <a:endParaRPr lang="en-US" sz="1200" dirty="0"/>
                    </a:p>
                  </a:txBody>
                  <a:tcPr marL="152705" marR="152705" marT="114300" marB="114300" anchor="t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b="1" dirty="0">
                          <a:solidFill>
                            <a:srgbClr val="3341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Validation:</a:t>
                      </a:r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3341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 비밀번호 필드 값과 일치 여부 실시간 검사.</a:t>
                      </a:r>
                      <a:pPr indent="0" marL="0">
                        <a:spcAft>
                          <a:spcPts val="300"/>
                        </a:spcAft>
                        <a:buNone/>
                      </a:pP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F444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불일치 시: "비밀번호가 일치하지 않습니다." 에러 메시지 노출.</a:t>
                      </a:r>
                      <a:endParaRPr lang="en-US" sz="1200" dirty="0"/>
                    </a:p>
                  </a:txBody>
                  <a:tcPr marL="152705" marR="152705" marT="114300" marB="114300" anchor="t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800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4</a:t>
                      </a:r>
                      <a:pPr indent="0" marL="0">
                        <a:buNone/>
                      </a:pP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3341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마케팅 수신</a:t>
                      </a:r>
                      <a:endParaRPr lang="en-US" sz="1200" dirty="0"/>
                    </a:p>
                  </a:txBody>
                  <a:tcPr marL="152705" marR="152705" marT="114300" marB="114300" anchor="t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5" b="1" dirty="0">
                          <a:solidFill>
                            <a:srgbClr val="64748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선택</a:t>
                      </a:r>
                      <a:endParaRPr lang="en-US" sz="1200" dirty="0"/>
                    </a:p>
                  </a:txBody>
                  <a:tcPr marL="152705" marR="152705" marT="114300" marB="114300" anchor="t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3341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체크 시 마케팅 정보 수신 동의로 처리 (DB: </a:t>
                      </a:r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334155"/>
                          </a:solidFill>
                          <a:latin typeface="ui-monospace" pitchFamily="34" charset="0"/>
                          <a:ea typeface="ui-monospace" pitchFamily="34" charset="-122"/>
                          <a:cs typeface="ui-monospace" pitchFamily="34" charset="-120"/>
                        </a:rPr>
                        <a:t>marketing_agreed = true</a:t>
                      </a:r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3341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)</a:t>
                      </a:r>
                      <a:endParaRPr lang="en-US" sz="1200" dirty="0"/>
                    </a:p>
                  </a:txBody>
                  <a:tcPr marL="152705" marR="152705" marT="114300" marB="114300" anchor="t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800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5</a:t>
                      </a:r>
                      <a:pPr indent="0" marL="0">
                        <a:buNone/>
                      </a:pP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1D4ED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다음 단계로</a:t>
                      </a:r>
                      <a:endParaRPr lang="en-US" sz="1200" dirty="0"/>
                    </a:p>
                  </a:txBody>
                  <a:tcPr marL="152705" marR="152705" marT="114300" marB="114300" anchor="t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5" b="1" dirty="0">
                          <a:solidFill>
                            <a:srgbClr val="4338C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Button</a:t>
                      </a:r>
                      <a:endParaRPr lang="en-US" sz="1200" dirty="0"/>
                    </a:p>
                  </a:txBody>
                  <a:tcPr marL="152705" marR="152705" marT="114300" marB="114300" anchor="t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b="1" dirty="0">
                          <a:solidFill>
                            <a:srgbClr val="1E40A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전환 조건 (Transition)</a:t>
                      </a:r>
                      <a:pPr indent="0" marL="0">
                        <a:spcAft>
                          <a:spcPts val="300"/>
                        </a:spcAft>
                        <a:buNone/>
                      </a:pP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3341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모든 필수 항목 유효성 검증 통과 및 이메일 중복 확인 완료 시 활성화.</a:t>
                      </a:r>
                      <a:pPr indent="0" marL="0">
                        <a:spcAft>
                          <a:spcPts val="300"/>
                        </a:spcAft>
                        <a:buNone/>
                      </a:pP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3341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클릭 시 </a:t>
                      </a:r>
                      <a:pPr indent="0" marL="0">
                        <a:buNone/>
                      </a:pPr>
                      <a:r>
                        <a:rPr lang="en-US" sz="975" b="1" dirty="0">
                          <a:solidFill>
                            <a:srgbClr val="3341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S-02 회사 기본정보</a:t>
                      </a:r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3341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 화면으로 이동.</a:t>
                      </a:r>
                      <a:endParaRPr lang="en-US" sz="1200" dirty="0"/>
                    </a:p>
                  </a:txBody>
                  <a:tcPr marL="152705" marR="152705" marT="114300" marB="114300" anchor="t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</a:tr>
            </a:tbl>
          </a:graphicData>
        </a:graphic>
      </p:graphicFrame>
      <p:sp>
        <p:nvSpPr>
          <p:cNvPr id="34" name="Shape 29"/>
          <p:cNvSpPr/>
          <p:nvPr/>
        </p:nvSpPr>
        <p:spPr>
          <a:xfrm>
            <a:off x="5572354" y="6005779"/>
            <a:ext cx="6229807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35" name="Text 30"/>
          <p:cNvSpPr txBox="1"/>
          <p:nvPr/>
        </p:nvSpPr>
        <p:spPr>
          <a:xfrm>
            <a:off x="5971946" y="6205118"/>
            <a:ext cx="57534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예외 처리 (Exception)</a:t>
            </a:r>
            <a:endParaRPr lang="en-US" sz="1000" dirty="0"/>
          </a:p>
        </p:txBody>
      </p:sp>
      <p:pic>
        <p:nvPicPr>
          <p:cNvPr id="36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762549" y="6231636"/>
            <a:ext cx="133502" cy="133502"/>
          </a:xfrm>
          <a:prstGeom prst="rect">
            <a:avLst/>
          </a:prstGeom>
        </p:spPr>
      </p:pic>
      <p:sp>
        <p:nvSpPr>
          <p:cNvPr id="37" name="Text 31"/>
          <p:cNvSpPr txBox="1"/>
          <p:nvPr/>
        </p:nvSpPr>
        <p:spPr>
          <a:xfrm>
            <a:off x="5762549" y="6472123"/>
            <a:ext cx="648675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</a:t>
            </a:r>
            <a:pPr algn="l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네트워크 오류:</a:t>
            </a:r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중복 확인 중 타임아웃 발생 시 "일시적인 오류입니다. 잠시 후 다시 시도해주세요." 토스트 노출.</a:t>
            </a:r>
            <a:endParaRPr lang="en-US" sz="900" dirty="0"/>
          </a:p>
        </p:txBody>
      </p:sp>
      <p:sp>
        <p:nvSpPr>
          <p:cNvPr id="38" name="Text 32"/>
          <p:cNvSpPr txBox="1"/>
          <p:nvPr/>
        </p:nvSpPr>
        <p:spPr>
          <a:xfrm>
            <a:off x="5762549" y="6662318"/>
            <a:ext cx="645932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</a:t>
            </a:r>
            <a:pPr algn="l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이메일 인증:</a:t>
            </a:r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현재 단계에서는 메일 발송 없음 (추후 S-09 완료 후 발송되거나, 2단계 인증 도입 시 변경 가능).</a:t>
            </a:r>
            <a:endParaRPr lang="en-US" sz="900" dirty="0"/>
          </a:p>
        </p:txBody>
      </p:sp>
      <p:sp>
        <p:nvSpPr>
          <p:cNvPr id="39" name="Shape 33"/>
          <p:cNvSpPr/>
          <p:nvPr/>
        </p:nvSpPr>
        <p:spPr>
          <a:xfrm>
            <a:off x="0" y="6476695"/>
            <a:ext cx="12191695" cy="38130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0" name="Shape 34"/>
          <p:cNvSpPr/>
          <p:nvPr/>
        </p:nvSpPr>
        <p:spPr>
          <a:xfrm>
            <a:off x="0" y="6476695"/>
            <a:ext cx="12191695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41" name="Text 35"/>
          <p:cNvSpPr txBox="1"/>
          <p:nvPr/>
        </p:nvSpPr>
        <p:spPr>
          <a:xfrm>
            <a:off x="381305" y="6586423"/>
            <a:ext cx="191749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B2B 파트너 입점 화면설계서 v0.9</a:t>
            </a:r>
            <a:endParaRPr lang="en-US" sz="900" dirty="0"/>
          </a:p>
        </p:txBody>
      </p:sp>
      <p:sp>
        <p:nvSpPr>
          <p:cNvPr id="42" name="Text 36"/>
          <p:cNvSpPr txBox="1"/>
          <p:nvPr/>
        </p:nvSpPr>
        <p:spPr>
          <a:xfrm>
            <a:off x="11330330" y="6586423"/>
            <a:ext cx="56235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Page 09</a:t>
            </a:r>
            <a:endParaRPr lang="en-US" sz="900" dirty="0"/>
          </a:p>
        </p:txBody>
      </p:sp>
      <p:sp>
        <p:nvSpPr>
          <p:cNvPr id="43" name="Shape 37"/>
          <p:cNvSpPr/>
          <p:nvPr/>
        </p:nvSpPr>
        <p:spPr>
          <a:xfrm>
            <a:off x="0" y="0"/>
            <a:ext cx="12191695" cy="571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4" name="Shape 38"/>
          <p:cNvSpPr/>
          <p:nvPr/>
        </p:nvSpPr>
        <p:spPr>
          <a:xfrm>
            <a:off x="0" y="562356"/>
            <a:ext cx="12191695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45" name="Shape 39"/>
          <p:cNvSpPr/>
          <p:nvPr/>
        </p:nvSpPr>
        <p:spPr>
          <a:xfrm>
            <a:off x="381305" y="142646"/>
            <a:ext cx="495605" cy="276149"/>
          </a:xfrm>
          <a:prstGeom prst="roundRect">
            <a:avLst>
              <a:gd name="adj" fmla="val 68509"/>
            </a:avLst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6" name="Text 40"/>
          <p:cNvSpPr txBox="1"/>
          <p:nvPr/>
        </p:nvSpPr>
        <p:spPr>
          <a:xfrm>
            <a:off x="381305" y="142646"/>
            <a:ext cx="553212" cy="2770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40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S-01</a:t>
            </a:r>
            <a:endParaRPr lang="en-US" sz="1000" dirty="0"/>
          </a:p>
        </p:txBody>
      </p:sp>
      <p:sp>
        <p:nvSpPr>
          <p:cNvPr id="47" name="Text 41"/>
          <p:cNvSpPr txBox="1"/>
          <p:nvPr/>
        </p:nvSpPr>
        <p:spPr>
          <a:xfrm>
            <a:off x="1021385" y="152705"/>
            <a:ext cx="2012594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가입 시작 / 계정 생성</a:t>
            </a:r>
            <a:endParaRPr lang="en-US" sz="1300" dirty="0"/>
          </a:p>
        </p:txBody>
      </p:sp>
      <p:sp>
        <p:nvSpPr>
          <p:cNvPr id="48" name="Text 42"/>
          <p:cNvSpPr txBox="1"/>
          <p:nvPr/>
        </p:nvSpPr>
        <p:spPr>
          <a:xfrm>
            <a:off x="10494569" y="204826"/>
            <a:ext cx="63825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반응형 지원</a:t>
            </a:r>
            <a:endParaRPr lang="en-US" sz="900" dirty="0"/>
          </a:p>
        </p:txBody>
      </p:sp>
      <p:pic>
        <p:nvPicPr>
          <p:cNvPr id="49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10341864" y="224028"/>
            <a:ext cx="114300" cy="114300"/>
          </a:xfrm>
          <a:prstGeom prst="rect">
            <a:avLst/>
          </a:prstGeom>
        </p:spPr>
      </p:pic>
      <p:sp>
        <p:nvSpPr>
          <p:cNvPr id="50" name="Text 43"/>
          <p:cNvSpPr txBox="1"/>
          <p:nvPr/>
        </p:nvSpPr>
        <p:spPr>
          <a:xfrm>
            <a:off x="11357762" y="204826"/>
            <a:ext cx="53309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SSL 적용</a:t>
            </a:r>
            <a:endParaRPr lang="en-US" sz="900" dirty="0"/>
          </a:p>
        </p:txBody>
      </p:sp>
      <p:pic>
        <p:nvPicPr>
          <p:cNvPr id="51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11205058" y="224028"/>
            <a:ext cx="114300" cy="114300"/>
          </a:xfrm>
          <a:prstGeom prst="rect">
            <a:avLst/>
          </a:prstGeom>
        </p:spPr>
      </p:pic>
      <p:sp>
        <p:nvSpPr>
          <p:cNvPr id="52" name="Shape 44"/>
          <p:cNvSpPr/>
          <p:nvPr/>
        </p:nvSpPr>
        <p:spPr>
          <a:xfrm>
            <a:off x="543154" y="961949"/>
            <a:ext cx="1104595" cy="228600"/>
          </a:xfrm>
          <a:prstGeom prst="roundRect">
            <a:avLst>
              <a:gd name="adj" fmla="val 66667"/>
            </a:avLst>
          </a:prstGeom>
          <a:solidFill>
            <a:srgbClr val="000000">
              <a:alpha val="7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3" name="Text 45"/>
          <p:cNvSpPr txBox="1"/>
          <p:nvPr/>
        </p:nvSpPr>
        <p:spPr>
          <a:xfrm>
            <a:off x="543154" y="961949"/>
            <a:ext cx="1162202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PC 1280px View</a:t>
            </a:r>
            <a:endParaRPr lang="en-US" sz="900" dirty="0"/>
          </a:p>
        </p:txBody>
      </p:sp>
      <p:sp>
        <p:nvSpPr>
          <p:cNvPr id="54" name="Text 46"/>
          <p:cNvSpPr txBox="1"/>
          <p:nvPr/>
        </p:nvSpPr>
        <p:spPr>
          <a:xfrm>
            <a:off x="4533595" y="2819095"/>
            <a:ext cx="286207" cy="210312"/>
          </a:xfrm>
          <a:prstGeom prst="rect">
            <a:avLst/>
          </a:prstGeom>
          <a:solidFill>
            <a:srgbClr val="EF4444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800" dirty="0"/>
          </a:p>
        </p:txBody>
      </p:sp>
      <p:sp>
        <p:nvSpPr>
          <p:cNvPr id="55" name="Text 47"/>
          <p:cNvSpPr txBox="1"/>
          <p:nvPr/>
        </p:nvSpPr>
        <p:spPr>
          <a:xfrm>
            <a:off x="4533595" y="3524098"/>
            <a:ext cx="286207" cy="210312"/>
          </a:xfrm>
          <a:prstGeom prst="rect">
            <a:avLst/>
          </a:prstGeom>
          <a:solidFill>
            <a:srgbClr val="EF4444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800" dirty="0"/>
          </a:p>
        </p:txBody>
      </p:sp>
      <p:sp>
        <p:nvSpPr>
          <p:cNvPr id="56" name="Text 48"/>
          <p:cNvSpPr txBox="1"/>
          <p:nvPr/>
        </p:nvSpPr>
        <p:spPr>
          <a:xfrm>
            <a:off x="4533595" y="4496105"/>
            <a:ext cx="286207" cy="210312"/>
          </a:xfrm>
          <a:prstGeom prst="rect">
            <a:avLst/>
          </a:prstGeom>
          <a:solidFill>
            <a:srgbClr val="EF4444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800" dirty="0"/>
          </a:p>
        </p:txBody>
      </p:sp>
      <p:sp>
        <p:nvSpPr>
          <p:cNvPr id="57" name="Text 49"/>
          <p:cNvSpPr txBox="1"/>
          <p:nvPr/>
        </p:nvSpPr>
        <p:spPr>
          <a:xfrm>
            <a:off x="4533595" y="4962449"/>
            <a:ext cx="286207" cy="210312"/>
          </a:xfrm>
          <a:prstGeom prst="rect">
            <a:avLst/>
          </a:prstGeom>
          <a:solidFill>
            <a:srgbClr val="EF4444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800" dirty="0"/>
          </a:p>
        </p:txBody>
      </p:sp>
      <p:sp>
        <p:nvSpPr>
          <p:cNvPr id="58" name="Text 50"/>
          <p:cNvSpPr txBox="1"/>
          <p:nvPr/>
        </p:nvSpPr>
        <p:spPr>
          <a:xfrm>
            <a:off x="4981651" y="1171346"/>
            <a:ext cx="286207" cy="210312"/>
          </a:xfrm>
          <a:prstGeom prst="rect">
            <a:avLst/>
          </a:prstGeom>
          <a:solidFill>
            <a:srgbClr val="EF4444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71500"/>
            <a:ext cx="12191695" cy="5905195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81305" y="800100"/>
            <a:ext cx="4953305" cy="5447995"/>
          </a:xfrm>
          <a:prstGeom prst="roundRect">
            <a:avLst>
              <a:gd name="adj" fmla="val 426"/>
            </a:avLst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3" b="-3"/>
          <a:stretch/>
        </p:blipFill>
        <p:spPr>
          <a:xfrm>
            <a:off x="580644" y="1000354"/>
            <a:ext cx="4552798" cy="504840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80644" y="1000354"/>
            <a:ext cx="4552798" cy="267005"/>
          </a:xfrm>
          <a:prstGeom prst="roundRect">
            <a:avLst>
              <a:gd name="adj" fmla="val 97847"/>
            </a:avLst>
          </a:prstGeom>
          <a:solidFill>
            <a:srgbClr val="F1F5F9"/>
          </a:solidFill>
          <a:ln/>
        </p:spPr>
      </p:sp>
      <p:sp>
        <p:nvSpPr>
          <p:cNvPr id="8" name="Shape 5"/>
          <p:cNvSpPr/>
          <p:nvPr/>
        </p:nvSpPr>
        <p:spPr>
          <a:xfrm>
            <a:off x="580644" y="1258214"/>
            <a:ext cx="4552798" cy="9144"/>
          </a:xfrm>
          <a:prstGeom prst="roundRect">
            <a:avLst>
              <a:gd name="adj" fmla="val 2857143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94944" y="1090879"/>
            <a:ext cx="75895" cy="75895"/>
          </a:xfrm>
          <a:prstGeom prst="ellipse">
            <a:avLst/>
          </a:prstGeom>
          <a:solidFill>
            <a:srgbClr val="FCA5A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28446" y="1090879"/>
            <a:ext cx="75895" cy="75895"/>
          </a:xfrm>
          <a:prstGeom prst="ellipse">
            <a:avLst/>
          </a:prstGeom>
          <a:solidFill>
            <a:srgbClr val="FCD34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61949" y="1090879"/>
            <a:ext cx="75895" cy="75895"/>
          </a:xfrm>
          <a:prstGeom prst="ellipse">
            <a:avLst/>
          </a:prstGeom>
          <a:solidFill>
            <a:srgbClr val="86EFA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037844" y="1052474"/>
            <a:ext cx="403890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partner.travel.com/signup/company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933602" y="1552651"/>
            <a:ext cx="38487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회사 정보 입력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933602" y="1857146"/>
            <a:ext cx="38487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파트너사의 기본 정보를 입력해주세요.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2590495" y="2162556"/>
            <a:ext cx="75895" cy="75895"/>
          </a:xfrm>
          <a:prstGeom prst="ellipse">
            <a:avLst/>
          </a:prstGeom>
          <a:solidFill>
            <a:srgbClr val="E2E8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2704795" y="2162556"/>
            <a:ext cx="190195" cy="75895"/>
          </a:xfrm>
          <a:prstGeom prst="roundRect">
            <a:avLst>
              <a:gd name="adj" fmla="val 602411"/>
            </a:avLst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2933395" y="2162556"/>
            <a:ext cx="75895" cy="75895"/>
          </a:xfrm>
          <a:prstGeom prst="ellipse">
            <a:avLst/>
          </a:prstGeom>
          <a:solidFill>
            <a:srgbClr val="E2E8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047695" y="2162556"/>
            <a:ext cx="75895" cy="75895"/>
          </a:xfrm>
          <a:prstGeom prst="ellipse">
            <a:avLst/>
          </a:prstGeom>
          <a:solidFill>
            <a:srgbClr val="E2E8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028700" y="2661818"/>
            <a:ext cx="3657600" cy="304495"/>
          </a:xfrm>
          <a:prstGeom prst="roundRect">
            <a:avLst>
              <a:gd name="adj" fmla="val 5630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1028700" y="3276295"/>
            <a:ext cx="3657600" cy="304495"/>
          </a:xfrm>
          <a:prstGeom prst="roundRect">
            <a:avLst>
              <a:gd name="adj" fmla="val 5630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028700" y="3890772"/>
            <a:ext cx="1790395" cy="304495"/>
          </a:xfrm>
          <a:prstGeom prst="roundRect">
            <a:avLst>
              <a:gd name="adj" fmla="val 5630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2895905" y="3890772"/>
            <a:ext cx="1790395" cy="304495"/>
          </a:xfrm>
          <a:prstGeom prst="roundRect">
            <a:avLst>
              <a:gd name="adj" fmla="val 5630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1028700" y="4505249"/>
            <a:ext cx="2915107" cy="304495"/>
          </a:xfrm>
          <a:prstGeom prst="roundRect">
            <a:avLst>
              <a:gd name="adj" fmla="val 5630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4017874" y="4505249"/>
            <a:ext cx="676656" cy="304495"/>
          </a:xfrm>
          <a:prstGeom prst="roundRect">
            <a:avLst>
              <a:gd name="adj" fmla="val 37538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1028700" y="4886554"/>
            <a:ext cx="3657600" cy="304495"/>
          </a:xfrm>
          <a:prstGeom prst="roundRect">
            <a:avLst>
              <a:gd name="adj" fmla="val 5630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1028700" y="5266944"/>
            <a:ext cx="3657600" cy="304495"/>
          </a:xfrm>
          <a:prstGeom prst="roundRect">
            <a:avLst>
              <a:gd name="adj" fmla="val 5630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1028700" y="5800954"/>
            <a:ext cx="1781251" cy="381305"/>
          </a:xfrm>
          <a:prstGeom prst="roundRect">
            <a:avLst>
              <a:gd name="adj" fmla="val 3597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2919679" y="5800954"/>
            <a:ext cx="1772107" cy="381305"/>
          </a:xfrm>
          <a:prstGeom prst="roundRect">
            <a:avLst>
              <a:gd name="adj" fmla="val 35971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5562295" y="800100"/>
            <a:ext cx="6248095" cy="5447995"/>
          </a:xfrm>
          <a:prstGeom prst="roundRect">
            <a:avLst>
              <a:gd name="adj" fmla="val 35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5572354" y="809244"/>
            <a:ext cx="6229807" cy="533095"/>
          </a:xfrm>
          <a:prstGeom prst="roundRect">
            <a:avLst>
              <a:gd name="adj" fmla="val 36756"/>
            </a:avLst>
          </a:prstGeom>
          <a:solidFill>
            <a:srgbClr val="FFFFFF"/>
          </a:solidFill>
          <a:ln/>
        </p:spPr>
      </p:sp>
      <p:sp>
        <p:nvSpPr>
          <p:cNvPr id="31" name="Shape 28"/>
          <p:cNvSpPr/>
          <p:nvPr/>
        </p:nvSpPr>
        <p:spPr>
          <a:xfrm>
            <a:off x="5572354" y="1333195"/>
            <a:ext cx="6229807" cy="9144"/>
          </a:xfrm>
          <a:prstGeom prst="roundRect">
            <a:avLst>
              <a:gd name="adj" fmla="val 2142857"/>
            </a:avLst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6000293" y="961949"/>
            <a:ext cx="113111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상세 사양 및 정책</a:t>
            </a:r>
            <a:endParaRPr lang="en-US" sz="1100" dirty="0"/>
          </a:p>
        </p:txBody>
      </p:sp>
      <p:pic>
        <p:nvPicPr>
          <p:cNvPr id="33" name="Image 1" descr="preencoded.png">    </p:cNvPr>
          <p:cNvPicPr>
            <a:picLocks noChangeAspect="1"/>
          </p:cNvPicPr>
          <p:nvPr/>
        </p:nvPicPr>
        <p:blipFill>
          <a:blip r:embed="rId2"/>
          <a:srcRect l="-428" r="-428" t="0" b="0"/>
          <a:stretch/>
        </p:blipFill>
        <p:spPr>
          <a:xfrm>
            <a:off x="5762549" y="997610"/>
            <a:ext cx="161849" cy="142646"/>
          </a:xfrm>
          <a:prstGeom prst="rect">
            <a:avLst/>
          </a:prstGeom>
        </p:spPr>
      </p:pic>
      <p:sp>
        <p:nvSpPr>
          <p:cNvPr id="34" name="Text 30"/>
          <p:cNvSpPr txBox="1"/>
          <p:nvPr/>
        </p:nvSpPr>
        <p:spPr>
          <a:xfrm>
            <a:off x="9965131" y="993038"/>
            <a:ext cx="172455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Last Updated: 2026-02-02</a:t>
            </a:r>
            <a:endParaRPr lang="en-US" sz="9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72354" y="1338682"/>
          <a:ext cx="6229807" cy="4819802"/>
        </p:xfrm>
        <a:graphic>
          <a:graphicData uri="http://schemas.openxmlformats.org/drawingml/2006/table">
            <a:tbl>
              <a:tblPr/>
              <a:tblGrid>
                <a:gridCol w="1557223"/>
                <a:gridCol w="934517"/>
                <a:gridCol w="3738067"/>
              </a:tblGrid>
              <a:tr h="68854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b="1" dirty="0">
                          <a:solidFill>
                            <a:srgbClr val="64748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UI 요소 (Element)</a:t>
                      </a:r>
                      <a:endParaRPr lang="en-US" sz="97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705" marR="152705" marT="95098" marB="95098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b="1" dirty="0">
                          <a:solidFill>
                            <a:srgbClr val="64748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속성</a:t>
                      </a:r>
                      <a:endParaRPr lang="en-US" sz="97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705" marR="152705" marT="95098" marB="95098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b="1" dirty="0">
                          <a:solidFill>
                            <a:srgbClr val="64748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상세 설명 및 규칙 (Description &amp; Rules)</a:t>
                      </a:r>
                      <a:endParaRPr lang="en-US" sz="97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705" marR="152705" marT="95098" marB="95098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68854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</a:t>
                      </a:r>
                      <a:pPr indent="0" marL="0">
                        <a:buNone/>
                      </a:pP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3341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회사명 (국문)</a:t>
                      </a:r>
                      <a:endParaRPr lang="en-US" sz="1200" dirty="0"/>
                    </a:p>
                  </a:txBody>
                  <a:tcPr marL="152705" marR="152705" marT="114300" marB="114300" anchor="t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5" b="1" dirty="0">
                          <a:solidFill>
                            <a:srgbClr val="991B1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필수</a:t>
                      </a:r>
                      <a:endParaRPr lang="en-US" sz="1200" dirty="0"/>
                    </a:p>
                  </a:txBody>
                  <a:tcPr marL="152705" marR="152705" marT="114300" marB="114300" anchor="t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b="1" dirty="0">
                          <a:solidFill>
                            <a:srgbClr val="3341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규칙:</a:t>
                      </a:r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3341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 한글, 영문, 숫자, 괄호 포함 2~60자.</a:t>
                      </a:r>
                      <a:pPr indent="0" marL="0">
                        <a:spcAft>
                          <a:spcPts val="300"/>
                        </a:spcAft>
                        <a:buNone/>
                      </a:pP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975" b="1" dirty="0">
                          <a:solidFill>
                            <a:srgbClr val="3341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Validation:</a:t>
                      </a:r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3341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 특수문자 제한 (괄호 제외). 입력 즉시 길이 체크.</a:t>
                      </a:r>
                      <a:pPr indent="0" marL="0">
                        <a:spcAft>
                          <a:spcPts val="300"/>
                        </a:spcAft>
                        <a:buNone/>
                      </a:pP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중복 입력 시 경고 문구 노출하되 가입 제한은 없음(동명이사 허용).</a:t>
                      </a:r>
                      <a:endParaRPr lang="en-US" sz="1200" dirty="0"/>
                    </a:p>
                  </a:txBody>
                  <a:tcPr marL="152705" marR="152705" marT="114300" marB="114300" anchor="t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854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</a:t>
                      </a:r>
                      <a:pPr indent="0" marL="0">
                        <a:buNone/>
                      </a:pP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3341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회사명 (영문)</a:t>
                      </a:r>
                      <a:endParaRPr lang="en-US" sz="1200" dirty="0"/>
                    </a:p>
                  </a:txBody>
                  <a:tcPr marL="152705" marR="152705" marT="114300" marB="114300" anchor="t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5" b="1" dirty="0">
                          <a:solidFill>
                            <a:srgbClr val="64748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선택</a:t>
                      </a:r>
                      <a:endParaRPr lang="en-US" sz="1200" dirty="0"/>
                    </a:p>
                  </a:txBody>
                  <a:tcPr marL="152705" marR="152705" marT="114300" marB="114300" anchor="t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b="1" dirty="0">
                          <a:solidFill>
                            <a:srgbClr val="3341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규칙:</a:t>
                      </a:r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3341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 영문, 숫자, 특수문자 일부 허용. 최대 100자.</a:t>
                      </a:r>
                      <a:pPr indent="0" marL="0">
                        <a:spcAft>
                          <a:spcPts val="300"/>
                        </a:spcAft>
                        <a:buNone/>
                      </a:pP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글로벌 서비스 연동 시 활용되므로 정확한 표기 권장.</a:t>
                      </a:r>
                      <a:endParaRPr lang="en-US" sz="1200" dirty="0"/>
                    </a:p>
                  </a:txBody>
                  <a:tcPr marL="152705" marR="152705" marT="114300" marB="114300" anchor="t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854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</a:t>
                      </a:r>
                      <a:pPr indent="0" marL="0">
                        <a:buNone/>
                      </a:pP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3341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대표번호</a:t>
                      </a:r>
                      <a:endParaRPr lang="en-US" sz="1200" dirty="0"/>
                    </a:p>
                  </a:txBody>
                  <a:tcPr marL="152705" marR="152705" marT="114300" marB="114300" anchor="t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5" b="1" dirty="0">
                          <a:solidFill>
                            <a:srgbClr val="991B1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필수</a:t>
                      </a:r>
                      <a:endParaRPr lang="en-US" sz="1200" dirty="0"/>
                    </a:p>
                  </a:txBody>
                  <a:tcPr marL="152705" marR="152705" marT="114300" marB="114300" anchor="t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b="1" dirty="0">
                          <a:solidFill>
                            <a:srgbClr val="3341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형식:</a:t>
                      </a:r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3341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 지역번호 포함 유선 전화 또는 대표 모바일 번호.</a:t>
                      </a:r>
                      <a:pPr indent="0" marL="0">
                        <a:spcAft>
                          <a:spcPts val="300"/>
                        </a:spcAft>
                        <a:buNone/>
                      </a:pP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975" b="1" dirty="0">
                          <a:solidFill>
                            <a:srgbClr val="3341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자동서식:</a:t>
                      </a:r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3341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 입력 시 하이픈(-) 자동 삽입 및 숫자만 입력 허용.</a:t>
                      </a:r>
                      <a:endParaRPr lang="en-US" sz="1200" dirty="0"/>
                    </a:p>
                  </a:txBody>
                  <a:tcPr marL="152705" marR="152705" marT="114300" marB="114300" anchor="t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854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4</a:t>
                      </a:r>
                      <a:pPr indent="0" marL="0">
                        <a:buNone/>
                      </a:pP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3341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홈페이지</a:t>
                      </a:r>
                      <a:endParaRPr lang="en-US" sz="1200" dirty="0"/>
                    </a:p>
                  </a:txBody>
                  <a:tcPr marL="152705" marR="152705" marT="114300" marB="114300" anchor="t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5" b="1" dirty="0">
                          <a:solidFill>
                            <a:srgbClr val="64748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선택</a:t>
                      </a:r>
                      <a:endParaRPr lang="en-US" sz="1200" dirty="0"/>
                    </a:p>
                  </a:txBody>
                  <a:tcPr marL="152705" marR="152705" marT="114300" marB="114300" anchor="t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b="1" dirty="0">
                          <a:solidFill>
                            <a:srgbClr val="3341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Validation:</a:t>
                      </a:r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3341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 URL 형식 검증 (http/https 프로토콜 포함).</a:t>
                      </a:r>
                      <a:pPr indent="0" marL="0">
                        <a:spcAft>
                          <a:spcPts val="300"/>
                        </a:spcAft>
                        <a:buNone/>
                      </a:pP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F444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형식 오류 시: "올바른 URL 형식이 아닙니다."</a:t>
                      </a:r>
                      <a:endParaRPr lang="en-US" sz="1200" dirty="0"/>
                    </a:p>
                  </a:txBody>
                  <a:tcPr marL="152705" marR="152705" marT="114300" marB="114300" anchor="t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854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5</a:t>
                      </a:r>
                      <a:pPr indent="0" marL="0">
                        <a:buNone/>
                      </a:pP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3341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본사 주소</a:t>
                      </a:r>
                      <a:endParaRPr lang="en-US" sz="1200" dirty="0"/>
                    </a:p>
                  </a:txBody>
                  <a:tcPr marL="152705" marR="152705" marT="114300" marB="114300" anchor="t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5" b="1" dirty="0">
                          <a:solidFill>
                            <a:srgbClr val="991B1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필수</a:t>
                      </a:r>
                      <a:endParaRPr lang="en-US" sz="1200" dirty="0"/>
                    </a:p>
                  </a:txBody>
                  <a:tcPr marL="152705" marR="152705" marT="114300" marB="114300" anchor="t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b="1" dirty="0">
                          <a:solidFill>
                            <a:srgbClr val="3341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Action:</a:t>
                      </a:r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3341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 '주소검색' 클릭 시 Daum 우편번호 API 팝업 호출.</a:t>
                      </a:r>
                      <a:pPr indent="0" marL="0">
                        <a:spcAft>
                          <a:spcPts val="300"/>
                        </a:spcAft>
                        <a:buNone/>
                      </a:pP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975" b="1" dirty="0">
                          <a:solidFill>
                            <a:srgbClr val="3341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Data:</a:t>
                      </a:r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3341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 우편번호(5자리), 기본주소(Readonly), 상세주소(입력).</a:t>
                      </a:r>
                      <a:pPr indent="0" marL="0">
                        <a:spcAft>
                          <a:spcPts val="300"/>
                        </a:spcAft>
                        <a:buNone/>
                      </a:pP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상세주소 미입력 시 확인 팝업 ("상세주소가 없습니까?") 노출.</a:t>
                      </a:r>
                      <a:endParaRPr lang="en-US" sz="1200" dirty="0"/>
                    </a:p>
                  </a:txBody>
                  <a:tcPr marL="152705" marR="152705" marT="114300" marB="114300" anchor="t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854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6</a:t>
                      </a:r>
                      <a:pPr indent="0" marL="0">
                        <a:buNone/>
                      </a:pP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1D4ED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이동 버튼</a:t>
                      </a:r>
                      <a:endParaRPr lang="en-US" sz="1200" dirty="0"/>
                    </a:p>
                  </a:txBody>
                  <a:tcPr marL="152705" marR="152705" marT="114300" marB="114300" anchor="t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5" b="1" dirty="0">
                          <a:solidFill>
                            <a:srgbClr val="4338C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Nav</a:t>
                      </a:r>
                      <a:endParaRPr lang="en-US" sz="1200" dirty="0"/>
                    </a:p>
                  </a:txBody>
                  <a:tcPr marL="152705" marR="152705" marT="114300" marB="114300" anchor="t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b="1" dirty="0">
                          <a:solidFill>
                            <a:srgbClr val="3341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이전:</a:t>
                      </a:r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3341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 S-01 화면으로 이동 (입력 데이터 유지).</a:t>
                      </a:r>
                      <a:pPr indent="0" marL="0">
                        <a:spcAft>
                          <a:spcPts val="300"/>
                        </a:spcAft>
                        <a:buNone/>
                      </a:pP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975" b="1" dirty="0">
                          <a:solidFill>
                            <a:srgbClr val="3341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다음:</a:t>
                      </a:r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3341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 필수 항목 검증 성공 시 </a:t>
                      </a:r>
                      <a:pPr indent="0" marL="0">
                        <a:buNone/>
                      </a:pPr>
                      <a:r>
                        <a:rPr lang="en-US" sz="975" b="1" dirty="0">
                          <a:solidFill>
                            <a:srgbClr val="3341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S-03 사업자 정보</a:t>
                      </a:r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3341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 화면으로 이동.</a:t>
                      </a:r>
                      <a:pPr indent="0" marL="0">
                        <a:spcAft>
                          <a:spcPts val="300"/>
                        </a:spcAft>
                        <a:buNone/>
                      </a:pP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임시저장 클릭 시 현재 상태 DB 저장 후 "저장되었습니다" 토스트.</a:t>
                      </a:r>
                      <a:endParaRPr lang="en-US" sz="1200" dirty="0"/>
                    </a:p>
                  </a:txBody>
                  <a:tcPr marL="152705" marR="152705" marT="114300" marB="114300" anchor="t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</a:tr>
            </a:tbl>
          </a:graphicData>
        </a:graphic>
      </p:graphicFrame>
      <p:sp>
        <p:nvSpPr>
          <p:cNvPr id="36" name="Shape 31"/>
          <p:cNvSpPr/>
          <p:nvPr/>
        </p:nvSpPr>
        <p:spPr>
          <a:xfrm>
            <a:off x="5572354" y="6152998"/>
            <a:ext cx="6229807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37" name="Text 32"/>
          <p:cNvSpPr txBox="1"/>
          <p:nvPr/>
        </p:nvSpPr>
        <p:spPr>
          <a:xfrm>
            <a:off x="5971946" y="6353251"/>
            <a:ext cx="57534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예외 처리 (Exception)</a:t>
            </a:r>
            <a:endParaRPr lang="en-US" sz="1000" dirty="0"/>
          </a:p>
        </p:txBody>
      </p:sp>
      <p:pic>
        <p:nvPicPr>
          <p:cNvPr id="38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762549" y="6379769"/>
            <a:ext cx="133502" cy="133502"/>
          </a:xfrm>
          <a:prstGeom prst="rect">
            <a:avLst/>
          </a:prstGeom>
        </p:spPr>
      </p:pic>
      <p:sp>
        <p:nvSpPr>
          <p:cNvPr id="39" name="Text 33"/>
          <p:cNvSpPr txBox="1"/>
          <p:nvPr/>
        </p:nvSpPr>
        <p:spPr>
          <a:xfrm>
            <a:off x="5762549" y="6620256"/>
            <a:ext cx="717255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</a:t>
            </a:r>
            <a:pPr algn="l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주소 API 장애:</a:t>
            </a:r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외부 API 호출 실패 시 "주소 검색 서비스를 사용할 수 없습니다. 잠시 후 다시 시도해주세요." 메시지 표시.</a:t>
            </a:r>
            <a:endParaRPr lang="en-US" sz="900" dirty="0"/>
          </a:p>
        </p:txBody>
      </p:sp>
      <p:sp>
        <p:nvSpPr>
          <p:cNvPr id="40" name="Text 34"/>
          <p:cNvSpPr txBox="1"/>
          <p:nvPr/>
        </p:nvSpPr>
        <p:spPr>
          <a:xfrm>
            <a:off x="5762549" y="6810451"/>
            <a:ext cx="67062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</a:t>
            </a:r>
            <a:pPr algn="l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입력 데이터 유실:</a:t>
            </a:r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페이지 이탈 시 "작성 중인 내용이 있습니다. 저장하지 않고 나가시겠습니까?" 브라우저 컨펌 노출.</a:t>
            </a:r>
            <a:endParaRPr lang="en-US" sz="900" dirty="0"/>
          </a:p>
        </p:txBody>
      </p:sp>
      <p:sp>
        <p:nvSpPr>
          <p:cNvPr id="41" name="Shape 35"/>
          <p:cNvSpPr/>
          <p:nvPr/>
        </p:nvSpPr>
        <p:spPr>
          <a:xfrm>
            <a:off x="0" y="6476695"/>
            <a:ext cx="12191695" cy="38130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2" name="Shape 36"/>
          <p:cNvSpPr/>
          <p:nvPr/>
        </p:nvSpPr>
        <p:spPr>
          <a:xfrm>
            <a:off x="0" y="6476695"/>
            <a:ext cx="12191695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43" name="Text 37"/>
          <p:cNvSpPr txBox="1"/>
          <p:nvPr/>
        </p:nvSpPr>
        <p:spPr>
          <a:xfrm>
            <a:off x="381305" y="6586423"/>
            <a:ext cx="191749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B2B 파트너 입점 화면설계서 v0.9</a:t>
            </a:r>
            <a:endParaRPr lang="en-US" sz="900" dirty="0"/>
          </a:p>
        </p:txBody>
      </p:sp>
      <p:sp>
        <p:nvSpPr>
          <p:cNvPr id="44" name="Text 38"/>
          <p:cNvSpPr txBox="1"/>
          <p:nvPr/>
        </p:nvSpPr>
        <p:spPr>
          <a:xfrm>
            <a:off x="11330330" y="6586423"/>
            <a:ext cx="56235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Page 10</a:t>
            </a:r>
            <a:endParaRPr lang="en-US" sz="900" dirty="0"/>
          </a:p>
        </p:txBody>
      </p:sp>
      <p:sp>
        <p:nvSpPr>
          <p:cNvPr id="45" name="Shape 39"/>
          <p:cNvSpPr/>
          <p:nvPr/>
        </p:nvSpPr>
        <p:spPr>
          <a:xfrm>
            <a:off x="0" y="0"/>
            <a:ext cx="12191695" cy="571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6" name="Shape 40"/>
          <p:cNvSpPr/>
          <p:nvPr/>
        </p:nvSpPr>
        <p:spPr>
          <a:xfrm>
            <a:off x="0" y="562356"/>
            <a:ext cx="12191695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47" name="Shape 41"/>
          <p:cNvSpPr/>
          <p:nvPr/>
        </p:nvSpPr>
        <p:spPr>
          <a:xfrm>
            <a:off x="381305" y="142646"/>
            <a:ext cx="514807" cy="276149"/>
          </a:xfrm>
          <a:prstGeom prst="roundRect">
            <a:avLst>
              <a:gd name="adj" fmla="val 68509"/>
            </a:avLst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8" name="Text 42"/>
          <p:cNvSpPr txBox="1"/>
          <p:nvPr/>
        </p:nvSpPr>
        <p:spPr>
          <a:xfrm>
            <a:off x="381305" y="142646"/>
            <a:ext cx="571500" cy="2770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40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S-02</a:t>
            </a:r>
            <a:endParaRPr lang="en-US" sz="1000" dirty="0"/>
          </a:p>
        </p:txBody>
      </p:sp>
      <p:sp>
        <p:nvSpPr>
          <p:cNvPr id="49" name="Text 43"/>
          <p:cNvSpPr txBox="1"/>
          <p:nvPr/>
        </p:nvSpPr>
        <p:spPr>
          <a:xfrm>
            <a:off x="1047902" y="152705"/>
            <a:ext cx="1206094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회사 기본정보</a:t>
            </a:r>
            <a:endParaRPr lang="en-US" sz="1300" dirty="0"/>
          </a:p>
        </p:txBody>
      </p:sp>
      <p:sp>
        <p:nvSpPr>
          <p:cNvPr id="50" name="Text 44"/>
          <p:cNvSpPr txBox="1"/>
          <p:nvPr/>
        </p:nvSpPr>
        <p:spPr>
          <a:xfrm>
            <a:off x="10280599" y="204826"/>
            <a:ext cx="63825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반응형 지원</a:t>
            </a:r>
            <a:endParaRPr lang="en-US" sz="900" dirty="0"/>
          </a:p>
        </p:txBody>
      </p:sp>
      <p:pic>
        <p:nvPicPr>
          <p:cNvPr id="51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10127894" y="224028"/>
            <a:ext cx="114300" cy="114300"/>
          </a:xfrm>
          <a:prstGeom prst="rect">
            <a:avLst/>
          </a:prstGeom>
        </p:spPr>
      </p:pic>
      <p:sp>
        <p:nvSpPr>
          <p:cNvPr id="52" name="Text 45"/>
          <p:cNvSpPr txBox="1"/>
          <p:nvPr/>
        </p:nvSpPr>
        <p:spPr>
          <a:xfrm>
            <a:off x="11143793" y="204826"/>
            <a:ext cx="75255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주소 API 연동</a:t>
            </a:r>
            <a:endParaRPr lang="en-US" sz="900" dirty="0"/>
          </a:p>
        </p:txBody>
      </p:sp>
      <p:pic>
        <p:nvPicPr>
          <p:cNvPr id="53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10991088" y="224028"/>
            <a:ext cx="114300" cy="114300"/>
          </a:xfrm>
          <a:prstGeom prst="rect">
            <a:avLst/>
          </a:prstGeom>
        </p:spPr>
      </p:pic>
      <p:sp>
        <p:nvSpPr>
          <p:cNvPr id="54" name="Shape 46"/>
          <p:cNvSpPr/>
          <p:nvPr/>
        </p:nvSpPr>
        <p:spPr>
          <a:xfrm>
            <a:off x="543154" y="961949"/>
            <a:ext cx="1104595" cy="228600"/>
          </a:xfrm>
          <a:prstGeom prst="roundRect">
            <a:avLst>
              <a:gd name="adj" fmla="val 66667"/>
            </a:avLst>
          </a:prstGeom>
          <a:solidFill>
            <a:srgbClr val="000000">
              <a:alpha val="7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5" name="Text 47"/>
          <p:cNvSpPr txBox="1"/>
          <p:nvPr/>
        </p:nvSpPr>
        <p:spPr>
          <a:xfrm>
            <a:off x="543154" y="961949"/>
            <a:ext cx="1162202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PC 1280px View</a:t>
            </a:r>
            <a:endParaRPr lang="en-US" sz="900" dirty="0"/>
          </a:p>
        </p:txBody>
      </p:sp>
      <p:sp>
        <p:nvSpPr>
          <p:cNvPr id="56" name="Text 48"/>
          <p:cNvSpPr txBox="1"/>
          <p:nvPr/>
        </p:nvSpPr>
        <p:spPr>
          <a:xfrm>
            <a:off x="4533595" y="2676449"/>
            <a:ext cx="267005" cy="191110"/>
          </a:xfrm>
          <a:prstGeom prst="rect">
            <a:avLst/>
          </a:prstGeom>
          <a:solidFill>
            <a:srgbClr val="EF4444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800" dirty="0"/>
          </a:p>
        </p:txBody>
      </p:sp>
      <p:sp>
        <p:nvSpPr>
          <p:cNvPr id="57" name="Text 49"/>
          <p:cNvSpPr txBox="1"/>
          <p:nvPr/>
        </p:nvSpPr>
        <p:spPr>
          <a:xfrm>
            <a:off x="4533595" y="3290926"/>
            <a:ext cx="267005" cy="191110"/>
          </a:xfrm>
          <a:prstGeom prst="rect">
            <a:avLst/>
          </a:prstGeom>
          <a:solidFill>
            <a:srgbClr val="EF4444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800" dirty="0"/>
          </a:p>
        </p:txBody>
      </p:sp>
      <p:sp>
        <p:nvSpPr>
          <p:cNvPr id="58" name="Text 50"/>
          <p:cNvSpPr txBox="1"/>
          <p:nvPr/>
        </p:nvSpPr>
        <p:spPr>
          <a:xfrm>
            <a:off x="2667305" y="3905402"/>
            <a:ext cx="267005" cy="191110"/>
          </a:xfrm>
          <a:prstGeom prst="rect">
            <a:avLst/>
          </a:prstGeom>
          <a:solidFill>
            <a:srgbClr val="EF4444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800" dirty="0"/>
          </a:p>
        </p:txBody>
      </p:sp>
      <p:sp>
        <p:nvSpPr>
          <p:cNvPr id="59" name="Text 51"/>
          <p:cNvSpPr txBox="1"/>
          <p:nvPr/>
        </p:nvSpPr>
        <p:spPr>
          <a:xfrm>
            <a:off x="4533595" y="3905402"/>
            <a:ext cx="267005" cy="191110"/>
          </a:xfrm>
          <a:prstGeom prst="rect">
            <a:avLst/>
          </a:prstGeom>
          <a:solidFill>
            <a:srgbClr val="EF4444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800" dirty="0"/>
          </a:p>
        </p:txBody>
      </p:sp>
      <p:sp>
        <p:nvSpPr>
          <p:cNvPr id="60" name="Text 52"/>
          <p:cNvSpPr txBox="1"/>
          <p:nvPr/>
        </p:nvSpPr>
        <p:spPr>
          <a:xfrm>
            <a:off x="4533595" y="4519879"/>
            <a:ext cx="267005" cy="191110"/>
          </a:xfrm>
          <a:prstGeom prst="rect">
            <a:avLst/>
          </a:prstGeom>
          <a:solidFill>
            <a:srgbClr val="EF4444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800" dirty="0"/>
          </a:p>
        </p:txBody>
      </p:sp>
      <p:sp>
        <p:nvSpPr>
          <p:cNvPr id="61" name="Text 53"/>
          <p:cNvSpPr txBox="1"/>
          <p:nvPr/>
        </p:nvSpPr>
        <p:spPr>
          <a:xfrm>
            <a:off x="4981651" y="1190549"/>
            <a:ext cx="267005" cy="191110"/>
          </a:xfrm>
          <a:prstGeom prst="rect">
            <a:avLst/>
          </a:prstGeom>
          <a:solidFill>
            <a:srgbClr val="EF4444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71500"/>
            <a:ext cx="12191695" cy="5905195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81305" y="800100"/>
            <a:ext cx="4953305" cy="5447995"/>
          </a:xfrm>
          <a:prstGeom prst="roundRect">
            <a:avLst>
              <a:gd name="adj" fmla="val 426"/>
            </a:avLst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3" b="-3"/>
          <a:stretch/>
        </p:blipFill>
        <p:spPr>
          <a:xfrm>
            <a:off x="580644" y="1000354"/>
            <a:ext cx="4552798" cy="504840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80644" y="1000354"/>
            <a:ext cx="4552798" cy="267005"/>
          </a:xfrm>
          <a:prstGeom prst="roundRect">
            <a:avLst>
              <a:gd name="adj" fmla="val 97847"/>
            </a:avLst>
          </a:prstGeom>
          <a:solidFill>
            <a:srgbClr val="F1F5F9"/>
          </a:solidFill>
          <a:ln/>
        </p:spPr>
      </p:sp>
      <p:sp>
        <p:nvSpPr>
          <p:cNvPr id="8" name="Shape 5"/>
          <p:cNvSpPr/>
          <p:nvPr/>
        </p:nvSpPr>
        <p:spPr>
          <a:xfrm>
            <a:off x="580644" y="1258214"/>
            <a:ext cx="4552798" cy="9144"/>
          </a:xfrm>
          <a:prstGeom prst="roundRect">
            <a:avLst>
              <a:gd name="adj" fmla="val 2857143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94944" y="1090879"/>
            <a:ext cx="75895" cy="75895"/>
          </a:xfrm>
          <a:prstGeom prst="ellipse">
            <a:avLst/>
          </a:prstGeom>
          <a:solidFill>
            <a:srgbClr val="FCA5A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28446" y="1090879"/>
            <a:ext cx="75895" cy="75895"/>
          </a:xfrm>
          <a:prstGeom prst="ellipse">
            <a:avLst/>
          </a:prstGeom>
          <a:solidFill>
            <a:srgbClr val="FCD34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61949" y="1090879"/>
            <a:ext cx="75895" cy="75895"/>
          </a:xfrm>
          <a:prstGeom prst="ellipse">
            <a:avLst/>
          </a:prstGeom>
          <a:solidFill>
            <a:srgbClr val="86EFA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037844" y="1052474"/>
            <a:ext cx="403890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partner.travel.com/signup/business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933602" y="1552651"/>
            <a:ext cx="38487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사업자 정보 입력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933602" y="1895551"/>
            <a:ext cx="38487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과세 및 정산을 위해 사업자 정보를 입력해주세요.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2590495" y="2276856"/>
            <a:ext cx="75895" cy="75895"/>
          </a:xfrm>
          <a:prstGeom prst="ellipse">
            <a:avLst/>
          </a:prstGeom>
          <a:solidFill>
            <a:srgbClr val="E2E8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2704795" y="2276856"/>
            <a:ext cx="75895" cy="75895"/>
          </a:xfrm>
          <a:prstGeom prst="ellipse">
            <a:avLst/>
          </a:prstGeom>
          <a:solidFill>
            <a:srgbClr val="E2E8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2819095" y="2276856"/>
            <a:ext cx="190195" cy="75895"/>
          </a:xfrm>
          <a:prstGeom prst="roundRect">
            <a:avLst>
              <a:gd name="adj" fmla="val 602411"/>
            </a:avLst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047695" y="2276856"/>
            <a:ext cx="75895" cy="75895"/>
          </a:xfrm>
          <a:prstGeom prst="ellipse">
            <a:avLst/>
          </a:prstGeom>
          <a:solidFill>
            <a:srgbClr val="E2E8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028700" y="2790749"/>
            <a:ext cx="2915107" cy="342900"/>
          </a:xfrm>
          <a:prstGeom prst="roundRect">
            <a:avLst>
              <a:gd name="adj" fmla="val 4444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017874" y="2790749"/>
            <a:ext cx="676656" cy="342900"/>
          </a:xfrm>
          <a:prstGeom prst="roundRect">
            <a:avLst>
              <a:gd name="adj" fmla="val 2963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028700" y="3172054"/>
            <a:ext cx="3771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'-' 제외 숫자 10자리 입력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1726387" y="3562502"/>
            <a:ext cx="37216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(선택)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1028700" y="3762756"/>
            <a:ext cx="3657600" cy="342900"/>
          </a:xfrm>
          <a:prstGeom prst="roundRect">
            <a:avLst>
              <a:gd name="adj" fmla="val 4444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028700" y="4466844"/>
            <a:ext cx="3657600" cy="342900"/>
          </a:xfrm>
          <a:prstGeom prst="roundRect">
            <a:avLst>
              <a:gd name="adj" fmla="val 4444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rcRect l="-2571" r="-2571" t="0" b="0"/>
          <a:stretch/>
        </p:blipFill>
        <p:spPr>
          <a:xfrm>
            <a:off x="4466844" y="4562856"/>
            <a:ext cx="105156" cy="114300"/>
          </a:xfrm>
          <a:prstGeom prst="rect">
            <a:avLst/>
          </a:prstGeom>
        </p:spPr>
      </p:pic>
      <p:sp>
        <p:nvSpPr>
          <p:cNvPr id="26" name="Shape 22"/>
          <p:cNvSpPr/>
          <p:nvPr/>
        </p:nvSpPr>
        <p:spPr>
          <a:xfrm>
            <a:off x="1028700" y="4962449"/>
            <a:ext cx="3657600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1028700" y="5429707"/>
            <a:ext cx="3429000" cy="381305"/>
          </a:xfrm>
          <a:prstGeom prst="roundRect">
            <a:avLst>
              <a:gd name="adj" fmla="val 3597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4563770" y="5429707"/>
            <a:ext cx="123444" cy="381305"/>
          </a:xfrm>
          <a:prstGeom prst="roundRect">
            <a:avLst>
              <a:gd name="adj" fmla="val 34188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5562295" y="800100"/>
            <a:ext cx="6248095" cy="5447995"/>
          </a:xfrm>
          <a:prstGeom prst="roundRect">
            <a:avLst>
              <a:gd name="adj" fmla="val 35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5572354" y="809244"/>
            <a:ext cx="6229807" cy="533095"/>
          </a:xfrm>
          <a:prstGeom prst="roundRect">
            <a:avLst>
              <a:gd name="adj" fmla="val 36756"/>
            </a:avLst>
          </a:prstGeom>
          <a:solidFill>
            <a:srgbClr val="FFFFFF"/>
          </a:solidFill>
          <a:ln/>
        </p:spPr>
      </p:sp>
      <p:sp>
        <p:nvSpPr>
          <p:cNvPr id="31" name="Shape 27"/>
          <p:cNvSpPr/>
          <p:nvPr/>
        </p:nvSpPr>
        <p:spPr>
          <a:xfrm>
            <a:off x="5572354" y="1333195"/>
            <a:ext cx="6229807" cy="9144"/>
          </a:xfrm>
          <a:prstGeom prst="roundRect">
            <a:avLst>
              <a:gd name="adj" fmla="val 2142857"/>
            </a:avLst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32" name="Text 28"/>
          <p:cNvSpPr txBox="1"/>
          <p:nvPr/>
        </p:nvSpPr>
        <p:spPr>
          <a:xfrm>
            <a:off x="6000293" y="961949"/>
            <a:ext cx="113111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상세 사양 및 정책</a:t>
            </a:r>
            <a:endParaRPr lang="en-US" sz="1100" dirty="0"/>
          </a:p>
        </p:txBody>
      </p:sp>
      <p:pic>
        <p:nvPicPr>
          <p:cNvPr id="33" name="Image 2" descr="preencoded.png">    </p:cNvPr>
          <p:cNvPicPr>
            <a:picLocks noChangeAspect="1"/>
          </p:cNvPicPr>
          <p:nvPr/>
        </p:nvPicPr>
        <p:blipFill>
          <a:blip r:embed="rId3"/>
          <a:srcRect l="-428" r="-428" t="0" b="0"/>
          <a:stretch/>
        </p:blipFill>
        <p:spPr>
          <a:xfrm>
            <a:off x="5762549" y="997610"/>
            <a:ext cx="161849" cy="142646"/>
          </a:xfrm>
          <a:prstGeom prst="rect">
            <a:avLst/>
          </a:prstGeom>
        </p:spPr>
      </p:pic>
      <p:sp>
        <p:nvSpPr>
          <p:cNvPr id="34" name="Text 29"/>
          <p:cNvSpPr txBox="1"/>
          <p:nvPr/>
        </p:nvSpPr>
        <p:spPr>
          <a:xfrm>
            <a:off x="9965131" y="993038"/>
            <a:ext cx="172455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Last Updated: 2026-02-02</a:t>
            </a:r>
            <a:endParaRPr lang="en-US" sz="9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72354" y="1338682"/>
          <a:ext cx="6229807" cy="4486961"/>
        </p:xfrm>
        <a:graphic>
          <a:graphicData uri="http://schemas.openxmlformats.org/drawingml/2006/table">
            <a:tbl>
              <a:tblPr/>
              <a:tblGrid>
                <a:gridCol w="1557223"/>
                <a:gridCol w="934517"/>
                <a:gridCol w="3738067"/>
              </a:tblGrid>
              <a:tr h="8973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b="1" dirty="0">
                          <a:solidFill>
                            <a:srgbClr val="64748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UI 요소 (Element)</a:t>
                      </a:r>
                      <a:endParaRPr lang="en-US" sz="97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705" marR="152705" marT="95098" marB="95098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b="1" dirty="0">
                          <a:solidFill>
                            <a:srgbClr val="64748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속성</a:t>
                      </a:r>
                      <a:endParaRPr lang="en-US" sz="97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705" marR="152705" marT="95098" marB="95098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b="1" dirty="0">
                          <a:solidFill>
                            <a:srgbClr val="64748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상세 설명 및 규칙 (Description &amp; Rules)</a:t>
                      </a:r>
                      <a:endParaRPr lang="en-US" sz="97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705" marR="152705" marT="95098" marB="95098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897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</a:t>
                      </a:r>
                      <a:pPr indent="0" marL="0">
                        <a:buNone/>
                      </a:pP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3341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사업자등록번호</a:t>
                      </a:r>
                      <a:endParaRPr lang="en-US" sz="1200" dirty="0"/>
                    </a:p>
                  </a:txBody>
                  <a:tcPr marL="152705" marR="152705" marT="114300" marB="114300" anchor="t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5" b="1" dirty="0">
                          <a:solidFill>
                            <a:srgbClr val="64748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선택</a:t>
                      </a:r>
                      <a:endParaRPr lang="en-US" sz="1200" dirty="0"/>
                    </a:p>
                  </a:txBody>
                  <a:tcPr marL="152705" marR="152705" marT="114300" marB="114300" anchor="t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b="1" dirty="0">
                          <a:solidFill>
                            <a:srgbClr val="3341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형식:</a:t>
                      </a:r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3341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 숫자 10자리 (하이픈 자동 포맷팅 적용)</a:t>
                      </a:r>
                      <a:pPr indent="0" marL="0">
                        <a:spcAft>
                          <a:spcPts val="300"/>
                        </a:spcAft>
                        <a:buNone/>
                      </a:pP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975" b="1" dirty="0">
                          <a:solidFill>
                            <a:srgbClr val="3341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Validation:</a:t>
                      </a:r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3341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 국세청 API 연동하여 휴/폐업 및 진위 여부 확인.</a:t>
                      </a:r>
                      <a:pPr indent="0" marL="0">
                        <a:spcAft>
                          <a:spcPts val="300"/>
                        </a:spcAft>
                        <a:buNone/>
                      </a:pP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입력 시 필수 검증 사항 아님 (Skip 가능)</a:t>
                      </a:r>
                      <a:pPr indent="0" marL="0">
                        <a:buNone/>
                      </a:pP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입력 값이 있을 경우 '진위확인' 성공해야 다음 단계 진행 가능</a:t>
                      </a:r>
                      <a:pPr indent="0" marL="0">
                        <a:spcBef>
                          <a:spcPts val="150"/>
                        </a:spcBef>
                        <a:buNone/>
                      </a:pP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오류 시: "유효하지 않은 사업자번호입니다." (Red)</a:t>
                      </a:r>
                      <a:endParaRPr lang="en-US" sz="1200" dirty="0"/>
                    </a:p>
                  </a:txBody>
                  <a:tcPr marL="152705" marR="152705" marT="114300" marB="114300" anchor="t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97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</a:t>
                      </a:r>
                      <a:pPr indent="0" marL="0">
                        <a:buNone/>
                      </a:pP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3341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법인등록번호</a:t>
                      </a:r>
                      <a:endParaRPr lang="en-US" sz="1200" dirty="0"/>
                    </a:p>
                  </a:txBody>
                  <a:tcPr marL="152705" marR="152705" marT="114300" marB="114300" anchor="t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5" b="1" dirty="0">
                          <a:solidFill>
                            <a:srgbClr val="64748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선택</a:t>
                      </a:r>
                      <a:endParaRPr lang="en-US" sz="1200" dirty="0"/>
                    </a:p>
                  </a:txBody>
                  <a:tcPr marL="152705" marR="152705" marT="114300" marB="114300" anchor="t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b="1" dirty="0">
                          <a:solidFill>
                            <a:srgbClr val="3341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조건:</a:t>
                      </a:r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3341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 사업자 유형이 '법인'일 경우 활성화 (개인사업자는 비활성/숨김)</a:t>
                      </a:r>
                      <a:pPr indent="0" marL="0">
                        <a:spcAft>
                          <a:spcPts val="300"/>
                        </a:spcAft>
                        <a:buNone/>
                      </a:pP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형식: 숫자 13자리. 별도 진위 확인 API 없음.</a:t>
                      </a:r>
                      <a:endParaRPr lang="en-US" sz="1200" dirty="0"/>
                    </a:p>
                  </a:txBody>
                  <a:tcPr marL="152705" marR="152705" marT="114300" marB="114300" anchor="t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97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</a:t>
                      </a:r>
                      <a:pPr indent="0" marL="0">
                        <a:buNone/>
                      </a:pP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3341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개업년월일</a:t>
                      </a:r>
                      <a:endParaRPr lang="en-US" sz="1200" dirty="0"/>
                    </a:p>
                  </a:txBody>
                  <a:tcPr marL="152705" marR="152705" marT="114300" marB="114300" anchor="t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5" b="1" dirty="0">
                          <a:solidFill>
                            <a:srgbClr val="64748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선택</a:t>
                      </a:r>
                      <a:endParaRPr lang="en-US" sz="1200" dirty="0"/>
                    </a:p>
                  </a:txBody>
                  <a:tcPr marL="152705" marR="152705" marT="114300" marB="114300" anchor="t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b="1" dirty="0">
                          <a:solidFill>
                            <a:srgbClr val="3341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UI:</a:t>
                      </a:r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3341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 Datepicker 제공 또는 YYYYMMDD 입력.</a:t>
                      </a:r>
                      <a:pPr indent="0" marL="0">
                        <a:spcAft>
                          <a:spcPts val="300"/>
                        </a:spcAft>
                        <a:buNone/>
                      </a:pP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975" b="1" dirty="0">
                          <a:solidFill>
                            <a:srgbClr val="3341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규칙:</a:t>
                      </a:r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3341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 미래 날짜 입력 불가.</a:t>
                      </a:r>
                      <a:pPr indent="0" marL="0">
                        <a:spcAft>
                          <a:spcPts val="300"/>
                        </a:spcAft>
                        <a:buNone/>
                      </a:pP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사업자등록증 상의 개업연월일과 일치해야 함(추후 서류 검증).</a:t>
                      </a:r>
                      <a:endParaRPr lang="en-US" sz="1200" dirty="0"/>
                    </a:p>
                  </a:txBody>
                  <a:tcPr marL="152705" marR="152705" marT="114300" marB="114300" anchor="t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97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4</a:t>
                      </a:r>
                      <a:pPr indent="0" marL="0">
                        <a:buNone/>
                      </a:pP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1D4ED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저장 후 다음</a:t>
                      </a:r>
                      <a:endParaRPr lang="en-US" sz="1200" dirty="0"/>
                    </a:p>
                  </a:txBody>
                  <a:tcPr marL="152705" marR="152705" marT="114300" marB="114300" anchor="t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5" b="1" dirty="0">
                          <a:solidFill>
                            <a:srgbClr val="4338C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Button</a:t>
                      </a:r>
                      <a:endParaRPr lang="en-US" sz="1200" dirty="0"/>
                    </a:p>
                  </a:txBody>
                  <a:tcPr marL="152705" marR="152705" marT="114300" marB="114300" anchor="t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b="1" dirty="0">
                          <a:solidFill>
                            <a:srgbClr val="1E40A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전환 조건 (Transition)</a:t>
                      </a:r>
                      <a:pPr indent="0" marL="0">
                        <a:spcAft>
                          <a:spcPts val="300"/>
                        </a:spcAft>
                        <a:buNone/>
                      </a:pP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975" b="1" dirty="0">
                          <a:solidFill>
                            <a:srgbClr val="3341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Case A (입력):</a:t>
                      </a:r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3341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 사업자번호 진위확인 '성공' 상태일 때 이동.</a:t>
                      </a:r>
                      <a:pPr indent="0" marL="0">
                        <a:spcAft>
                          <a:spcPts val="300"/>
                        </a:spcAft>
                        <a:buNone/>
                      </a:pP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975" b="1" dirty="0">
                          <a:solidFill>
                            <a:srgbClr val="3341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Case B (미입력):</a:t>
                      </a:r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3341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 '나중에 입력하기' 선택 시 경고 팝업 없이 S-04로 이동.</a:t>
                      </a:r>
                      <a:pPr indent="0" marL="0">
                        <a:spcAft>
                          <a:spcPts val="300"/>
                        </a:spcAft>
                        <a:buNone/>
                      </a:pP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3341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클릭 시 </a:t>
                      </a:r>
                      <a:pPr indent="0" marL="0">
                        <a:buNone/>
                      </a:pPr>
                      <a:r>
                        <a:rPr lang="en-US" sz="975" b="1" dirty="0">
                          <a:solidFill>
                            <a:srgbClr val="3341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S-04 대표자 정보</a:t>
                      </a:r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3341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 화면으로 이동.</a:t>
                      </a:r>
                      <a:endParaRPr lang="en-US" sz="1200" dirty="0"/>
                    </a:p>
                  </a:txBody>
                  <a:tcPr marL="152705" marR="152705" marT="114300" marB="114300" anchor="t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</a:tr>
            </a:tbl>
          </a:graphicData>
        </a:graphic>
      </p:graphicFrame>
      <p:sp>
        <p:nvSpPr>
          <p:cNvPr id="36" name="Shape 30"/>
          <p:cNvSpPr/>
          <p:nvPr/>
        </p:nvSpPr>
        <p:spPr>
          <a:xfrm>
            <a:off x="5572354" y="5824728"/>
            <a:ext cx="6229807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37" name="Text 31"/>
          <p:cNvSpPr txBox="1"/>
          <p:nvPr/>
        </p:nvSpPr>
        <p:spPr>
          <a:xfrm>
            <a:off x="5971946" y="6024982"/>
            <a:ext cx="57534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예외 처리 (Exception)</a:t>
            </a:r>
            <a:endParaRPr lang="en-US" sz="1000" dirty="0"/>
          </a:p>
        </p:txBody>
      </p:sp>
      <p:pic>
        <p:nvPicPr>
          <p:cNvPr id="38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5762549" y="6050585"/>
            <a:ext cx="133502" cy="133502"/>
          </a:xfrm>
          <a:prstGeom prst="rect">
            <a:avLst/>
          </a:prstGeom>
        </p:spPr>
      </p:pic>
      <p:sp>
        <p:nvSpPr>
          <p:cNvPr id="39" name="Text 32"/>
          <p:cNvSpPr txBox="1"/>
          <p:nvPr/>
        </p:nvSpPr>
        <p:spPr>
          <a:xfrm>
            <a:off x="5762549" y="6291072"/>
            <a:ext cx="700796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</a:t>
            </a:r>
            <a:pPr algn="l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API 장애:</a:t>
            </a:r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국세청 서버 응답 없음 시 "현재 자동 확인이 불가능합니다. 서류 심사로 대체됩니다." 안내 후 다음 단계 허용.</a:t>
            </a:r>
            <a:endParaRPr lang="en-US" sz="900" dirty="0"/>
          </a:p>
        </p:txBody>
      </p:sp>
      <p:sp>
        <p:nvSpPr>
          <p:cNvPr id="40" name="Text 33"/>
          <p:cNvSpPr txBox="1"/>
          <p:nvPr/>
        </p:nvSpPr>
        <p:spPr>
          <a:xfrm>
            <a:off x="5762549" y="6482182"/>
            <a:ext cx="628101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</a:t>
            </a:r>
            <a:pPr algn="l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중복 가입:</a:t>
            </a:r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이미 등록된 사업자번호인 경우 "이미 가입된 파트너사입니다. 관리자에게 문의하세요." 얼럿 노출.</a:t>
            </a:r>
            <a:endParaRPr lang="en-US" sz="900" dirty="0"/>
          </a:p>
        </p:txBody>
      </p:sp>
      <p:sp>
        <p:nvSpPr>
          <p:cNvPr id="41" name="Shape 34"/>
          <p:cNvSpPr/>
          <p:nvPr/>
        </p:nvSpPr>
        <p:spPr>
          <a:xfrm>
            <a:off x="0" y="6476695"/>
            <a:ext cx="12191695" cy="38130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2" name="Shape 35"/>
          <p:cNvSpPr/>
          <p:nvPr/>
        </p:nvSpPr>
        <p:spPr>
          <a:xfrm>
            <a:off x="0" y="6476695"/>
            <a:ext cx="12191695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43" name="Text 36"/>
          <p:cNvSpPr txBox="1"/>
          <p:nvPr/>
        </p:nvSpPr>
        <p:spPr>
          <a:xfrm>
            <a:off x="381305" y="6586423"/>
            <a:ext cx="191749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B2B 파트너 입점 화면설계서 v0.9</a:t>
            </a:r>
            <a:endParaRPr lang="en-US" sz="900" dirty="0"/>
          </a:p>
        </p:txBody>
      </p:sp>
      <p:sp>
        <p:nvSpPr>
          <p:cNvPr id="44" name="Text 37"/>
          <p:cNvSpPr txBox="1"/>
          <p:nvPr/>
        </p:nvSpPr>
        <p:spPr>
          <a:xfrm>
            <a:off x="11330330" y="6586423"/>
            <a:ext cx="56235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Page 11</a:t>
            </a:r>
            <a:endParaRPr lang="en-US" sz="900" dirty="0"/>
          </a:p>
        </p:txBody>
      </p:sp>
      <p:sp>
        <p:nvSpPr>
          <p:cNvPr id="45" name="Shape 38"/>
          <p:cNvSpPr/>
          <p:nvPr/>
        </p:nvSpPr>
        <p:spPr>
          <a:xfrm>
            <a:off x="0" y="0"/>
            <a:ext cx="12191695" cy="571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6" name="Shape 39"/>
          <p:cNvSpPr/>
          <p:nvPr/>
        </p:nvSpPr>
        <p:spPr>
          <a:xfrm>
            <a:off x="0" y="562356"/>
            <a:ext cx="12191695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47" name="Shape 40"/>
          <p:cNvSpPr/>
          <p:nvPr/>
        </p:nvSpPr>
        <p:spPr>
          <a:xfrm>
            <a:off x="381305" y="142646"/>
            <a:ext cx="523951" cy="276149"/>
          </a:xfrm>
          <a:prstGeom prst="roundRect">
            <a:avLst>
              <a:gd name="adj" fmla="val 68509"/>
            </a:avLst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8" name="Text 41"/>
          <p:cNvSpPr txBox="1"/>
          <p:nvPr/>
        </p:nvSpPr>
        <p:spPr>
          <a:xfrm>
            <a:off x="381305" y="142646"/>
            <a:ext cx="581558" cy="2770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40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S-03</a:t>
            </a:r>
            <a:endParaRPr lang="en-US" sz="1000" dirty="0"/>
          </a:p>
        </p:txBody>
      </p:sp>
      <p:sp>
        <p:nvSpPr>
          <p:cNvPr id="49" name="Text 42"/>
          <p:cNvSpPr txBox="1"/>
          <p:nvPr/>
        </p:nvSpPr>
        <p:spPr>
          <a:xfrm>
            <a:off x="1049731" y="152705"/>
            <a:ext cx="172181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사업자 정보 (선택)</a:t>
            </a:r>
            <a:endParaRPr lang="en-US" sz="1300" dirty="0"/>
          </a:p>
        </p:txBody>
      </p:sp>
      <p:sp>
        <p:nvSpPr>
          <p:cNvPr id="50" name="Text 43"/>
          <p:cNvSpPr txBox="1"/>
          <p:nvPr/>
        </p:nvSpPr>
        <p:spPr>
          <a:xfrm>
            <a:off x="10175443" y="204826"/>
            <a:ext cx="85770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국세청 API 연동</a:t>
            </a:r>
            <a:endParaRPr lang="en-US" sz="900" dirty="0"/>
          </a:p>
        </p:txBody>
      </p:sp>
      <p:pic>
        <p:nvPicPr>
          <p:cNvPr id="51" name="Image 4" descr="preencoded.png">    </p:cNvPr>
          <p:cNvPicPr>
            <a:picLocks noChangeAspect="1"/>
          </p:cNvPicPr>
          <p:nvPr/>
        </p:nvPicPr>
        <p:blipFill>
          <a:blip r:embed="rId5"/>
          <a:srcRect l="-133" r="-133" t="0" b="0"/>
          <a:stretch/>
        </p:blipFill>
        <p:spPr>
          <a:xfrm>
            <a:off x="10051999" y="224028"/>
            <a:ext cx="85954" cy="114300"/>
          </a:xfrm>
          <a:prstGeom prst="rect">
            <a:avLst/>
          </a:prstGeom>
        </p:spPr>
      </p:pic>
      <p:sp>
        <p:nvSpPr>
          <p:cNvPr id="52" name="Text 44"/>
          <p:cNvSpPr txBox="1"/>
          <p:nvPr/>
        </p:nvSpPr>
        <p:spPr>
          <a:xfrm>
            <a:off x="11253521" y="204826"/>
            <a:ext cx="63825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반응형 지원</a:t>
            </a:r>
            <a:endParaRPr lang="en-US" sz="900" dirty="0"/>
          </a:p>
        </p:txBody>
      </p:sp>
      <p:pic>
        <p:nvPicPr>
          <p:cNvPr id="53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11100816" y="224028"/>
            <a:ext cx="114300" cy="114300"/>
          </a:xfrm>
          <a:prstGeom prst="rect">
            <a:avLst/>
          </a:prstGeom>
        </p:spPr>
      </p:pic>
      <p:sp>
        <p:nvSpPr>
          <p:cNvPr id="54" name="Shape 45"/>
          <p:cNvSpPr/>
          <p:nvPr/>
        </p:nvSpPr>
        <p:spPr>
          <a:xfrm>
            <a:off x="543154" y="961949"/>
            <a:ext cx="1104595" cy="228600"/>
          </a:xfrm>
          <a:prstGeom prst="roundRect">
            <a:avLst>
              <a:gd name="adj" fmla="val 66667"/>
            </a:avLst>
          </a:prstGeom>
          <a:solidFill>
            <a:srgbClr val="000000">
              <a:alpha val="7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5" name="Text 46"/>
          <p:cNvSpPr txBox="1"/>
          <p:nvPr/>
        </p:nvSpPr>
        <p:spPr>
          <a:xfrm>
            <a:off x="543154" y="961949"/>
            <a:ext cx="1162202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PC 1280px View</a:t>
            </a:r>
            <a:endParaRPr lang="en-US" sz="900" dirty="0"/>
          </a:p>
        </p:txBody>
      </p:sp>
      <p:sp>
        <p:nvSpPr>
          <p:cNvPr id="56" name="Text 47"/>
          <p:cNvSpPr txBox="1"/>
          <p:nvPr/>
        </p:nvSpPr>
        <p:spPr>
          <a:xfrm>
            <a:off x="4533595" y="2819095"/>
            <a:ext cx="286207" cy="210312"/>
          </a:xfrm>
          <a:prstGeom prst="rect">
            <a:avLst/>
          </a:prstGeom>
          <a:solidFill>
            <a:srgbClr val="EF4444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800" dirty="0"/>
          </a:p>
        </p:txBody>
      </p:sp>
      <p:sp>
        <p:nvSpPr>
          <p:cNvPr id="57" name="Text 48"/>
          <p:cNvSpPr txBox="1"/>
          <p:nvPr/>
        </p:nvSpPr>
        <p:spPr>
          <a:xfrm>
            <a:off x="4533595" y="3791102"/>
            <a:ext cx="286207" cy="210312"/>
          </a:xfrm>
          <a:prstGeom prst="rect">
            <a:avLst/>
          </a:prstGeom>
          <a:solidFill>
            <a:srgbClr val="EF4444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800" dirty="0"/>
          </a:p>
        </p:txBody>
      </p:sp>
      <p:sp>
        <p:nvSpPr>
          <p:cNvPr id="58" name="Text 49"/>
          <p:cNvSpPr txBox="1"/>
          <p:nvPr/>
        </p:nvSpPr>
        <p:spPr>
          <a:xfrm>
            <a:off x="4533595" y="4496105"/>
            <a:ext cx="286207" cy="210312"/>
          </a:xfrm>
          <a:prstGeom prst="rect">
            <a:avLst/>
          </a:prstGeom>
          <a:solidFill>
            <a:srgbClr val="EF4444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800" dirty="0"/>
          </a:p>
        </p:txBody>
      </p:sp>
      <p:sp>
        <p:nvSpPr>
          <p:cNvPr id="59" name="Text 50"/>
          <p:cNvSpPr txBox="1"/>
          <p:nvPr/>
        </p:nvSpPr>
        <p:spPr>
          <a:xfrm>
            <a:off x="4981651" y="1171346"/>
            <a:ext cx="286207" cy="210312"/>
          </a:xfrm>
          <a:prstGeom prst="rect">
            <a:avLst/>
          </a:prstGeom>
          <a:solidFill>
            <a:srgbClr val="EF4444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71500"/>
            <a:ext cx="12191695" cy="5905195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81305" y="800100"/>
            <a:ext cx="4953305" cy="5447995"/>
          </a:xfrm>
          <a:prstGeom prst="roundRect">
            <a:avLst>
              <a:gd name="adj" fmla="val 426"/>
            </a:avLst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3" b="-3"/>
          <a:stretch/>
        </p:blipFill>
        <p:spPr>
          <a:xfrm>
            <a:off x="580644" y="1000354"/>
            <a:ext cx="4552798" cy="504840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80644" y="1000354"/>
            <a:ext cx="4552798" cy="267005"/>
          </a:xfrm>
          <a:prstGeom prst="roundRect">
            <a:avLst>
              <a:gd name="adj" fmla="val 97847"/>
            </a:avLst>
          </a:prstGeom>
          <a:solidFill>
            <a:srgbClr val="F1F5F9"/>
          </a:solidFill>
          <a:ln/>
        </p:spPr>
      </p:sp>
      <p:sp>
        <p:nvSpPr>
          <p:cNvPr id="8" name="Shape 5"/>
          <p:cNvSpPr/>
          <p:nvPr/>
        </p:nvSpPr>
        <p:spPr>
          <a:xfrm>
            <a:off x="580644" y="1258214"/>
            <a:ext cx="4552798" cy="9144"/>
          </a:xfrm>
          <a:prstGeom prst="roundRect">
            <a:avLst>
              <a:gd name="adj" fmla="val 2857143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94944" y="1090879"/>
            <a:ext cx="75895" cy="75895"/>
          </a:xfrm>
          <a:prstGeom prst="ellipse">
            <a:avLst/>
          </a:prstGeom>
          <a:solidFill>
            <a:srgbClr val="FCA5A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28446" y="1090879"/>
            <a:ext cx="75895" cy="75895"/>
          </a:xfrm>
          <a:prstGeom prst="ellipse">
            <a:avLst/>
          </a:prstGeom>
          <a:solidFill>
            <a:srgbClr val="FCD34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61949" y="1090879"/>
            <a:ext cx="75895" cy="75895"/>
          </a:xfrm>
          <a:prstGeom prst="ellipse">
            <a:avLst/>
          </a:prstGeom>
          <a:solidFill>
            <a:srgbClr val="86EFA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037844" y="1052474"/>
            <a:ext cx="403890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partner.travel.com/signup/representative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933602" y="1552651"/>
            <a:ext cx="38487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대표자 정보 입력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933602" y="1895551"/>
            <a:ext cx="38487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법적 책임자의 정확한 정보를 입력해주세요.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2590495" y="2276856"/>
            <a:ext cx="75895" cy="75895"/>
          </a:xfrm>
          <a:prstGeom prst="ellipse">
            <a:avLst/>
          </a:prstGeom>
          <a:solidFill>
            <a:srgbClr val="E2E8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2704795" y="2276856"/>
            <a:ext cx="190195" cy="75895"/>
          </a:xfrm>
          <a:prstGeom prst="roundRect">
            <a:avLst>
              <a:gd name="adj" fmla="val 602411"/>
            </a:avLst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2933395" y="2276856"/>
            <a:ext cx="75895" cy="75895"/>
          </a:xfrm>
          <a:prstGeom prst="ellipse">
            <a:avLst/>
          </a:prstGeom>
          <a:solidFill>
            <a:srgbClr val="E2E8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047695" y="2276856"/>
            <a:ext cx="75895" cy="75895"/>
          </a:xfrm>
          <a:prstGeom prst="ellipse">
            <a:avLst/>
          </a:prstGeom>
          <a:solidFill>
            <a:srgbClr val="E2E8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028700" y="2790749"/>
            <a:ext cx="3657600" cy="342900"/>
          </a:xfrm>
          <a:prstGeom prst="roundRect">
            <a:avLst>
              <a:gd name="adj" fmla="val 4444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3479292" y="3286354"/>
            <a:ext cx="14502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로그인 계정과 동일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1028700" y="3552444"/>
            <a:ext cx="3657600" cy="342900"/>
          </a:xfrm>
          <a:prstGeom prst="roundRect">
            <a:avLst>
              <a:gd name="adj" fmla="val 4444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1028700" y="4257446"/>
            <a:ext cx="3657600" cy="342900"/>
          </a:xfrm>
          <a:prstGeom prst="roundRect">
            <a:avLst>
              <a:gd name="adj" fmla="val 4444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1028700" y="4638751"/>
            <a:ext cx="38487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숫자만 입력 시 자동 하이픈(-) 적용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1028700" y="5171846"/>
            <a:ext cx="952805" cy="381305"/>
          </a:xfrm>
          <a:prstGeom prst="roundRect">
            <a:avLst>
              <a:gd name="adj" fmla="val 3597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2057400" y="5171846"/>
            <a:ext cx="2628900" cy="381305"/>
          </a:xfrm>
          <a:prstGeom prst="roundRect">
            <a:avLst>
              <a:gd name="adj" fmla="val 35971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5562295" y="800100"/>
            <a:ext cx="6248095" cy="5447995"/>
          </a:xfrm>
          <a:prstGeom prst="roundRect">
            <a:avLst>
              <a:gd name="adj" fmla="val 35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5572354" y="809244"/>
            <a:ext cx="6229807" cy="533095"/>
          </a:xfrm>
          <a:prstGeom prst="roundRect">
            <a:avLst>
              <a:gd name="adj" fmla="val 36756"/>
            </a:avLst>
          </a:prstGeom>
          <a:solidFill>
            <a:srgbClr val="FFFFFF"/>
          </a:solidFill>
          <a:ln/>
        </p:spPr>
      </p:sp>
      <p:sp>
        <p:nvSpPr>
          <p:cNvPr id="28" name="Shape 25"/>
          <p:cNvSpPr/>
          <p:nvPr/>
        </p:nvSpPr>
        <p:spPr>
          <a:xfrm>
            <a:off x="5572354" y="1333195"/>
            <a:ext cx="6229807" cy="9144"/>
          </a:xfrm>
          <a:prstGeom prst="roundRect">
            <a:avLst>
              <a:gd name="adj" fmla="val 2142857"/>
            </a:avLst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000293" y="961949"/>
            <a:ext cx="113111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상세 사양 및 정책</a:t>
            </a:r>
            <a:endParaRPr lang="en-US" sz="1100" dirty="0"/>
          </a:p>
        </p:txBody>
      </p:sp>
      <p:pic>
        <p:nvPicPr>
          <p:cNvPr id="30" name="Image 1" descr="preencoded.png">    </p:cNvPr>
          <p:cNvPicPr>
            <a:picLocks noChangeAspect="1"/>
          </p:cNvPicPr>
          <p:nvPr/>
        </p:nvPicPr>
        <p:blipFill>
          <a:blip r:embed="rId2"/>
          <a:srcRect l="-428" r="-428" t="0" b="0"/>
          <a:stretch/>
        </p:blipFill>
        <p:spPr>
          <a:xfrm>
            <a:off x="5762549" y="997610"/>
            <a:ext cx="161849" cy="142646"/>
          </a:xfrm>
          <a:prstGeom prst="rect">
            <a:avLst/>
          </a:prstGeom>
        </p:spPr>
      </p:pic>
      <p:sp>
        <p:nvSpPr>
          <p:cNvPr id="31" name="Text 27"/>
          <p:cNvSpPr txBox="1"/>
          <p:nvPr/>
        </p:nvSpPr>
        <p:spPr>
          <a:xfrm>
            <a:off x="9965131" y="993038"/>
            <a:ext cx="172455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Last Updated: 2026-02-02</a:t>
            </a:r>
            <a:endParaRPr lang="en-US" sz="9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72354" y="1338682"/>
          <a:ext cx="6229807" cy="3896258"/>
        </p:xfrm>
        <a:graphic>
          <a:graphicData uri="http://schemas.openxmlformats.org/drawingml/2006/table">
            <a:tbl>
              <a:tblPr/>
              <a:tblGrid>
                <a:gridCol w="1557223"/>
                <a:gridCol w="934517"/>
                <a:gridCol w="3738067"/>
              </a:tblGrid>
              <a:tr h="7792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b="1" dirty="0">
                          <a:solidFill>
                            <a:srgbClr val="64748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UI 요소 (Element)</a:t>
                      </a:r>
                      <a:endParaRPr lang="en-US" sz="97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705" marR="152705" marT="95098" marB="95098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b="1" dirty="0">
                          <a:solidFill>
                            <a:srgbClr val="64748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속성</a:t>
                      </a:r>
                      <a:endParaRPr lang="en-US" sz="97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705" marR="152705" marT="95098" marB="95098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b="1" dirty="0">
                          <a:solidFill>
                            <a:srgbClr val="64748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상세 설명 및 규칙 (Description &amp; Rules)</a:t>
                      </a:r>
                      <a:endParaRPr lang="en-US" sz="97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705" marR="152705" marT="95098" marB="95098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7792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</a:t>
                      </a:r>
                      <a:pPr indent="0" marL="0">
                        <a:buNone/>
                      </a:pP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3341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대표자명</a:t>
                      </a:r>
                      <a:endParaRPr lang="en-US" sz="1200" dirty="0"/>
                    </a:p>
                  </a:txBody>
                  <a:tcPr marL="152705" marR="152705" marT="114300" marB="114300" anchor="t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5" b="1" dirty="0">
                          <a:solidFill>
                            <a:srgbClr val="991B1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필수</a:t>
                      </a:r>
                      <a:endParaRPr lang="en-US" sz="1200" dirty="0"/>
                    </a:p>
                  </a:txBody>
                  <a:tcPr marL="152705" marR="152705" marT="114300" marB="114300" anchor="t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b="1" dirty="0">
                          <a:solidFill>
                            <a:srgbClr val="3341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형식:</a:t>
                      </a:r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3341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 한글/영문 2~50자 (특수문자 제외)</a:t>
                      </a:r>
                      <a:pPr indent="0" marL="0">
                        <a:spcAft>
                          <a:spcPts val="300"/>
                        </a:spcAft>
                        <a:buNone/>
                      </a:pP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공동 대표일 경우 주 대표자 1인 정보 입력 안내.</a:t>
                      </a:r>
                      <a:endParaRPr lang="en-US" sz="1200" dirty="0"/>
                    </a:p>
                  </a:txBody>
                  <a:tcPr marL="152705" marR="152705" marT="114300" marB="114300" anchor="t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92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</a:t>
                      </a:r>
                      <a:pPr indent="0" marL="0">
                        <a:buNone/>
                      </a:pP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3341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대표자 이메일</a:t>
                      </a:r>
                      <a:endParaRPr lang="en-US" sz="1200" dirty="0"/>
                    </a:p>
                  </a:txBody>
                  <a:tcPr marL="152705" marR="152705" marT="114300" marB="114300" anchor="t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5" b="1" dirty="0">
                          <a:solidFill>
                            <a:srgbClr val="991B1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필수</a:t>
                      </a:r>
                      <a:endParaRPr lang="en-US" sz="1200" dirty="0"/>
                    </a:p>
                  </a:txBody>
                  <a:tcPr marL="152705" marR="152705" marT="114300" marB="114300" anchor="t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b="1" dirty="0">
                          <a:solidFill>
                            <a:srgbClr val="3341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기능:</a:t>
                      </a:r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3341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 [로그인 계정과 동일] 체크 시 S-01에서 입력한 이메일 자동 입력.</a:t>
                      </a:r>
                      <a:pPr indent="0" marL="0">
                        <a:spcAft>
                          <a:spcPts val="300"/>
                        </a:spcAft>
                        <a:buNone/>
                      </a:pP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975" b="1" dirty="0">
                          <a:solidFill>
                            <a:srgbClr val="3341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Validation:</a:t>
                      </a:r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3341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 RFC 5322 이메일 형식 검증.</a:t>
                      </a:r>
                      <a:pPr indent="0" marL="0">
                        <a:spcAft>
                          <a:spcPts val="300"/>
                        </a:spcAft>
                        <a:buNone/>
                      </a:pP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주요 계약 관련 통지 수단으로 사용됨을 안내.</a:t>
                      </a:r>
                      <a:endParaRPr lang="en-US" sz="1200" dirty="0"/>
                    </a:p>
                  </a:txBody>
                  <a:tcPr marL="152705" marR="152705" marT="114300" marB="114300" anchor="t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92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</a:t>
                      </a:r>
                      <a:pPr indent="0" marL="0">
                        <a:buNone/>
                      </a:pP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3341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휴대폰 번호</a:t>
                      </a:r>
                      <a:endParaRPr lang="en-US" sz="1200" dirty="0"/>
                    </a:p>
                  </a:txBody>
                  <a:tcPr marL="152705" marR="152705" marT="114300" marB="114300" anchor="t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5" b="1" dirty="0">
                          <a:solidFill>
                            <a:srgbClr val="991B1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필수</a:t>
                      </a:r>
                      <a:endParaRPr lang="en-US" sz="1200" dirty="0"/>
                    </a:p>
                  </a:txBody>
                  <a:tcPr marL="152705" marR="152705" marT="114300" marB="114300" anchor="t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b="1" dirty="0">
                          <a:solidFill>
                            <a:srgbClr val="3341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Format:</a:t>
                      </a:r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3341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 010-XXXX-XXXX (자동 포맷팅)</a:t>
                      </a:r>
                      <a:pPr indent="0" marL="0">
                        <a:spcAft>
                          <a:spcPts val="300"/>
                        </a:spcAft>
                        <a:buNone/>
                      </a:pP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975" b="1" dirty="0">
                          <a:solidFill>
                            <a:srgbClr val="3341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Validation:</a:t>
                      </a:r>
                      <a:pPr indent="0" marL="0">
                        <a:spcAft>
                          <a:spcPts val="300"/>
                        </a:spcAft>
                        <a:buNone/>
                      </a:pP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숫자만 입력 허용</a:t>
                      </a:r>
                      <a:pPr indent="0" marL="0">
                        <a:buNone/>
                      </a:pP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국번(010, 011 등) 유효성 체크</a:t>
                      </a:r>
                      <a:pPr indent="0" marL="0">
                        <a:spcBef>
                          <a:spcPts val="150"/>
                        </a:spcBef>
                        <a:buNone/>
                      </a:pP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자릿수 미달 시 에러: "올바른 휴대폰 번호 형식이 아닙니다."</a:t>
                      </a:r>
                      <a:endParaRPr lang="en-US" sz="1200" dirty="0"/>
                    </a:p>
                  </a:txBody>
                  <a:tcPr marL="152705" marR="152705" marT="114300" marB="114300" anchor="t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92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4</a:t>
                      </a:r>
                      <a:pPr indent="0" marL="0">
                        <a:buNone/>
                      </a:pP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1D4ED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Navigation</a:t>
                      </a:r>
                      <a:endParaRPr lang="en-US" sz="1200" dirty="0"/>
                    </a:p>
                  </a:txBody>
                  <a:tcPr marL="152705" marR="152705" marT="114300" marB="114300" anchor="t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5" b="1" dirty="0">
                          <a:solidFill>
                            <a:srgbClr val="4338C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Button</a:t>
                      </a:r>
                      <a:endParaRPr lang="en-US" sz="1200" dirty="0"/>
                    </a:p>
                  </a:txBody>
                  <a:tcPr marL="152705" marR="152705" marT="114300" marB="114300" anchor="t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b="1" dirty="0">
                          <a:solidFill>
                            <a:srgbClr val="3341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이전:</a:t>
                      </a:r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3341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 S-03(사업자 정보) 화면으로 이동. 입력 데이터 유지.</a:t>
                      </a:r>
                      <a:pPr indent="0" marL="0">
                        <a:spcAft>
                          <a:spcPts val="300"/>
                        </a:spcAft>
                        <a:buNone/>
                      </a:pP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975" b="1" dirty="0">
                          <a:solidFill>
                            <a:srgbClr val="3341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다음:</a:t>
                      </a:r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3341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 필수값 검증 통과 시 S-05(담당자 정보)로 이동.</a:t>
                      </a:r>
                      <a:endParaRPr lang="en-US" sz="1200" dirty="0"/>
                    </a:p>
                  </a:txBody>
                  <a:tcPr marL="152705" marR="152705" marT="114300" marB="114300" anchor="t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</a:tr>
            </a:tbl>
          </a:graphicData>
        </a:graphic>
      </p:graphicFrame>
      <p:sp>
        <p:nvSpPr>
          <p:cNvPr id="33" name="Shape 28"/>
          <p:cNvSpPr/>
          <p:nvPr/>
        </p:nvSpPr>
        <p:spPr>
          <a:xfrm>
            <a:off x="5572354" y="5229454"/>
            <a:ext cx="6229807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34" name="Text 29"/>
          <p:cNvSpPr txBox="1"/>
          <p:nvPr/>
        </p:nvSpPr>
        <p:spPr>
          <a:xfrm>
            <a:off x="5971946" y="5429707"/>
            <a:ext cx="57534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예외 및 참고 (Notes)</a:t>
            </a:r>
            <a:endParaRPr lang="en-US" sz="1000" dirty="0"/>
          </a:p>
        </p:txBody>
      </p:sp>
      <p:pic>
        <p:nvPicPr>
          <p:cNvPr id="35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762549" y="5455310"/>
            <a:ext cx="133502" cy="133502"/>
          </a:xfrm>
          <a:prstGeom prst="rect">
            <a:avLst/>
          </a:prstGeom>
        </p:spPr>
      </p:pic>
      <p:sp>
        <p:nvSpPr>
          <p:cNvPr id="36" name="Text 30"/>
          <p:cNvSpPr txBox="1"/>
          <p:nvPr/>
        </p:nvSpPr>
        <p:spPr>
          <a:xfrm>
            <a:off x="5762549" y="5695798"/>
            <a:ext cx="603961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</a:t>
            </a:r>
            <a:pPr algn="l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이메일 중복 허용:</a:t>
            </a:r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대표자 이메일은 로그인 계정(ID)과 동일해도 무방함.</a:t>
            </a:r>
            <a:endParaRPr lang="en-US" sz="900" dirty="0"/>
          </a:p>
        </p:txBody>
      </p:sp>
      <p:sp>
        <p:nvSpPr>
          <p:cNvPr id="37" name="Text 31"/>
          <p:cNvSpPr txBox="1"/>
          <p:nvPr/>
        </p:nvSpPr>
        <p:spPr>
          <a:xfrm>
            <a:off x="5762549" y="5886907"/>
            <a:ext cx="61850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</a:t>
            </a:r>
            <a:pPr algn="l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법인 사업자:</a:t>
            </a:r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등기부등본 상의 대표자명과 일치해야 추후 서류 심사에서 반려되지 않음을 툴팁으로 제공 권장.</a:t>
            </a:r>
            <a:endParaRPr lang="en-US" sz="900" dirty="0"/>
          </a:p>
        </p:txBody>
      </p:sp>
      <p:sp>
        <p:nvSpPr>
          <p:cNvPr id="38" name="Shape 32"/>
          <p:cNvSpPr/>
          <p:nvPr/>
        </p:nvSpPr>
        <p:spPr>
          <a:xfrm>
            <a:off x="0" y="6476695"/>
            <a:ext cx="12191695" cy="38130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9" name="Shape 33"/>
          <p:cNvSpPr/>
          <p:nvPr/>
        </p:nvSpPr>
        <p:spPr>
          <a:xfrm>
            <a:off x="0" y="6476695"/>
            <a:ext cx="12191695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40" name="Text 34"/>
          <p:cNvSpPr txBox="1"/>
          <p:nvPr/>
        </p:nvSpPr>
        <p:spPr>
          <a:xfrm>
            <a:off x="381305" y="6586423"/>
            <a:ext cx="191749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B2B 파트너 입점 화면설계서 v0.9</a:t>
            </a:r>
            <a:endParaRPr lang="en-US" sz="900" dirty="0"/>
          </a:p>
        </p:txBody>
      </p:sp>
      <p:sp>
        <p:nvSpPr>
          <p:cNvPr id="41" name="Text 35"/>
          <p:cNvSpPr txBox="1"/>
          <p:nvPr/>
        </p:nvSpPr>
        <p:spPr>
          <a:xfrm>
            <a:off x="11330330" y="6586423"/>
            <a:ext cx="56235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Page 12</a:t>
            </a:r>
            <a:endParaRPr lang="en-US" sz="900" dirty="0"/>
          </a:p>
        </p:txBody>
      </p:sp>
      <p:sp>
        <p:nvSpPr>
          <p:cNvPr id="42" name="Shape 36"/>
          <p:cNvSpPr/>
          <p:nvPr/>
        </p:nvSpPr>
        <p:spPr>
          <a:xfrm>
            <a:off x="0" y="0"/>
            <a:ext cx="12191695" cy="571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3" name="Shape 37"/>
          <p:cNvSpPr/>
          <p:nvPr/>
        </p:nvSpPr>
        <p:spPr>
          <a:xfrm>
            <a:off x="0" y="562356"/>
            <a:ext cx="12191695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44" name="Shape 38"/>
          <p:cNvSpPr/>
          <p:nvPr/>
        </p:nvSpPr>
        <p:spPr>
          <a:xfrm>
            <a:off x="381305" y="142646"/>
            <a:ext cx="523951" cy="276149"/>
          </a:xfrm>
          <a:prstGeom prst="roundRect">
            <a:avLst>
              <a:gd name="adj" fmla="val 68509"/>
            </a:avLst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" name="Text 39"/>
          <p:cNvSpPr txBox="1"/>
          <p:nvPr/>
        </p:nvSpPr>
        <p:spPr>
          <a:xfrm>
            <a:off x="381305" y="142646"/>
            <a:ext cx="581558" cy="2770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40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S-04</a:t>
            </a:r>
            <a:endParaRPr lang="en-US" sz="1000" dirty="0"/>
          </a:p>
        </p:txBody>
      </p:sp>
      <p:sp>
        <p:nvSpPr>
          <p:cNvPr id="46" name="Text 40"/>
          <p:cNvSpPr txBox="1"/>
          <p:nvPr/>
        </p:nvSpPr>
        <p:spPr>
          <a:xfrm>
            <a:off x="1053389" y="152705"/>
            <a:ext cx="1024128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대표자 정보</a:t>
            </a:r>
            <a:endParaRPr lang="en-US" sz="1300" dirty="0"/>
          </a:p>
        </p:txBody>
      </p:sp>
      <p:sp>
        <p:nvSpPr>
          <p:cNvPr id="47" name="Text 41"/>
          <p:cNvSpPr txBox="1"/>
          <p:nvPr/>
        </p:nvSpPr>
        <p:spPr>
          <a:xfrm>
            <a:off x="10390327" y="204826"/>
            <a:ext cx="63825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반응형 지원</a:t>
            </a:r>
            <a:endParaRPr lang="en-US" sz="900" dirty="0"/>
          </a:p>
        </p:txBody>
      </p:sp>
      <p:pic>
        <p:nvPicPr>
          <p:cNvPr id="48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10237622" y="224028"/>
            <a:ext cx="114300" cy="114300"/>
          </a:xfrm>
          <a:prstGeom prst="rect">
            <a:avLst/>
          </a:prstGeom>
        </p:spPr>
      </p:pic>
      <p:sp>
        <p:nvSpPr>
          <p:cNvPr id="49" name="Text 42"/>
          <p:cNvSpPr txBox="1"/>
          <p:nvPr/>
        </p:nvSpPr>
        <p:spPr>
          <a:xfrm>
            <a:off x="11253521" y="204826"/>
            <a:ext cx="63825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암호화 저장</a:t>
            </a:r>
            <a:endParaRPr lang="en-US" sz="900" dirty="0"/>
          </a:p>
        </p:txBody>
      </p:sp>
      <p:pic>
        <p:nvPicPr>
          <p:cNvPr id="50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11100816" y="224028"/>
            <a:ext cx="114300" cy="114300"/>
          </a:xfrm>
          <a:prstGeom prst="rect">
            <a:avLst/>
          </a:prstGeom>
        </p:spPr>
      </p:pic>
      <p:sp>
        <p:nvSpPr>
          <p:cNvPr id="51" name="Shape 43"/>
          <p:cNvSpPr/>
          <p:nvPr/>
        </p:nvSpPr>
        <p:spPr>
          <a:xfrm>
            <a:off x="543154" y="961949"/>
            <a:ext cx="1104595" cy="228600"/>
          </a:xfrm>
          <a:prstGeom prst="roundRect">
            <a:avLst>
              <a:gd name="adj" fmla="val 66667"/>
            </a:avLst>
          </a:prstGeom>
          <a:solidFill>
            <a:srgbClr val="000000">
              <a:alpha val="7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2" name="Text 44"/>
          <p:cNvSpPr txBox="1"/>
          <p:nvPr/>
        </p:nvSpPr>
        <p:spPr>
          <a:xfrm>
            <a:off x="543154" y="961949"/>
            <a:ext cx="1162202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PC 1280px View</a:t>
            </a:r>
            <a:endParaRPr lang="en-US" sz="900" dirty="0"/>
          </a:p>
        </p:txBody>
      </p:sp>
      <p:sp>
        <p:nvSpPr>
          <p:cNvPr id="53" name="Text 45"/>
          <p:cNvSpPr txBox="1"/>
          <p:nvPr/>
        </p:nvSpPr>
        <p:spPr>
          <a:xfrm>
            <a:off x="4533595" y="2819095"/>
            <a:ext cx="286207" cy="210312"/>
          </a:xfrm>
          <a:prstGeom prst="rect">
            <a:avLst/>
          </a:prstGeom>
          <a:solidFill>
            <a:srgbClr val="EF4444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800" dirty="0"/>
          </a:p>
        </p:txBody>
      </p:sp>
      <p:sp>
        <p:nvSpPr>
          <p:cNvPr id="54" name="Text 46"/>
          <p:cNvSpPr txBox="1"/>
          <p:nvPr/>
        </p:nvSpPr>
        <p:spPr>
          <a:xfrm>
            <a:off x="4533595" y="3524098"/>
            <a:ext cx="286207" cy="210312"/>
          </a:xfrm>
          <a:prstGeom prst="rect">
            <a:avLst/>
          </a:prstGeom>
          <a:solidFill>
            <a:srgbClr val="EF4444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800" dirty="0"/>
          </a:p>
        </p:txBody>
      </p:sp>
      <p:sp>
        <p:nvSpPr>
          <p:cNvPr id="55" name="Text 47"/>
          <p:cNvSpPr txBox="1"/>
          <p:nvPr/>
        </p:nvSpPr>
        <p:spPr>
          <a:xfrm>
            <a:off x="4533595" y="4286707"/>
            <a:ext cx="286207" cy="210312"/>
          </a:xfrm>
          <a:prstGeom prst="rect">
            <a:avLst/>
          </a:prstGeom>
          <a:solidFill>
            <a:srgbClr val="EF4444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800" dirty="0"/>
          </a:p>
        </p:txBody>
      </p:sp>
      <p:sp>
        <p:nvSpPr>
          <p:cNvPr id="56" name="Text 48"/>
          <p:cNvSpPr txBox="1"/>
          <p:nvPr/>
        </p:nvSpPr>
        <p:spPr>
          <a:xfrm>
            <a:off x="4533595" y="5076749"/>
            <a:ext cx="286207" cy="210312"/>
          </a:xfrm>
          <a:prstGeom prst="rect">
            <a:avLst/>
          </a:prstGeom>
          <a:solidFill>
            <a:srgbClr val="EF4444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71500"/>
            <a:ext cx="12191695" cy="5905195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81305" y="800100"/>
            <a:ext cx="4953305" cy="5447995"/>
          </a:xfrm>
          <a:prstGeom prst="roundRect">
            <a:avLst>
              <a:gd name="adj" fmla="val 426"/>
            </a:avLst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3" b="-3"/>
          <a:stretch/>
        </p:blipFill>
        <p:spPr>
          <a:xfrm>
            <a:off x="580644" y="1000354"/>
            <a:ext cx="4552798" cy="504840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80644" y="1000354"/>
            <a:ext cx="4552798" cy="267005"/>
          </a:xfrm>
          <a:prstGeom prst="roundRect">
            <a:avLst>
              <a:gd name="adj" fmla="val 97847"/>
            </a:avLst>
          </a:prstGeom>
          <a:solidFill>
            <a:srgbClr val="F1F5F9"/>
          </a:solidFill>
          <a:ln/>
        </p:spPr>
      </p:sp>
      <p:sp>
        <p:nvSpPr>
          <p:cNvPr id="8" name="Shape 5"/>
          <p:cNvSpPr/>
          <p:nvPr/>
        </p:nvSpPr>
        <p:spPr>
          <a:xfrm>
            <a:off x="580644" y="1258214"/>
            <a:ext cx="4552798" cy="9144"/>
          </a:xfrm>
          <a:prstGeom prst="roundRect">
            <a:avLst>
              <a:gd name="adj" fmla="val 2857143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94944" y="1090879"/>
            <a:ext cx="75895" cy="75895"/>
          </a:xfrm>
          <a:prstGeom prst="ellipse">
            <a:avLst/>
          </a:prstGeom>
          <a:solidFill>
            <a:srgbClr val="FCA5A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28446" y="1090879"/>
            <a:ext cx="75895" cy="75895"/>
          </a:xfrm>
          <a:prstGeom prst="ellipse">
            <a:avLst/>
          </a:prstGeom>
          <a:solidFill>
            <a:srgbClr val="FCD34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61949" y="1090879"/>
            <a:ext cx="75895" cy="75895"/>
          </a:xfrm>
          <a:prstGeom prst="ellipse">
            <a:avLst/>
          </a:prstGeom>
          <a:solidFill>
            <a:srgbClr val="86EFA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037844" y="1052474"/>
            <a:ext cx="403890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partner.travel.com/signup/manager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933602" y="1552651"/>
            <a:ext cx="38487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실무 담당자 정보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933602" y="1895551"/>
            <a:ext cx="38487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운영 및 정산 관련 안내를 받을 담당자를 지정해주세요.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2590495" y="2276856"/>
            <a:ext cx="75895" cy="75895"/>
          </a:xfrm>
          <a:prstGeom prst="ellipse">
            <a:avLst/>
          </a:prstGeom>
          <a:solidFill>
            <a:srgbClr val="E2E8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2704795" y="2276856"/>
            <a:ext cx="190195" cy="75895"/>
          </a:xfrm>
          <a:prstGeom prst="roundRect">
            <a:avLst>
              <a:gd name="adj" fmla="val 602411"/>
            </a:avLst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2933395" y="2276856"/>
            <a:ext cx="75895" cy="75895"/>
          </a:xfrm>
          <a:prstGeom prst="ellipse">
            <a:avLst/>
          </a:prstGeom>
          <a:solidFill>
            <a:srgbClr val="E2E8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047695" y="2276856"/>
            <a:ext cx="75895" cy="75895"/>
          </a:xfrm>
          <a:prstGeom prst="ellipse">
            <a:avLst/>
          </a:prstGeom>
          <a:solidFill>
            <a:srgbClr val="E2E8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028700" y="2581351"/>
            <a:ext cx="3657600" cy="666598"/>
          </a:xfrm>
          <a:prstGeom prst="roundRect">
            <a:avLst>
              <a:gd name="adj" fmla="val 15677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1380744" y="2704795"/>
            <a:ext cx="168158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40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대표자 정보와 동일하게 입력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1152144" y="2895905"/>
            <a:ext cx="36009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대표자 정보를 불러와 자동으로 채웁니다.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1028700" y="3648456"/>
            <a:ext cx="3657600" cy="342900"/>
          </a:xfrm>
          <a:prstGeom prst="roundRect">
            <a:avLst>
              <a:gd name="adj" fmla="val 4444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1028700" y="4352544"/>
            <a:ext cx="3657600" cy="342900"/>
          </a:xfrm>
          <a:prstGeom prst="roundRect">
            <a:avLst>
              <a:gd name="adj" fmla="val 4444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028700" y="5057546"/>
            <a:ext cx="3657600" cy="342900"/>
          </a:xfrm>
          <a:prstGeom prst="roundRect">
            <a:avLst>
              <a:gd name="adj" fmla="val 4444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1028700" y="5438851"/>
            <a:ext cx="38487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※ 주요 계약 및 정산 알림이 발송됩니다.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1028700" y="6029554"/>
            <a:ext cx="3657600" cy="342900"/>
          </a:xfrm>
          <a:prstGeom prst="roundRect">
            <a:avLst>
              <a:gd name="adj" fmla="val 4444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1028700" y="6676949"/>
            <a:ext cx="1200607" cy="381305"/>
          </a:xfrm>
          <a:prstGeom prst="roundRect">
            <a:avLst>
              <a:gd name="adj" fmla="val 3597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2324405" y="6676949"/>
            <a:ext cx="2361895" cy="381305"/>
          </a:xfrm>
          <a:prstGeom prst="roundRect">
            <a:avLst>
              <a:gd name="adj" fmla="val 35971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5562295" y="800100"/>
            <a:ext cx="6248095" cy="5447995"/>
          </a:xfrm>
          <a:prstGeom prst="roundRect">
            <a:avLst>
              <a:gd name="adj" fmla="val 35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5572354" y="809244"/>
            <a:ext cx="6229807" cy="533095"/>
          </a:xfrm>
          <a:prstGeom prst="roundRect">
            <a:avLst>
              <a:gd name="adj" fmla="val 36756"/>
            </a:avLst>
          </a:prstGeom>
          <a:solidFill>
            <a:srgbClr val="FFFFFF"/>
          </a:solidFill>
          <a:ln/>
        </p:spPr>
      </p:sp>
      <p:sp>
        <p:nvSpPr>
          <p:cNvPr id="31" name="Shape 28"/>
          <p:cNvSpPr/>
          <p:nvPr/>
        </p:nvSpPr>
        <p:spPr>
          <a:xfrm>
            <a:off x="5572354" y="1333195"/>
            <a:ext cx="6229807" cy="9144"/>
          </a:xfrm>
          <a:prstGeom prst="roundRect">
            <a:avLst>
              <a:gd name="adj" fmla="val 2142857"/>
            </a:avLst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6000293" y="961949"/>
            <a:ext cx="113111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상세 사양 및 정책</a:t>
            </a:r>
            <a:endParaRPr lang="en-US" sz="1100" dirty="0"/>
          </a:p>
        </p:txBody>
      </p:sp>
      <p:pic>
        <p:nvPicPr>
          <p:cNvPr id="33" name="Image 1" descr="preencoded.png">    </p:cNvPr>
          <p:cNvPicPr>
            <a:picLocks noChangeAspect="1"/>
          </p:cNvPicPr>
          <p:nvPr/>
        </p:nvPicPr>
        <p:blipFill>
          <a:blip r:embed="rId2"/>
          <a:srcRect l="-428" r="-428" t="0" b="0"/>
          <a:stretch/>
        </p:blipFill>
        <p:spPr>
          <a:xfrm>
            <a:off x="5762549" y="997610"/>
            <a:ext cx="161849" cy="142646"/>
          </a:xfrm>
          <a:prstGeom prst="rect">
            <a:avLst/>
          </a:prstGeom>
        </p:spPr>
      </p:pic>
      <p:sp>
        <p:nvSpPr>
          <p:cNvPr id="34" name="Text 30"/>
          <p:cNvSpPr txBox="1"/>
          <p:nvPr/>
        </p:nvSpPr>
        <p:spPr>
          <a:xfrm>
            <a:off x="9965131" y="993038"/>
            <a:ext cx="172455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Last Updated: 2026-02-02</a:t>
            </a:r>
            <a:endParaRPr lang="en-US" sz="900" dirty="0"/>
          </a:p>
        </p:txBody>
      </p:sp>
      <p:sp>
        <p:nvSpPr>
          <p:cNvPr id="35" name="Shape 31"/>
          <p:cNvSpPr/>
          <p:nvPr/>
        </p:nvSpPr>
        <p:spPr>
          <a:xfrm>
            <a:off x="5572354" y="1338682"/>
            <a:ext cx="1561795" cy="381305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6" name="Shape 32"/>
          <p:cNvSpPr/>
          <p:nvPr/>
        </p:nvSpPr>
        <p:spPr>
          <a:xfrm>
            <a:off x="5572354" y="1710842"/>
            <a:ext cx="1561795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37" name="Text 33"/>
          <p:cNvSpPr txBox="1"/>
          <p:nvPr/>
        </p:nvSpPr>
        <p:spPr>
          <a:xfrm>
            <a:off x="5572354" y="1338682"/>
            <a:ext cx="1624889" cy="2770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UI 요소 (Element)</a:t>
            </a:r>
            <a:endParaRPr lang="en-US" sz="900" dirty="0"/>
          </a:p>
        </p:txBody>
      </p:sp>
      <p:sp>
        <p:nvSpPr>
          <p:cNvPr id="38" name="Shape 34"/>
          <p:cNvSpPr/>
          <p:nvPr/>
        </p:nvSpPr>
        <p:spPr>
          <a:xfrm>
            <a:off x="7129577" y="1338682"/>
            <a:ext cx="942746" cy="381305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9" name="Shape 35"/>
          <p:cNvSpPr/>
          <p:nvPr/>
        </p:nvSpPr>
        <p:spPr>
          <a:xfrm>
            <a:off x="7129577" y="1710842"/>
            <a:ext cx="942746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40" name="Text 36"/>
          <p:cNvSpPr txBox="1"/>
          <p:nvPr/>
        </p:nvSpPr>
        <p:spPr>
          <a:xfrm>
            <a:off x="7129577" y="1338682"/>
            <a:ext cx="1000354" cy="2770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속성</a:t>
            </a:r>
            <a:endParaRPr lang="en-US" sz="900" dirty="0"/>
          </a:p>
        </p:txBody>
      </p:sp>
      <p:sp>
        <p:nvSpPr>
          <p:cNvPr id="41" name="Shape 37"/>
          <p:cNvSpPr/>
          <p:nvPr/>
        </p:nvSpPr>
        <p:spPr>
          <a:xfrm>
            <a:off x="8064094" y="1338682"/>
            <a:ext cx="3743554" cy="381305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2" name="Shape 38"/>
          <p:cNvSpPr/>
          <p:nvPr/>
        </p:nvSpPr>
        <p:spPr>
          <a:xfrm>
            <a:off x="8064094" y="1710842"/>
            <a:ext cx="3743554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43" name="Text 39"/>
          <p:cNvSpPr txBox="1"/>
          <p:nvPr/>
        </p:nvSpPr>
        <p:spPr>
          <a:xfrm>
            <a:off x="8064094" y="1338682"/>
            <a:ext cx="3820363" cy="2770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상세 설명 및 규칙 (Description &amp; Rules)</a:t>
            </a:r>
            <a:endParaRPr lang="en-US" sz="900" dirty="0"/>
          </a:p>
        </p:txBody>
      </p:sp>
      <p:sp>
        <p:nvSpPr>
          <p:cNvPr id="44" name="Shape 40"/>
          <p:cNvSpPr/>
          <p:nvPr/>
        </p:nvSpPr>
        <p:spPr>
          <a:xfrm>
            <a:off x="5572354" y="2500884"/>
            <a:ext cx="1561795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45" name="Shape 41"/>
          <p:cNvSpPr/>
          <p:nvPr/>
        </p:nvSpPr>
        <p:spPr>
          <a:xfrm>
            <a:off x="7129577" y="2500884"/>
            <a:ext cx="942746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46" name="Text 42"/>
          <p:cNvSpPr txBox="1"/>
          <p:nvPr/>
        </p:nvSpPr>
        <p:spPr>
          <a:xfrm>
            <a:off x="7129577" y="1719072"/>
            <a:ext cx="1000354" cy="6675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665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Auto-fill</a:t>
            </a:r>
            <a:endParaRPr lang="en-US" sz="900" dirty="0"/>
          </a:p>
        </p:txBody>
      </p:sp>
      <p:sp>
        <p:nvSpPr>
          <p:cNvPr id="47" name="Shape 43"/>
          <p:cNvSpPr/>
          <p:nvPr/>
        </p:nvSpPr>
        <p:spPr>
          <a:xfrm>
            <a:off x="8064094" y="2500884"/>
            <a:ext cx="3743554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48" name="Text 44"/>
          <p:cNvSpPr txBox="1"/>
          <p:nvPr/>
        </p:nvSpPr>
        <p:spPr>
          <a:xfrm>
            <a:off x="8215884" y="1837944"/>
            <a:ext cx="381487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Action:</a:t>
            </a:r>
            <a:pPr algn="l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체크 시 S-04에서 입력한 '대표자' 데이터를 불러옴.</a:t>
            </a:r>
            <a:endParaRPr lang="en-US" sz="900" dirty="0"/>
          </a:p>
        </p:txBody>
      </p:sp>
      <p:sp>
        <p:nvSpPr>
          <p:cNvPr id="49" name="Text 45"/>
          <p:cNvSpPr txBox="1"/>
          <p:nvPr/>
        </p:nvSpPr>
        <p:spPr>
          <a:xfrm>
            <a:off x="8368589" y="2061972"/>
            <a:ext cx="340065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Target: 이름, 이메일, 휴대폰 번호 필드</a:t>
            </a:r>
            <a:endParaRPr lang="en-US" sz="900" dirty="0"/>
          </a:p>
        </p:txBody>
      </p:sp>
      <p:sp>
        <p:nvSpPr>
          <p:cNvPr id="50" name="Text 46"/>
          <p:cNvSpPr txBox="1"/>
          <p:nvPr/>
        </p:nvSpPr>
        <p:spPr>
          <a:xfrm>
            <a:off x="8368589" y="2233879"/>
            <a:ext cx="347746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체크 해제 시: 입력된 데이터 유지 (사용자가 수정 가능)</a:t>
            </a:r>
            <a:endParaRPr lang="en-US" sz="900" dirty="0"/>
          </a:p>
        </p:txBody>
      </p:sp>
      <p:sp>
        <p:nvSpPr>
          <p:cNvPr id="51" name="Shape 47"/>
          <p:cNvSpPr/>
          <p:nvPr/>
        </p:nvSpPr>
        <p:spPr>
          <a:xfrm>
            <a:off x="5572354" y="2934310"/>
            <a:ext cx="1561795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52" name="Shape 48"/>
          <p:cNvSpPr/>
          <p:nvPr/>
        </p:nvSpPr>
        <p:spPr>
          <a:xfrm>
            <a:off x="7129577" y="2934310"/>
            <a:ext cx="942746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53" name="Text 49"/>
          <p:cNvSpPr txBox="1"/>
          <p:nvPr/>
        </p:nvSpPr>
        <p:spPr>
          <a:xfrm>
            <a:off x="7129577" y="2505456"/>
            <a:ext cx="1000354" cy="31546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991B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필수</a:t>
            </a:r>
            <a:endParaRPr lang="en-US" sz="900" dirty="0"/>
          </a:p>
        </p:txBody>
      </p:sp>
      <p:sp>
        <p:nvSpPr>
          <p:cNvPr id="54" name="Shape 50"/>
          <p:cNvSpPr/>
          <p:nvPr/>
        </p:nvSpPr>
        <p:spPr>
          <a:xfrm>
            <a:off x="8064094" y="2934310"/>
            <a:ext cx="3743554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55" name="Text 51"/>
          <p:cNvSpPr txBox="1"/>
          <p:nvPr/>
        </p:nvSpPr>
        <p:spPr>
          <a:xfrm>
            <a:off x="8215884" y="2624328"/>
            <a:ext cx="355335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Validation:</a:t>
            </a:r>
            <a:pPr algn="l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한글/영문 2~20자. 특수문자 불가.</a:t>
            </a:r>
            <a:endParaRPr lang="en-US" sz="900" dirty="0"/>
          </a:p>
        </p:txBody>
      </p:sp>
      <p:sp>
        <p:nvSpPr>
          <p:cNvPr id="56" name="Shape 52"/>
          <p:cNvSpPr/>
          <p:nvPr/>
        </p:nvSpPr>
        <p:spPr>
          <a:xfrm>
            <a:off x="5572354" y="3367735"/>
            <a:ext cx="1561795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57" name="Shape 53"/>
          <p:cNvSpPr/>
          <p:nvPr/>
        </p:nvSpPr>
        <p:spPr>
          <a:xfrm>
            <a:off x="7129577" y="3367735"/>
            <a:ext cx="942746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58" name="Text 54"/>
          <p:cNvSpPr txBox="1"/>
          <p:nvPr/>
        </p:nvSpPr>
        <p:spPr>
          <a:xfrm>
            <a:off x="7129577" y="2938882"/>
            <a:ext cx="1000354" cy="31546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선택</a:t>
            </a:r>
            <a:endParaRPr lang="en-US" sz="900" dirty="0"/>
          </a:p>
        </p:txBody>
      </p:sp>
      <p:sp>
        <p:nvSpPr>
          <p:cNvPr id="59" name="Shape 55"/>
          <p:cNvSpPr/>
          <p:nvPr/>
        </p:nvSpPr>
        <p:spPr>
          <a:xfrm>
            <a:off x="8064094" y="3367735"/>
            <a:ext cx="3743554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60" name="Text 56"/>
          <p:cNvSpPr txBox="1"/>
          <p:nvPr/>
        </p:nvSpPr>
        <p:spPr>
          <a:xfrm>
            <a:off x="8215884" y="3057754"/>
            <a:ext cx="355335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입력 제한:</a:t>
            </a:r>
            <a:pPr algn="l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최대 20자.</a:t>
            </a:r>
            <a:endParaRPr lang="en-US" sz="900" dirty="0"/>
          </a:p>
        </p:txBody>
      </p:sp>
      <p:sp>
        <p:nvSpPr>
          <p:cNvPr id="61" name="Shape 57"/>
          <p:cNvSpPr/>
          <p:nvPr/>
        </p:nvSpPr>
        <p:spPr>
          <a:xfrm>
            <a:off x="5572354" y="4134917"/>
            <a:ext cx="1561795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62" name="Shape 58"/>
          <p:cNvSpPr/>
          <p:nvPr/>
        </p:nvSpPr>
        <p:spPr>
          <a:xfrm>
            <a:off x="7129577" y="4134917"/>
            <a:ext cx="942746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63" name="Text 59"/>
          <p:cNvSpPr txBox="1"/>
          <p:nvPr/>
        </p:nvSpPr>
        <p:spPr>
          <a:xfrm>
            <a:off x="7129577" y="3372307"/>
            <a:ext cx="1000354" cy="6483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991B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필수</a:t>
            </a:r>
            <a:endParaRPr lang="en-US" sz="900" dirty="0"/>
          </a:p>
        </p:txBody>
      </p:sp>
      <p:sp>
        <p:nvSpPr>
          <p:cNvPr id="64" name="Shape 60"/>
          <p:cNvSpPr/>
          <p:nvPr/>
        </p:nvSpPr>
        <p:spPr>
          <a:xfrm>
            <a:off x="8064094" y="4134917"/>
            <a:ext cx="3743554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65" name="Text 61"/>
          <p:cNvSpPr txBox="1"/>
          <p:nvPr/>
        </p:nvSpPr>
        <p:spPr>
          <a:xfrm>
            <a:off x="8215884" y="3491179"/>
            <a:ext cx="355335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규칙:</a:t>
            </a:r>
            <a:pPr algn="l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표준 이메일 형식 (RFC 5322)</a:t>
            </a:r>
            <a:endParaRPr lang="en-US" sz="900" dirty="0"/>
          </a:p>
        </p:txBody>
      </p:sp>
      <p:sp>
        <p:nvSpPr>
          <p:cNvPr id="66" name="Text 62"/>
          <p:cNvSpPr txBox="1"/>
          <p:nvPr/>
        </p:nvSpPr>
        <p:spPr>
          <a:xfrm>
            <a:off x="8215884" y="3715207"/>
            <a:ext cx="362925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계정 이메일(S-01)과 달라도 무방함.</a:t>
            </a:r>
            <a:endParaRPr lang="en-US" sz="900" dirty="0"/>
          </a:p>
        </p:txBody>
      </p:sp>
      <p:sp>
        <p:nvSpPr>
          <p:cNvPr id="67" name="Text 63"/>
          <p:cNvSpPr txBox="1"/>
          <p:nvPr/>
        </p:nvSpPr>
        <p:spPr>
          <a:xfrm>
            <a:off x="8368589" y="3866998"/>
            <a:ext cx="347654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계약 완료 시 알림톡/메일이 발송될 주소임.</a:t>
            </a:r>
            <a:endParaRPr lang="en-US" sz="900" dirty="0"/>
          </a:p>
        </p:txBody>
      </p:sp>
      <p:pic>
        <p:nvPicPr>
          <p:cNvPr id="68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215884" y="3881628"/>
            <a:ext cx="114300" cy="114300"/>
          </a:xfrm>
          <a:prstGeom prst="rect">
            <a:avLst/>
          </a:prstGeom>
        </p:spPr>
      </p:pic>
      <p:sp>
        <p:nvSpPr>
          <p:cNvPr id="69" name="Shape 64"/>
          <p:cNvSpPr/>
          <p:nvPr/>
        </p:nvSpPr>
        <p:spPr>
          <a:xfrm>
            <a:off x="5572354" y="4748479"/>
            <a:ext cx="1561795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70" name="Shape 65"/>
          <p:cNvSpPr/>
          <p:nvPr/>
        </p:nvSpPr>
        <p:spPr>
          <a:xfrm>
            <a:off x="7129577" y="4748479"/>
            <a:ext cx="942746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71" name="Text 66"/>
          <p:cNvSpPr txBox="1"/>
          <p:nvPr/>
        </p:nvSpPr>
        <p:spPr>
          <a:xfrm>
            <a:off x="7129577" y="4138574"/>
            <a:ext cx="1000354" cy="496519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991B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필수</a:t>
            </a:r>
            <a:endParaRPr lang="en-US" sz="900" dirty="0"/>
          </a:p>
        </p:txBody>
      </p:sp>
      <p:sp>
        <p:nvSpPr>
          <p:cNvPr id="72" name="Shape 67"/>
          <p:cNvSpPr/>
          <p:nvPr/>
        </p:nvSpPr>
        <p:spPr>
          <a:xfrm>
            <a:off x="8064094" y="4748479"/>
            <a:ext cx="3743554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73" name="Text 68"/>
          <p:cNvSpPr txBox="1"/>
          <p:nvPr/>
        </p:nvSpPr>
        <p:spPr>
          <a:xfrm>
            <a:off x="8215884" y="4257446"/>
            <a:ext cx="362925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형식:</a:t>
            </a:r>
            <a:pPr algn="l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숫자만 입력 허용 (하이픈 자동 포맷팅 적용).</a:t>
            </a:r>
            <a:endParaRPr lang="en-US" sz="900" dirty="0"/>
          </a:p>
        </p:txBody>
      </p:sp>
      <p:sp>
        <p:nvSpPr>
          <p:cNvPr id="74" name="Text 69"/>
          <p:cNvSpPr txBox="1"/>
          <p:nvPr/>
        </p:nvSpPr>
        <p:spPr>
          <a:xfrm>
            <a:off x="8215884" y="4481474"/>
            <a:ext cx="362925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유선전화(지역번호) 또는 휴대폰 번호 모두 허용.</a:t>
            </a:r>
            <a:endParaRPr lang="en-US" sz="900" dirty="0"/>
          </a:p>
        </p:txBody>
      </p:sp>
      <p:sp>
        <p:nvSpPr>
          <p:cNvPr id="75" name="Shape 70"/>
          <p:cNvSpPr/>
          <p:nvPr/>
        </p:nvSpPr>
        <p:spPr>
          <a:xfrm>
            <a:off x="5572354" y="4753051"/>
            <a:ext cx="6229807" cy="619049"/>
          </a:xfrm>
          <a:prstGeom prst="rect">
            <a:avLst/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6" name="Shape 71"/>
          <p:cNvSpPr/>
          <p:nvPr/>
        </p:nvSpPr>
        <p:spPr>
          <a:xfrm>
            <a:off x="5572354" y="5362956"/>
            <a:ext cx="1561795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77" name="Shape 72"/>
          <p:cNvSpPr/>
          <p:nvPr/>
        </p:nvSpPr>
        <p:spPr>
          <a:xfrm>
            <a:off x="7129577" y="5362956"/>
            <a:ext cx="942746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78" name="Text 73"/>
          <p:cNvSpPr txBox="1"/>
          <p:nvPr/>
        </p:nvSpPr>
        <p:spPr>
          <a:xfrm>
            <a:off x="7129577" y="4753051"/>
            <a:ext cx="1000354" cy="496519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338C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Button</a:t>
            </a:r>
            <a:endParaRPr lang="en-US" sz="900" dirty="0"/>
          </a:p>
        </p:txBody>
      </p:sp>
      <p:sp>
        <p:nvSpPr>
          <p:cNvPr id="79" name="Shape 74"/>
          <p:cNvSpPr/>
          <p:nvPr/>
        </p:nvSpPr>
        <p:spPr>
          <a:xfrm>
            <a:off x="8064094" y="5362956"/>
            <a:ext cx="3743554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80" name="Text 75"/>
          <p:cNvSpPr txBox="1"/>
          <p:nvPr/>
        </p:nvSpPr>
        <p:spPr>
          <a:xfrm>
            <a:off x="8215884" y="4871923"/>
            <a:ext cx="372709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필수 정보 유효성 검증 후 </a:t>
            </a:r>
            <a:pPr algn="l" indent="0" marL="0">
              <a:buNone/>
            </a:pPr>
            <a:r>
              <a:rPr lang="en-US" sz="900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S-06 서류 업로드</a:t>
            </a:r>
            <a:pPr algn="l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화면으로 이동.</a:t>
            </a:r>
            <a:endParaRPr lang="en-US" sz="900" dirty="0"/>
          </a:p>
        </p:txBody>
      </p:sp>
      <p:sp>
        <p:nvSpPr>
          <p:cNvPr id="81" name="Text 76"/>
          <p:cNvSpPr txBox="1"/>
          <p:nvPr/>
        </p:nvSpPr>
        <p:spPr>
          <a:xfrm>
            <a:off x="8215884" y="5095951"/>
            <a:ext cx="362925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이전 버튼 클릭 시 S-04 화면으로 이동 (입력값 유지).</a:t>
            </a:r>
            <a:endParaRPr lang="en-US" sz="900" dirty="0"/>
          </a:p>
        </p:txBody>
      </p:sp>
      <p:sp>
        <p:nvSpPr>
          <p:cNvPr id="82" name="Shape 77"/>
          <p:cNvSpPr/>
          <p:nvPr/>
        </p:nvSpPr>
        <p:spPr>
          <a:xfrm>
            <a:off x="5572354" y="5372100"/>
            <a:ext cx="6229807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83" name="Text 78"/>
          <p:cNvSpPr txBox="1"/>
          <p:nvPr/>
        </p:nvSpPr>
        <p:spPr>
          <a:xfrm>
            <a:off x="5971946" y="5572354"/>
            <a:ext cx="57534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예외 처리 (Exception)</a:t>
            </a:r>
            <a:endParaRPr lang="en-US" sz="1000" dirty="0"/>
          </a:p>
        </p:txBody>
      </p:sp>
      <p:pic>
        <p:nvPicPr>
          <p:cNvPr id="84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5762549" y="5597957"/>
            <a:ext cx="133502" cy="133502"/>
          </a:xfrm>
          <a:prstGeom prst="rect">
            <a:avLst/>
          </a:prstGeom>
        </p:spPr>
      </p:pic>
      <p:sp>
        <p:nvSpPr>
          <p:cNvPr id="85" name="Text 79"/>
          <p:cNvSpPr txBox="1"/>
          <p:nvPr/>
        </p:nvSpPr>
        <p:spPr>
          <a:xfrm>
            <a:off x="5762549" y="5838444"/>
            <a:ext cx="603961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</a:t>
            </a:r>
            <a:pPr algn="l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데이터 로드 실패:</a:t>
            </a:r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이전 단계(S-04) 데이터가 메모리에 없을 경우 체크박스 비활성화 처리.</a:t>
            </a:r>
            <a:endParaRPr lang="en-US" sz="900" dirty="0"/>
          </a:p>
        </p:txBody>
      </p:sp>
      <p:sp>
        <p:nvSpPr>
          <p:cNvPr id="86" name="Text 80"/>
          <p:cNvSpPr txBox="1"/>
          <p:nvPr/>
        </p:nvSpPr>
        <p:spPr>
          <a:xfrm>
            <a:off x="5762549" y="6029554"/>
            <a:ext cx="603961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</a:t>
            </a:r>
            <a:pPr algn="l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이메일 중복:</a:t>
            </a:r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담당자 이메일은 시스템 내 중복 허용 (한 명이 여러 업체의 담당자일 수 있음).</a:t>
            </a:r>
            <a:endParaRPr lang="en-US" sz="900" dirty="0"/>
          </a:p>
        </p:txBody>
      </p:sp>
      <p:sp>
        <p:nvSpPr>
          <p:cNvPr id="87" name="Shape 81"/>
          <p:cNvSpPr/>
          <p:nvPr/>
        </p:nvSpPr>
        <p:spPr>
          <a:xfrm>
            <a:off x="0" y="6476695"/>
            <a:ext cx="12191695" cy="38130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8" name="Shape 82"/>
          <p:cNvSpPr/>
          <p:nvPr/>
        </p:nvSpPr>
        <p:spPr>
          <a:xfrm>
            <a:off x="0" y="6476695"/>
            <a:ext cx="12191695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89" name="Text 83"/>
          <p:cNvSpPr txBox="1"/>
          <p:nvPr/>
        </p:nvSpPr>
        <p:spPr>
          <a:xfrm>
            <a:off x="381305" y="6586423"/>
            <a:ext cx="191749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B2B 파트너 입점 화면설계서 v0.9</a:t>
            </a:r>
            <a:endParaRPr lang="en-US" sz="900" dirty="0"/>
          </a:p>
        </p:txBody>
      </p:sp>
      <p:sp>
        <p:nvSpPr>
          <p:cNvPr id="90" name="Text 84"/>
          <p:cNvSpPr txBox="1"/>
          <p:nvPr/>
        </p:nvSpPr>
        <p:spPr>
          <a:xfrm>
            <a:off x="11330330" y="6586423"/>
            <a:ext cx="56235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Page 13</a:t>
            </a:r>
            <a:endParaRPr lang="en-US" sz="900" dirty="0"/>
          </a:p>
        </p:txBody>
      </p:sp>
      <p:sp>
        <p:nvSpPr>
          <p:cNvPr id="91" name="Shape 85"/>
          <p:cNvSpPr/>
          <p:nvPr/>
        </p:nvSpPr>
        <p:spPr>
          <a:xfrm>
            <a:off x="0" y="0"/>
            <a:ext cx="12191695" cy="571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2" name="Shape 86"/>
          <p:cNvSpPr/>
          <p:nvPr/>
        </p:nvSpPr>
        <p:spPr>
          <a:xfrm>
            <a:off x="0" y="562356"/>
            <a:ext cx="12191695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93" name="Shape 87"/>
          <p:cNvSpPr/>
          <p:nvPr/>
        </p:nvSpPr>
        <p:spPr>
          <a:xfrm>
            <a:off x="381305" y="142646"/>
            <a:ext cx="514807" cy="276149"/>
          </a:xfrm>
          <a:prstGeom prst="roundRect">
            <a:avLst>
              <a:gd name="adj" fmla="val 68509"/>
            </a:avLst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4" name="Text 88"/>
          <p:cNvSpPr txBox="1"/>
          <p:nvPr/>
        </p:nvSpPr>
        <p:spPr>
          <a:xfrm>
            <a:off x="381305" y="142646"/>
            <a:ext cx="571500" cy="2770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40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S-05</a:t>
            </a:r>
            <a:endParaRPr lang="en-US" sz="1000" dirty="0"/>
          </a:p>
        </p:txBody>
      </p:sp>
      <p:sp>
        <p:nvSpPr>
          <p:cNvPr id="95" name="Text 89"/>
          <p:cNvSpPr txBox="1"/>
          <p:nvPr/>
        </p:nvSpPr>
        <p:spPr>
          <a:xfrm>
            <a:off x="1046988" y="152705"/>
            <a:ext cx="149870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담당자 정보 입력</a:t>
            </a:r>
            <a:endParaRPr lang="en-US" sz="1300" dirty="0"/>
          </a:p>
        </p:txBody>
      </p:sp>
      <p:sp>
        <p:nvSpPr>
          <p:cNvPr id="96" name="Text 90"/>
          <p:cNvSpPr txBox="1"/>
          <p:nvPr/>
        </p:nvSpPr>
        <p:spPr>
          <a:xfrm>
            <a:off x="10253167" y="204826"/>
            <a:ext cx="63825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유효성 검증</a:t>
            </a:r>
            <a:endParaRPr lang="en-US" sz="900" dirty="0"/>
          </a:p>
        </p:txBody>
      </p:sp>
      <p:pic>
        <p:nvPicPr>
          <p:cNvPr id="97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10100462" y="224028"/>
            <a:ext cx="114300" cy="114300"/>
          </a:xfrm>
          <a:prstGeom prst="rect">
            <a:avLst/>
          </a:prstGeom>
        </p:spPr>
      </p:pic>
      <p:sp>
        <p:nvSpPr>
          <p:cNvPr id="98" name="Text 91"/>
          <p:cNvSpPr txBox="1"/>
          <p:nvPr/>
        </p:nvSpPr>
        <p:spPr>
          <a:xfrm>
            <a:off x="11116361" y="204826"/>
            <a:ext cx="77175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자동 입력 지원</a:t>
            </a:r>
            <a:endParaRPr lang="en-US" sz="900" dirty="0"/>
          </a:p>
        </p:txBody>
      </p:sp>
      <p:pic>
        <p:nvPicPr>
          <p:cNvPr id="99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10963656" y="224028"/>
            <a:ext cx="114300" cy="114300"/>
          </a:xfrm>
          <a:prstGeom prst="rect">
            <a:avLst/>
          </a:prstGeom>
        </p:spPr>
      </p:pic>
      <p:sp>
        <p:nvSpPr>
          <p:cNvPr id="100" name="Shape 92"/>
          <p:cNvSpPr/>
          <p:nvPr/>
        </p:nvSpPr>
        <p:spPr>
          <a:xfrm>
            <a:off x="543154" y="961949"/>
            <a:ext cx="1104595" cy="228600"/>
          </a:xfrm>
          <a:prstGeom prst="roundRect">
            <a:avLst>
              <a:gd name="adj" fmla="val 66667"/>
            </a:avLst>
          </a:prstGeom>
          <a:solidFill>
            <a:srgbClr val="000000">
              <a:alpha val="7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1" name="Text 93"/>
          <p:cNvSpPr txBox="1"/>
          <p:nvPr/>
        </p:nvSpPr>
        <p:spPr>
          <a:xfrm>
            <a:off x="543154" y="961949"/>
            <a:ext cx="1162202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PC 1280px View</a:t>
            </a:r>
            <a:endParaRPr lang="en-US" sz="900" dirty="0"/>
          </a:p>
        </p:txBody>
      </p:sp>
      <p:sp>
        <p:nvSpPr>
          <p:cNvPr id="102" name="Text 94"/>
          <p:cNvSpPr txBox="1"/>
          <p:nvPr/>
        </p:nvSpPr>
        <p:spPr>
          <a:xfrm>
            <a:off x="4524451" y="2495398"/>
            <a:ext cx="286207" cy="210312"/>
          </a:xfrm>
          <a:prstGeom prst="rect">
            <a:avLst/>
          </a:prstGeom>
          <a:solidFill>
            <a:srgbClr val="EF4444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800" dirty="0"/>
          </a:p>
        </p:txBody>
      </p:sp>
      <p:sp>
        <p:nvSpPr>
          <p:cNvPr id="103" name="Text 95"/>
          <p:cNvSpPr txBox="1"/>
          <p:nvPr/>
        </p:nvSpPr>
        <p:spPr>
          <a:xfrm>
            <a:off x="4533595" y="3676802"/>
            <a:ext cx="286207" cy="210312"/>
          </a:xfrm>
          <a:prstGeom prst="rect">
            <a:avLst/>
          </a:prstGeom>
          <a:solidFill>
            <a:srgbClr val="EF4444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800" dirty="0"/>
          </a:p>
        </p:txBody>
      </p:sp>
      <p:sp>
        <p:nvSpPr>
          <p:cNvPr id="104" name="Text 96"/>
          <p:cNvSpPr txBox="1"/>
          <p:nvPr/>
        </p:nvSpPr>
        <p:spPr>
          <a:xfrm>
            <a:off x="4533595" y="4381805"/>
            <a:ext cx="286207" cy="210312"/>
          </a:xfrm>
          <a:prstGeom prst="rect">
            <a:avLst/>
          </a:prstGeom>
          <a:solidFill>
            <a:srgbClr val="EF4444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800" dirty="0"/>
          </a:p>
        </p:txBody>
      </p:sp>
      <p:sp>
        <p:nvSpPr>
          <p:cNvPr id="105" name="Text 97"/>
          <p:cNvSpPr txBox="1"/>
          <p:nvPr/>
        </p:nvSpPr>
        <p:spPr>
          <a:xfrm>
            <a:off x="4533595" y="5086807"/>
            <a:ext cx="286207" cy="210312"/>
          </a:xfrm>
          <a:prstGeom prst="rect">
            <a:avLst/>
          </a:prstGeom>
          <a:solidFill>
            <a:srgbClr val="EF4444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800" dirty="0"/>
          </a:p>
        </p:txBody>
      </p:sp>
      <p:sp>
        <p:nvSpPr>
          <p:cNvPr id="106" name="Text 98"/>
          <p:cNvSpPr txBox="1"/>
          <p:nvPr/>
        </p:nvSpPr>
        <p:spPr>
          <a:xfrm>
            <a:off x="4533595" y="6057900"/>
            <a:ext cx="286207" cy="210312"/>
          </a:xfrm>
          <a:prstGeom prst="rect">
            <a:avLst/>
          </a:prstGeom>
          <a:solidFill>
            <a:srgbClr val="EF4444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800" dirty="0"/>
          </a:p>
        </p:txBody>
      </p:sp>
      <p:sp>
        <p:nvSpPr>
          <p:cNvPr id="107" name="Text 99"/>
          <p:cNvSpPr txBox="1"/>
          <p:nvPr/>
        </p:nvSpPr>
        <p:spPr>
          <a:xfrm>
            <a:off x="4533595" y="6581851"/>
            <a:ext cx="286207" cy="210312"/>
          </a:xfrm>
          <a:prstGeom prst="rect">
            <a:avLst/>
          </a:prstGeom>
          <a:solidFill>
            <a:srgbClr val="EF4444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71500"/>
            <a:ext cx="12191695" cy="5905195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81305" y="800100"/>
            <a:ext cx="4953305" cy="5447995"/>
          </a:xfrm>
          <a:prstGeom prst="roundRect">
            <a:avLst>
              <a:gd name="adj" fmla="val 426"/>
            </a:avLst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3" b="-3"/>
          <a:stretch/>
        </p:blipFill>
        <p:spPr>
          <a:xfrm>
            <a:off x="580644" y="1000354"/>
            <a:ext cx="4552798" cy="504840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80644" y="1000354"/>
            <a:ext cx="4552798" cy="267005"/>
          </a:xfrm>
          <a:prstGeom prst="roundRect">
            <a:avLst>
              <a:gd name="adj" fmla="val 97847"/>
            </a:avLst>
          </a:prstGeom>
          <a:solidFill>
            <a:srgbClr val="F1F5F9"/>
          </a:solidFill>
          <a:ln/>
        </p:spPr>
      </p:sp>
      <p:sp>
        <p:nvSpPr>
          <p:cNvPr id="8" name="Shape 5"/>
          <p:cNvSpPr/>
          <p:nvPr/>
        </p:nvSpPr>
        <p:spPr>
          <a:xfrm>
            <a:off x="580644" y="1258214"/>
            <a:ext cx="4552798" cy="9144"/>
          </a:xfrm>
          <a:prstGeom prst="roundRect">
            <a:avLst>
              <a:gd name="adj" fmla="val 2857143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94944" y="1090879"/>
            <a:ext cx="75895" cy="75895"/>
          </a:xfrm>
          <a:prstGeom prst="ellipse">
            <a:avLst/>
          </a:prstGeom>
          <a:solidFill>
            <a:srgbClr val="FCA5A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28446" y="1090879"/>
            <a:ext cx="75895" cy="75895"/>
          </a:xfrm>
          <a:prstGeom prst="ellipse">
            <a:avLst/>
          </a:prstGeom>
          <a:solidFill>
            <a:srgbClr val="FCD34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61949" y="1090879"/>
            <a:ext cx="75895" cy="75895"/>
          </a:xfrm>
          <a:prstGeom prst="ellipse">
            <a:avLst/>
          </a:prstGeom>
          <a:solidFill>
            <a:srgbClr val="86EFA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037844" y="1052474"/>
            <a:ext cx="403890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partner.travel.com/signup/docs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933602" y="1552651"/>
            <a:ext cx="38487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증빙 서류 제출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933602" y="1895551"/>
            <a:ext cx="38487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원활한 심사를 위해 필수 서류를 업로드해주세요.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2533802" y="2276856"/>
            <a:ext cx="75895" cy="75895"/>
          </a:xfrm>
          <a:prstGeom prst="ellipse">
            <a:avLst/>
          </a:prstGeom>
          <a:solidFill>
            <a:srgbClr val="E2E8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2648102" y="2276856"/>
            <a:ext cx="75895" cy="75895"/>
          </a:xfrm>
          <a:prstGeom prst="ellipse">
            <a:avLst/>
          </a:prstGeom>
          <a:solidFill>
            <a:srgbClr val="E2E8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2762402" y="2276856"/>
            <a:ext cx="75895" cy="75895"/>
          </a:xfrm>
          <a:prstGeom prst="ellipse">
            <a:avLst/>
          </a:prstGeom>
          <a:solidFill>
            <a:srgbClr val="E2E8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2876702" y="2276856"/>
            <a:ext cx="190195" cy="75895"/>
          </a:xfrm>
          <a:prstGeom prst="roundRect">
            <a:avLst>
              <a:gd name="adj" fmla="val 602411"/>
            </a:avLst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3105302" y="2276856"/>
            <a:ext cx="75895" cy="75895"/>
          </a:xfrm>
          <a:prstGeom prst="ellipse">
            <a:avLst/>
          </a:prstGeom>
          <a:solidFill>
            <a:srgbClr val="E2E8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1743761" y="2590495"/>
            <a:ext cx="15270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*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1028700" y="2842870"/>
            <a:ext cx="3657600" cy="523951"/>
          </a:xfrm>
          <a:prstGeom prst="roundRect">
            <a:avLst>
              <a:gd name="adj" fmla="val 1903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133856" y="3029407"/>
            <a:ext cx="152705" cy="152705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1380744" y="2948026"/>
            <a:ext cx="312450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사업자등록증_2026.pdf</a:t>
            </a:r>
            <a:endParaRPr lang="en-US" sz="900" dirty="0"/>
          </a:p>
        </p:txBody>
      </p:sp>
      <p:sp>
        <p:nvSpPr>
          <p:cNvPr id="24" name="Text 20"/>
          <p:cNvSpPr txBox="1"/>
          <p:nvPr/>
        </p:nvSpPr>
        <p:spPr>
          <a:xfrm>
            <a:off x="1380744" y="3119018"/>
            <a:ext cx="312450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1.2 MB</a:t>
            </a:r>
            <a:endParaRPr lang="en-US" sz="800" dirty="0"/>
          </a:p>
        </p:txBody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-100" b="-100"/>
          <a:stretch/>
        </p:blipFill>
        <p:spPr>
          <a:xfrm>
            <a:off x="4429354" y="3029407"/>
            <a:ext cx="114300" cy="152705"/>
          </a:xfrm>
          <a:prstGeom prst="rect">
            <a:avLst/>
          </a:prstGeom>
        </p:spPr>
      </p:pic>
      <p:sp>
        <p:nvSpPr>
          <p:cNvPr id="26" name="Shape 21"/>
          <p:cNvSpPr/>
          <p:nvPr/>
        </p:nvSpPr>
        <p:spPr>
          <a:xfrm>
            <a:off x="1028700" y="3838651"/>
            <a:ext cx="3657600" cy="1104595"/>
          </a:xfrm>
          <a:prstGeom prst="roundRect">
            <a:avLst>
              <a:gd name="adj" fmla="val 5709"/>
            </a:avLst>
          </a:prstGeom>
          <a:solidFill>
            <a:srgbClr val="F8FAFC"/>
          </a:solidFill>
          <a:ln w="25400">
            <a:solidFill>
              <a:srgbClr val="CBD5E1"/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rcRect l="-80" r="-80" t="0" b="0"/>
          <a:stretch/>
        </p:blipFill>
        <p:spPr>
          <a:xfrm>
            <a:off x="2714854" y="4048049"/>
            <a:ext cx="286207" cy="228600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1143000" y="4381805"/>
            <a:ext cx="34290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클릭하거나 파일을 여기로 드래그하세요</a:t>
            </a:r>
            <a:endParaRPr lang="en-US" sz="900" dirty="0"/>
          </a:p>
        </p:txBody>
      </p:sp>
      <p:sp>
        <p:nvSpPr>
          <p:cNvPr id="29" name="Text 23"/>
          <p:cNvSpPr txBox="1"/>
          <p:nvPr/>
        </p:nvSpPr>
        <p:spPr>
          <a:xfrm>
            <a:off x="1143000" y="4591202"/>
            <a:ext cx="342900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통신판매업신고증, 관광사업자등록증 등 (최대 2개)</a:t>
            </a:r>
            <a:endParaRPr lang="en-US" sz="800" dirty="0"/>
          </a:p>
        </p:txBody>
      </p:sp>
      <p:sp>
        <p:nvSpPr>
          <p:cNvPr id="30" name="Text 24"/>
          <p:cNvSpPr txBox="1"/>
          <p:nvPr/>
        </p:nvSpPr>
        <p:spPr>
          <a:xfrm>
            <a:off x="1218895" y="5020056"/>
            <a:ext cx="35817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JPG, PNG, PDF 형식만 지원 (파일당 10MB 이하) </a:t>
            </a:r>
            <a:endParaRPr lang="en-US" sz="1200" dirty="0"/>
          </a:p>
        </p:txBody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1028700" y="5057546"/>
            <a:ext cx="152705" cy="152705"/>
          </a:xfrm>
          <a:prstGeom prst="rect">
            <a:avLst/>
          </a:prstGeom>
        </p:spPr>
      </p:pic>
      <p:sp>
        <p:nvSpPr>
          <p:cNvPr id="32" name="Shape 25"/>
          <p:cNvSpPr/>
          <p:nvPr/>
        </p:nvSpPr>
        <p:spPr>
          <a:xfrm>
            <a:off x="1028700" y="5553151"/>
            <a:ext cx="1200607" cy="381305"/>
          </a:xfrm>
          <a:prstGeom prst="roundRect">
            <a:avLst>
              <a:gd name="adj" fmla="val 3597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Shape 26"/>
          <p:cNvSpPr/>
          <p:nvPr/>
        </p:nvSpPr>
        <p:spPr>
          <a:xfrm>
            <a:off x="2324405" y="5553151"/>
            <a:ext cx="2361895" cy="381305"/>
          </a:xfrm>
          <a:prstGeom prst="roundRect">
            <a:avLst>
              <a:gd name="adj" fmla="val 35971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Shape 27"/>
          <p:cNvSpPr/>
          <p:nvPr/>
        </p:nvSpPr>
        <p:spPr>
          <a:xfrm>
            <a:off x="5562295" y="800100"/>
            <a:ext cx="6248095" cy="5447995"/>
          </a:xfrm>
          <a:prstGeom prst="roundRect">
            <a:avLst>
              <a:gd name="adj" fmla="val 35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Shape 28"/>
          <p:cNvSpPr/>
          <p:nvPr/>
        </p:nvSpPr>
        <p:spPr>
          <a:xfrm>
            <a:off x="5572354" y="809244"/>
            <a:ext cx="6229807" cy="533095"/>
          </a:xfrm>
          <a:prstGeom prst="roundRect">
            <a:avLst>
              <a:gd name="adj" fmla="val 36756"/>
            </a:avLst>
          </a:prstGeom>
          <a:solidFill>
            <a:srgbClr val="FFFFFF"/>
          </a:solidFill>
          <a:ln/>
        </p:spPr>
      </p:sp>
      <p:sp>
        <p:nvSpPr>
          <p:cNvPr id="36" name="Shape 29"/>
          <p:cNvSpPr/>
          <p:nvPr/>
        </p:nvSpPr>
        <p:spPr>
          <a:xfrm>
            <a:off x="5572354" y="1333195"/>
            <a:ext cx="6229807" cy="9144"/>
          </a:xfrm>
          <a:prstGeom prst="roundRect">
            <a:avLst>
              <a:gd name="adj" fmla="val 2142857"/>
            </a:avLst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37" name="Text 30"/>
          <p:cNvSpPr txBox="1"/>
          <p:nvPr/>
        </p:nvSpPr>
        <p:spPr>
          <a:xfrm>
            <a:off x="6000293" y="961949"/>
            <a:ext cx="113111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상세 사양 및 정책</a:t>
            </a:r>
            <a:endParaRPr lang="en-US" sz="1100" dirty="0"/>
          </a:p>
        </p:txBody>
      </p:sp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6"/>
          <a:srcRect l="-428" r="-428" t="0" b="0"/>
          <a:stretch/>
        </p:blipFill>
        <p:spPr>
          <a:xfrm>
            <a:off x="5762549" y="997610"/>
            <a:ext cx="161849" cy="142646"/>
          </a:xfrm>
          <a:prstGeom prst="rect">
            <a:avLst/>
          </a:prstGeom>
        </p:spPr>
      </p:pic>
      <p:sp>
        <p:nvSpPr>
          <p:cNvPr id="39" name="Text 31"/>
          <p:cNvSpPr txBox="1"/>
          <p:nvPr/>
        </p:nvSpPr>
        <p:spPr>
          <a:xfrm>
            <a:off x="9965131" y="993038"/>
            <a:ext cx="172455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Last Updated: 2026-02-02</a:t>
            </a:r>
            <a:endParaRPr lang="en-US" sz="9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72354" y="1338682"/>
          <a:ext cx="6229807" cy="4096512"/>
        </p:xfrm>
        <a:graphic>
          <a:graphicData uri="http://schemas.openxmlformats.org/drawingml/2006/table">
            <a:tbl>
              <a:tblPr/>
              <a:tblGrid>
                <a:gridCol w="1543507"/>
                <a:gridCol w="1002182"/>
                <a:gridCol w="3683203"/>
              </a:tblGrid>
              <a:tr h="81930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b="1" dirty="0">
                          <a:solidFill>
                            <a:srgbClr val="64748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UI 요소 (Element)</a:t>
                      </a:r>
                      <a:endParaRPr lang="en-US" sz="97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705" marR="152705" marT="95098" marB="95098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b="1" dirty="0">
                          <a:solidFill>
                            <a:srgbClr val="64748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속성</a:t>
                      </a:r>
                      <a:endParaRPr lang="en-US" sz="97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705" marR="152705" marT="95098" marB="95098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b="1" dirty="0">
                          <a:solidFill>
                            <a:srgbClr val="64748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상세 설명 및 규칙 (Description &amp; Rules)</a:t>
                      </a:r>
                      <a:endParaRPr lang="en-US" sz="97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705" marR="152705" marT="95098" marB="95098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81930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</a:t>
                      </a:r>
                      <a:pPr indent="0" marL="0">
                        <a:buNone/>
                      </a:pP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3341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사업자등록증</a:t>
                      </a:r>
                      <a:endParaRPr lang="en-US" sz="1200" dirty="0"/>
                    </a:p>
                  </a:txBody>
                  <a:tcPr marL="152705" marR="152705" marT="114300" marB="114300" anchor="t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5" b="1" dirty="0">
                          <a:solidFill>
                            <a:srgbClr val="991B1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필수</a:t>
                      </a:r>
                      <a:endParaRPr lang="en-US" sz="1200" dirty="0"/>
                    </a:p>
                  </a:txBody>
                  <a:tcPr marL="152705" marR="152705" marT="114300" marB="114300" anchor="t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b="1" dirty="0">
                          <a:solidFill>
                            <a:srgbClr val="3341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유형:</a:t>
                      </a:r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3341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 File Input (Drag &amp; Drop 지원)</a:t>
                      </a:r>
                      <a:pPr indent="0" marL="0">
                        <a:spcAft>
                          <a:spcPts val="300"/>
                        </a:spcAft>
                        <a:buNone/>
                      </a:pP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975" b="1" dirty="0">
                          <a:solidFill>
                            <a:srgbClr val="3341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제약 조건:</a:t>
                      </a:r>
                      <a:pPr indent="0" marL="0">
                        <a:spcAft>
                          <a:spcPts val="300"/>
                        </a:spcAft>
                        <a:buNone/>
                      </a:pP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확장자: jpg, jpeg, png, pdf</a:t>
                      </a:r>
                      <a:pPr indent="0" marL="0">
                        <a:buNone/>
                      </a:pP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용량: 파일당 최대 10MB</a:t>
                      </a:r>
                      <a:pPr indent="0" marL="0">
                        <a:spcBef>
                          <a:spcPts val="150"/>
                        </a:spcBef>
                        <a:buNone/>
                      </a:pP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수량: 1개 파일만 업로드 가능 (재업로드 시 덮어쓰기)</a:t>
                      </a:r>
                      <a:endParaRPr lang="en-US" sz="1200" dirty="0"/>
                    </a:p>
                  </a:txBody>
                  <a:tcPr marL="152705" marR="152705" marT="114300" marB="114300" anchor="t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1930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</a:t>
                      </a:r>
                      <a:pPr indent="0" marL="0">
                        <a:buNone/>
                      </a:pP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3341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추가 서류</a:t>
                      </a:r>
                      <a:endParaRPr lang="en-US" sz="1200" dirty="0"/>
                    </a:p>
                  </a:txBody>
                  <a:tcPr marL="152705" marR="152705" marT="114300" marB="114300" anchor="t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5" b="1" dirty="0">
                          <a:solidFill>
                            <a:srgbClr val="64748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선택</a:t>
                      </a:r>
                      <a:endParaRPr lang="en-US" sz="1200" dirty="0"/>
                    </a:p>
                  </a:txBody>
                  <a:tcPr marL="152705" marR="152705" marT="114300" marB="114300" anchor="t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b="1" dirty="0">
                          <a:solidFill>
                            <a:srgbClr val="3341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용도:</a:t>
                      </a:r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3341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 통신판매업신고증, 관광사업등록증 등 보완 서류</a:t>
                      </a:r>
                      <a:pPr indent="0" marL="0">
                        <a:spcAft>
                          <a:spcPts val="300"/>
                        </a:spcAft>
                        <a:buNone/>
                      </a:pP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975" b="1" dirty="0">
                          <a:solidFill>
                            <a:srgbClr val="3341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제약 조건:</a:t>
                      </a:r>
                      <a:pPr indent="0" marL="0">
                        <a:spcAft>
                          <a:spcPts val="300"/>
                        </a:spcAft>
                        <a:buNone/>
                      </a:pP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확장자/용량: 필수 서류와 동일</a:t>
                      </a:r>
                      <a:pPr indent="0" marL="0">
                        <a:buNone/>
                      </a:pP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수량: 최대 2개까지 멀티 업로드 가능</a:t>
                      </a:r>
                      <a:endParaRPr lang="en-US" sz="1200" dirty="0"/>
                    </a:p>
                  </a:txBody>
                  <a:tcPr marL="152705" marR="152705" marT="114300" marB="114300" anchor="t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1930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3341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파일 목록 UI</a:t>
                      </a:r>
                      <a:endParaRPr lang="en-US" sz="1200" dirty="0"/>
                    </a:p>
                  </a:txBody>
                  <a:tcPr marL="152705" marR="152705" marT="114300" marB="114300" anchor="t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5" b="1" dirty="0">
                          <a:solidFill>
                            <a:srgbClr val="4338C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Interaction</a:t>
                      </a:r>
                      <a:endParaRPr lang="en-US" sz="1200" dirty="0"/>
                    </a:p>
                  </a:txBody>
                  <a:tcPr marL="152705" marR="152705" marT="114300" marB="114300" anchor="t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3341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업로드 완료 시 썸네일(이미지) 또는 아이콘(PDF) 표시.</a:t>
                      </a:r>
                      <a:pPr indent="0" marL="0">
                        <a:spcAft>
                          <a:spcPts val="300"/>
                        </a:spcAft>
                        <a:buNone/>
                      </a:pP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975" b="1" dirty="0">
                          <a:solidFill>
                            <a:srgbClr val="3341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삭제 버튼(X):</a:t>
                      </a:r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3341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 클릭 시 목록에서 즉시 제거.</a:t>
                      </a:r>
                      <a:endParaRPr lang="en-US" sz="1200" dirty="0"/>
                    </a:p>
                  </a:txBody>
                  <a:tcPr marL="152705" marR="152705" marT="114300" marB="114300" anchor="t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1930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</a:t>
                      </a:r>
                      <a:pPr indent="0" marL="0">
                        <a:buNone/>
                      </a:pP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1D4ED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다음 단계로</a:t>
                      </a:r>
                      <a:endParaRPr lang="en-US" sz="1200" dirty="0"/>
                    </a:p>
                  </a:txBody>
                  <a:tcPr marL="152705" marR="152705" marT="114300" marB="114300" anchor="t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5" b="1" dirty="0">
                          <a:solidFill>
                            <a:srgbClr val="4338C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Button</a:t>
                      </a:r>
                      <a:endParaRPr lang="en-US" sz="1200" dirty="0"/>
                    </a:p>
                  </a:txBody>
                  <a:tcPr marL="152705" marR="152705" marT="114300" marB="114300" anchor="t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b="1" dirty="0">
                          <a:solidFill>
                            <a:srgbClr val="1E40A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전환 조건</a:t>
                      </a:r>
                      <a:pPr indent="0" marL="0">
                        <a:spcAft>
                          <a:spcPts val="300"/>
                        </a:spcAft>
                        <a:buNone/>
                      </a:pP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3341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필수 서류(사업자등록증)가 1개 이상 업로드된 상태여야 활성화.</a:t>
                      </a:r>
                      <a:pPr indent="0" marL="0">
                        <a:buNone/>
                      </a:pP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3341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클릭 시 </a:t>
                      </a:r>
                      <a:pPr indent="0" marL="0">
                        <a:buNone/>
                      </a:pPr>
                      <a:r>
                        <a:rPr lang="en-US" sz="975" b="1" dirty="0">
                          <a:solidFill>
                            <a:srgbClr val="3341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S-07 업종 선택</a:t>
                      </a:r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3341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 화면으로 이동.</a:t>
                      </a:r>
                      <a:endParaRPr lang="en-US" sz="1200" dirty="0"/>
                    </a:p>
                  </a:txBody>
                  <a:tcPr marL="152705" marR="152705" marT="114300" marB="114300" anchor="t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</a:tr>
            </a:tbl>
          </a:graphicData>
        </a:graphic>
      </p:graphicFrame>
      <p:sp>
        <p:nvSpPr>
          <p:cNvPr id="41" name="Shape 32"/>
          <p:cNvSpPr/>
          <p:nvPr/>
        </p:nvSpPr>
        <p:spPr>
          <a:xfrm>
            <a:off x="5572354" y="5434279"/>
            <a:ext cx="6229807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42" name="Text 33"/>
          <p:cNvSpPr txBox="1"/>
          <p:nvPr/>
        </p:nvSpPr>
        <p:spPr>
          <a:xfrm>
            <a:off x="5971946" y="5633618"/>
            <a:ext cx="57534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예외 처리 (Exception)</a:t>
            </a:r>
            <a:endParaRPr lang="en-US" sz="1000" dirty="0"/>
          </a:p>
        </p:txBody>
      </p:sp>
      <p:pic>
        <p:nvPicPr>
          <p:cNvPr id="43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5762549" y="5660136"/>
            <a:ext cx="133502" cy="133502"/>
          </a:xfrm>
          <a:prstGeom prst="rect">
            <a:avLst/>
          </a:prstGeom>
        </p:spPr>
      </p:pic>
      <p:sp>
        <p:nvSpPr>
          <p:cNvPr id="44" name="Text 34"/>
          <p:cNvSpPr txBox="1"/>
          <p:nvPr/>
        </p:nvSpPr>
        <p:spPr>
          <a:xfrm>
            <a:off x="5762549" y="5900623"/>
            <a:ext cx="641817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</a:t>
            </a:r>
            <a:pPr algn="l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업로드 실패:</a:t>
            </a:r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네트워크 오류 또는 서버 에러 시 "파일 업로드에 실패했습니다. 다시 시도해주세요." 토스트 노출.</a:t>
            </a:r>
            <a:endParaRPr lang="en-US" sz="900" dirty="0"/>
          </a:p>
        </p:txBody>
      </p:sp>
      <p:sp>
        <p:nvSpPr>
          <p:cNvPr id="45" name="Text 35"/>
          <p:cNvSpPr txBox="1"/>
          <p:nvPr/>
        </p:nvSpPr>
        <p:spPr>
          <a:xfrm>
            <a:off x="5762549" y="6090818"/>
            <a:ext cx="63633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</a:t>
            </a:r>
            <a:pPr algn="l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형식/용량 초과:</a:t>
            </a:r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선택 즉시 클라이언트 검증 → "지원하지 않는 형식이거나 용량이 10MB를 초과했습니다." 경고.</a:t>
            </a:r>
            <a:endParaRPr lang="en-US" sz="900" dirty="0"/>
          </a:p>
        </p:txBody>
      </p:sp>
      <p:sp>
        <p:nvSpPr>
          <p:cNvPr id="46" name="Text 36"/>
          <p:cNvSpPr txBox="1"/>
          <p:nvPr/>
        </p:nvSpPr>
        <p:spPr>
          <a:xfrm>
            <a:off x="5762549" y="6281928"/>
            <a:ext cx="603961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</a:t>
            </a:r>
            <a:pPr algn="l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바이러스 탐지:</a:t>
            </a:r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서버 스캔 결과 악성 코드 발견 시 업로드 취소 및 경고 메시지 표시.</a:t>
            </a:r>
            <a:endParaRPr lang="en-US" sz="900" dirty="0"/>
          </a:p>
        </p:txBody>
      </p:sp>
      <p:sp>
        <p:nvSpPr>
          <p:cNvPr id="47" name="Shape 37"/>
          <p:cNvSpPr/>
          <p:nvPr/>
        </p:nvSpPr>
        <p:spPr>
          <a:xfrm>
            <a:off x="0" y="6476695"/>
            <a:ext cx="12191695" cy="38130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8" name="Shape 38"/>
          <p:cNvSpPr/>
          <p:nvPr/>
        </p:nvSpPr>
        <p:spPr>
          <a:xfrm>
            <a:off x="0" y="6476695"/>
            <a:ext cx="12191695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49" name="Text 39"/>
          <p:cNvSpPr txBox="1"/>
          <p:nvPr/>
        </p:nvSpPr>
        <p:spPr>
          <a:xfrm>
            <a:off x="381305" y="6586423"/>
            <a:ext cx="191749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B2B 파트너 입점 화면설계서 v0.9</a:t>
            </a:r>
            <a:endParaRPr lang="en-US" sz="900" dirty="0"/>
          </a:p>
        </p:txBody>
      </p:sp>
      <p:sp>
        <p:nvSpPr>
          <p:cNvPr id="50" name="Text 40"/>
          <p:cNvSpPr txBox="1"/>
          <p:nvPr/>
        </p:nvSpPr>
        <p:spPr>
          <a:xfrm>
            <a:off x="11330330" y="6586423"/>
            <a:ext cx="56235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Page 14</a:t>
            </a:r>
            <a:endParaRPr lang="en-US" sz="900" dirty="0"/>
          </a:p>
        </p:txBody>
      </p:sp>
      <p:sp>
        <p:nvSpPr>
          <p:cNvPr id="51" name="Shape 41"/>
          <p:cNvSpPr/>
          <p:nvPr/>
        </p:nvSpPr>
        <p:spPr>
          <a:xfrm>
            <a:off x="0" y="0"/>
            <a:ext cx="12191695" cy="571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2" name="Shape 42"/>
          <p:cNvSpPr/>
          <p:nvPr/>
        </p:nvSpPr>
        <p:spPr>
          <a:xfrm>
            <a:off x="0" y="562356"/>
            <a:ext cx="12191695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53" name="Shape 43"/>
          <p:cNvSpPr/>
          <p:nvPr/>
        </p:nvSpPr>
        <p:spPr>
          <a:xfrm>
            <a:off x="381305" y="142646"/>
            <a:ext cx="523951" cy="276149"/>
          </a:xfrm>
          <a:prstGeom prst="roundRect">
            <a:avLst>
              <a:gd name="adj" fmla="val 68509"/>
            </a:avLst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4" name="Text 44"/>
          <p:cNvSpPr txBox="1"/>
          <p:nvPr/>
        </p:nvSpPr>
        <p:spPr>
          <a:xfrm>
            <a:off x="381305" y="142646"/>
            <a:ext cx="581558" cy="2770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40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S-06</a:t>
            </a:r>
            <a:endParaRPr lang="en-US" sz="1000" dirty="0"/>
          </a:p>
        </p:txBody>
      </p:sp>
      <p:sp>
        <p:nvSpPr>
          <p:cNvPr id="55" name="Text 45"/>
          <p:cNvSpPr txBox="1"/>
          <p:nvPr/>
        </p:nvSpPr>
        <p:spPr>
          <a:xfrm>
            <a:off x="1049731" y="152705"/>
            <a:ext cx="2311603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서류 업로드 (Documents)</a:t>
            </a:r>
            <a:endParaRPr lang="en-US" sz="1300" dirty="0"/>
          </a:p>
        </p:txBody>
      </p:sp>
      <p:sp>
        <p:nvSpPr>
          <p:cNvPr id="56" name="Text 46"/>
          <p:cNvSpPr txBox="1"/>
          <p:nvPr/>
        </p:nvSpPr>
        <p:spPr>
          <a:xfrm>
            <a:off x="10158070" y="204826"/>
            <a:ext cx="65745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PC 1280px</a:t>
            </a:r>
            <a:endParaRPr lang="en-US" sz="900" dirty="0"/>
          </a:p>
        </p:txBody>
      </p:sp>
      <p:pic>
        <p:nvPicPr>
          <p:cNvPr id="57" name="Image 7" descr="preencoded.png">    </p:cNvPr>
          <p:cNvPicPr>
            <a:picLocks noChangeAspect="1"/>
          </p:cNvPicPr>
          <p:nvPr/>
        </p:nvPicPr>
        <p:blipFill>
          <a:blip r:embed="rId8"/>
          <a:srcRect l="-1911" r="-1911" t="0" b="0"/>
          <a:stretch/>
        </p:blipFill>
        <p:spPr>
          <a:xfrm>
            <a:off x="9986162" y="224028"/>
            <a:ext cx="133502" cy="114300"/>
          </a:xfrm>
          <a:prstGeom prst="rect">
            <a:avLst/>
          </a:prstGeom>
        </p:spPr>
      </p:pic>
      <p:sp>
        <p:nvSpPr>
          <p:cNvPr id="58" name="Text 47"/>
          <p:cNvSpPr txBox="1"/>
          <p:nvPr/>
        </p:nvSpPr>
        <p:spPr>
          <a:xfrm>
            <a:off x="11011205" y="204826"/>
            <a:ext cx="8769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Secure Upload</a:t>
            </a:r>
            <a:endParaRPr lang="en-US" sz="900" dirty="0"/>
          </a:p>
        </p:txBody>
      </p:sp>
      <p:pic>
        <p:nvPicPr>
          <p:cNvPr id="59" name="Image 8" descr="preencoded.png">    </p:cNvPr>
          <p:cNvPicPr>
            <a:picLocks noChangeAspect="1"/>
          </p:cNvPicPr>
          <p:nvPr/>
        </p:nvPicPr>
        <p:blipFill>
          <a:blip r:embed="rId9"/>
          <a:srcRect l="-133" r="-133" t="0" b="0"/>
          <a:stretch/>
        </p:blipFill>
        <p:spPr>
          <a:xfrm>
            <a:off x="10887761" y="224028"/>
            <a:ext cx="85954" cy="114300"/>
          </a:xfrm>
          <a:prstGeom prst="rect">
            <a:avLst/>
          </a:prstGeom>
        </p:spPr>
      </p:pic>
      <p:sp>
        <p:nvSpPr>
          <p:cNvPr id="60" name="Shape 48"/>
          <p:cNvSpPr/>
          <p:nvPr/>
        </p:nvSpPr>
        <p:spPr>
          <a:xfrm>
            <a:off x="543154" y="961949"/>
            <a:ext cx="1104595" cy="228600"/>
          </a:xfrm>
          <a:prstGeom prst="roundRect">
            <a:avLst>
              <a:gd name="adj" fmla="val 66667"/>
            </a:avLst>
          </a:prstGeom>
          <a:solidFill>
            <a:srgbClr val="000000">
              <a:alpha val="7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1" name="Text 49"/>
          <p:cNvSpPr txBox="1"/>
          <p:nvPr/>
        </p:nvSpPr>
        <p:spPr>
          <a:xfrm>
            <a:off x="543154" y="961949"/>
            <a:ext cx="1162202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PC 1280px View</a:t>
            </a:r>
            <a:endParaRPr lang="en-US" sz="900" dirty="0"/>
          </a:p>
        </p:txBody>
      </p:sp>
      <p:sp>
        <p:nvSpPr>
          <p:cNvPr id="62" name="Text 50"/>
          <p:cNvSpPr txBox="1"/>
          <p:nvPr/>
        </p:nvSpPr>
        <p:spPr>
          <a:xfrm>
            <a:off x="4533595" y="2581351"/>
            <a:ext cx="286207" cy="210312"/>
          </a:xfrm>
          <a:prstGeom prst="rect">
            <a:avLst/>
          </a:prstGeom>
          <a:solidFill>
            <a:srgbClr val="EF4444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800" dirty="0"/>
          </a:p>
        </p:txBody>
      </p:sp>
      <p:sp>
        <p:nvSpPr>
          <p:cNvPr id="63" name="Text 51"/>
          <p:cNvSpPr txBox="1"/>
          <p:nvPr/>
        </p:nvSpPr>
        <p:spPr>
          <a:xfrm>
            <a:off x="4533595" y="3595421"/>
            <a:ext cx="286207" cy="210312"/>
          </a:xfrm>
          <a:prstGeom prst="rect">
            <a:avLst/>
          </a:prstGeom>
          <a:solidFill>
            <a:srgbClr val="EF4444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800" dirty="0"/>
          </a:p>
        </p:txBody>
      </p:sp>
      <p:sp>
        <p:nvSpPr>
          <p:cNvPr id="64" name="Text 52"/>
          <p:cNvSpPr txBox="1"/>
          <p:nvPr/>
        </p:nvSpPr>
        <p:spPr>
          <a:xfrm>
            <a:off x="4533595" y="5458054"/>
            <a:ext cx="286207" cy="210312"/>
          </a:xfrm>
          <a:prstGeom prst="rect">
            <a:avLst/>
          </a:prstGeom>
          <a:solidFill>
            <a:srgbClr val="EF4444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71500"/>
            <a:ext cx="12191695" cy="5905195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81305" y="800100"/>
            <a:ext cx="4953305" cy="5447995"/>
          </a:xfrm>
          <a:prstGeom prst="roundRect">
            <a:avLst>
              <a:gd name="adj" fmla="val 426"/>
            </a:avLst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3" b="-3"/>
          <a:stretch/>
        </p:blipFill>
        <p:spPr>
          <a:xfrm>
            <a:off x="580644" y="1000354"/>
            <a:ext cx="4552798" cy="504840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80644" y="1000354"/>
            <a:ext cx="4552798" cy="267005"/>
          </a:xfrm>
          <a:prstGeom prst="roundRect">
            <a:avLst>
              <a:gd name="adj" fmla="val 97847"/>
            </a:avLst>
          </a:prstGeom>
          <a:solidFill>
            <a:srgbClr val="F1F5F9"/>
          </a:solidFill>
          <a:ln/>
        </p:spPr>
      </p:sp>
      <p:sp>
        <p:nvSpPr>
          <p:cNvPr id="8" name="Shape 5"/>
          <p:cNvSpPr/>
          <p:nvPr/>
        </p:nvSpPr>
        <p:spPr>
          <a:xfrm>
            <a:off x="580644" y="1258214"/>
            <a:ext cx="4552798" cy="9144"/>
          </a:xfrm>
          <a:prstGeom prst="roundRect">
            <a:avLst>
              <a:gd name="adj" fmla="val 2857143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94944" y="1090879"/>
            <a:ext cx="75895" cy="75895"/>
          </a:xfrm>
          <a:prstGeom prst="ellipse">
            <a:avLst/>
          </a:prstGeom>
          <a:solidFill>
            <a:srgbClr val="FCA5A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28446" y="1090879"/>
            <a:ext cx="75895" cy="75895"/>
          </a:xfrm>
          <a:prstGeom prst="ellipse">
            <a:avLst/>
          </a:prstGeom>
          <a:solidFill>
            <a:srgbClr val="FCD34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61949" y="1090879"/>
            <a:ext cx="75895" cy="75895"/>
          </a:xfrm>
          <a:prstGeom prst="ellipse">
            <a:avLst/>
          </a:prstGeom>
          <a:solidFill>
            <a:srgbClr val="86EFA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037844" y="1052474"/>
            <a:ext cx="403890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partner.travel.com/signup/service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933602" y="1552651"/>
            <a:ext cx="38487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서비스 정보 입력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933602" y="1895551"/>
            <a:ext cx="38487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파트너사의 비즈니스 영역을 설정해주세요.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2590495" y="2276856"/>
            <a:ext cx="75895" cy="75895"/>
          </a:xfrm>
          <a:prstGeom prst="ellipse">
            <a:avLst/>
          </a:prstGeom>
          <a:solidFill>
            <a:srgbClr val="E2E8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2704795" y="2276856"/>
            <a:ext cx="75895" cy="75895"/>
          </a:xfrm>
          <a:prstGeom prst="ellipse">
            <a:avLst/>
          </a:prstGeom>
          <a:solidFill>
            <a:srgbClr val="E2E8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2819095" y="2276856"/>
            <a:ext cx="190195" cy="75895"/>
          </a:xfrm>
          <a:prstGeom prst="roundRect">
            <a:avLst>
              <a:gd name="adj" fmla="val 602411"/>
            </a:avLst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047695" y="2276856"/>
            <a:ext cx="75895" cy="75895"/>
          </a:xfrm>
          <a:prstGeom prst="ellipse">
            <a:avLst/>
          </a:prstGeom>
          <a:solidFill>
            <a:srgbClr val="E2E8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028700" y="2842870"/>
            <a:ext cx="1781251" cy="400507"/>
          </a:xfrm>
          <a:prstGeom prst="roundRect">
            <a:avLst>
              <a:gd name="adj" fmla="val 32616"/>
            </a:avLst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1333195" y="2948026"/>
            <a:ext cx="79369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숙박 (Hotel)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2905049" y="2842870"/>
            <a:ext cx="1781251" cy="400507"/>
          </a:xfrm>
          <a:prstGeom prst="roundRect">
            <a:avLst>
              <a:gd name="adj" fmla="val 32616"/>
            </a:avLst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3209544" y="2948026"/>
            <a:ext cx="84673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투어/액티비티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1028700" y="3333902"/>
            <a:ext cx="1781251" cy="400507"/>
          </a:xfrm>
          <a:prstGeom prst="roundRect">
            <a:avLst>
              <a:gd name="adj" fmla="val 32616"/>
            </a:avLst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1333195" y="3438144"/>
            <a:ext cx="59070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티켓/패스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2905049" y="3333902"/>
            <a:ext cx="1781251" cy="400507"/>
          </a:xfrm>
          <a:prstGeom prst="roundRect">
            <a:avLst>
              <a:gd name="adj" fmla="val 32616"/>
            </a:avLst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3209544" y="3438144"/>
            <a:ext cx="71871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교통/렌터카</a:t>
            </a:r>
            <a:endParaRPr lang="en-US" sz="900" dirty="0"/>
          </a:p>
        </p:txBody>
      </p:sp>
      <p:sp>
        <p:nvSpPr>
          <p:cNvPr id="27" name="Text 24"/>
          <p:cNvSpPr txBox="1"/>
          <p:nvPr/>
        </p:nvSpPr>
        <p:spPr>
          <a:xfrm>
            <a:off x="1028700" y="3804818"/>
            <a:ext cx="38487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※ 최소 1개 이상 선택해야 합니다.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1028700" y="4486046"/>
            <a:ext cx="3161995" cy="362102"/>
          </a:xfrm>
          <a:prstGeom prst="roundRect">
            <a:avLst>
              <a:gd name="adj" fmla="val 3987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4259275" y="4486046"/>
            <a:ext cx="428854" cy="362102"/>
          </a:xfrm>
          <a:prstGeom prst="roundRect">
            <a:avLst>
              <a:gd name="adj" fmla="val 26582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1028700" y="4924044"/>
            <a:ext cx="666598" cy="247802"/>
          </a:xfrm>
          <a:prstGeom prst="roundRect">
            <a:avLst>
              <a:gd name="adj" fmla="val 56770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1104595" y="4924044"/>
            <a:ext cx="648310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가족여행 </a:t>
            </a:r>
            <a:endParaRPr lang="en-US" sz="900" dirty="0"/>
          </a:p>
        </p:txBody>
      </p:sp>
      <p:pic>
        <p:nvPicPr>
          <p:cNvPr id="32" name="Image 1" descr="preencoded.png">    </p:cNvPr>
          <p:cNvPicPr>
            <a:picLocks noChangeAspect="1"/>
          </p:cNvPicPr>
          <p:nvPr/>
        </p:nvPicPr>
        <p:blipFill>
          <a:blip r:embed="rId2"/>
          <a:srcRect l="-133" r="-133" t="0" b="0"/>
          <a:stretch/>
        </p:blipFill>
        <p:spPr>
          <a:xfrm>
            <a:off x="1525219" y="4990795"/>
            <a:ext cx="85954" cy="114300"/>
          </a:xfrm>
          <a:prstGeom prst="rect">
            <a:avLst/>
          </a:prstGeom>
        </p:spPr>
      </p:pic>
      <p:sp>
        <p:nvSpPr>
          <p:cNvPr id="33" name="Shape 29"/>
          <p:cNvSpPr/>
          <p:nvPr/>
        </p:nvSpPr>
        <p:spPr>
          <a:xfrm>
            <a:off x="1744675" y="4924044"/>
            <a:ext cx="562356" cy="247802"/>
          </a:xfrm>
          <a:prstGeom prst="roundRect">
            <a:avLst>
              <a:gd name="adj" fmla="val 56770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Text 30"/>
          <p:cNvSpPr txBox="1"/>
          <p:nvPr/>
        </p:nvSpPr>
        <p:spPr>
          <a:xfrm>
            <a:off x="1820570" y="4924044"/>
            <a:ext cx="544068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제주도 </a:t>
            </a:r>
            <a:endParaRPr lang="en-US" sz="900" dirty="0"/>
          </a:p>
        </p:txBody>
      </p:sp>
      <p:pic>
        <p:nvPicPr>
          <p:cNvPr id="35" name="Image 2" descr="preencoded.png">    </p:cNvPr>
          <p:cNvPicPr>
            <a:picLocks noChangeAspect="1"/>
          </p:cNvPicPr>
          <p:nvPr/>
        </p:nvPicPr>
        <p:blipFill>
          <a:blip r:embed="rId3"/>
          <a:srcRect l="-133" r="-133" t="0" b="0"/>
          <a:stretch/>
        </p:blipFill>
        <p:spPr>
          <a:xfrm>
            <a:off x="2136038" y="4990795"/>
            <a:ext cx="85954" cy="114300"/>
          </a:xfrm>
          <a:prstGeom prst="rect">
            <a:avLst/>
          </a:prstGeom>
        </p:spPr>
      </p:pic>
      <p:sp>
        <p:nvSpPr>
          <p:cNvPr id="36" name="Shape 31"/>
          <p:cNvSpPr/>
          <p:nvPr/>
        </p:nvSpPr>
        <p:spPr>
          <a:xfrm>
            <a:off x="2355494" y="4924044"/>
            <a:ext cx="562356" cy="247802"/>
          </a:xfrm>
          <a:prstGeom prst="roundRect">
            <a:avLst>
              <a:gd name="adj" fmla="val 56770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Text 32"/>
          <p:cNvSpPr txBox="1"/>
          <p:nvPr/>
        </p:nvSpPr>
        <p:spPr>
          <a:xfrm>
            <a:off x="2431390" y="4924044"/>
            <a:ext cx="544068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오션뷰 </a:t>
            </a:r>
            <a:endParaRPr lang="en-US" sz="900" dirty="0"/>
          </a:p>
        </p:txBody>
      </p:sp>
      <p:pic>
        <p:nvPicPr>
          <p:cNvPr id="38" name="Image 3" descr="preencoded.png">    </p:cNvPr>
          <p:cNvPicPr>
            <a:picLocks noChangeAspect="1"/>
          </p:cNvPicPr>
          <p:nvPr/>
        </p:nvPicPr>
        <p:blipFill>
          <a:blip r:embed="rId4"/>
          <a:srcRect l="-133" r="-133" t="0" b="0"/>
          <a:stretch/>
        </p:blipFill>
        <p:spPr>
          <a:xfrm>
            <a:off x="2746858" y="4990795"/>
            <a:ext cx="85954" cy="114300"/>
          </a:xfrm>
          <a:prstGeom prst="rect">
            <a:avLst/>
          </a:prstGeom>
        </p:spPr>
      </p:pic>
      <p:sp>
        <p:nvSpPr>
          <p:cNvPr id="39" name="Text 33"/>
          <p:cNvSpPr txBox="1"/>
          <p:nvPr/>
        </p:nvSpPr>
        <p:spPr>
          <a:xfrm>
            <a:off x="1028700" y="5210251"/>
            <a:ext cx="38487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최대 10개까지 등록 가능</a:t>
            </a:r>
            <a:endParaRPr lang="en-US" sz="1200" dirty="0"/>
          </a:p>
        </p:txBody>
      </p:sp>
      <p:sp>
        <p:nvSpPr>
          <p:cNvPr id="40" name="Shape 34"/>
          <p:cNvSpPr/>
          <p:nvPr/>
        </p:nvSpPr>
        <p:spPr>
          <a:xfrm>
            <a:off x="1028700" y="5724144"/>
            <a:ext cx="1790395" cy="400507"/>
          </a:xfrm>
          <a:prstGeom prst="roundRect">
            <a:avLst>
              <a:gd name="adj" fmla="val 3261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1" name="Shape 35"/>
          <p:cNvSpPr/>
          <p:nvPr/>
        </p:nvSpPr>
        <p:spPr>
          <a:xfrm>
            <a:off x="2915107" y="5724144"/>
            <a:ext cx="1772107" cy="400507"/>
          </a:xfrm>
          <a:prstGeom prst="roundRect">
            <a:avLst>
              <a:gd name="adj" fmla="val 32616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" name="Shape 36"/>
          <p:cNvSpPr/>
          <p:nvPr/>
        </p:nvSpPr>
        <p:spPr>
          <a:xfrm>
            <a:off x="5562295" y="800100"/>
            <a:ext cx="6248095" cy="5447995"/>
          </a:xfrm>
          <a:prstGeom prst="roundRect">
            <a:avLst>
              <a:gd name="adj" fmla="val 35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Shape 37"/>
          <p:cNvSpPr/>
          <p:nvPr/>
        </p:nvSpPr>
        <p:spPr>
          <a:xfrm>
            <a:off x="5572354" y="809244"/>
            <a:ext cx="6229807" cy="533095"/>
          </a:xfrm>
          <a:prstGeom prst="roundRect">
            <a:avLst>
              <a:gd name="adj" fmla="val 36756"/>
            </a:avLst>
          </a:prstGeom>
          <a:solidFill>
            <a:srgbClr val="FFFFFF"/>
          </a:solidFill>
          <a:ln/>
        </p:spPr>
      </p:sp>
      <p:sp>
        <p:nvSpPr>
          <p:cNvPr id="44" name="Shape 38"/>
          <p:cNvSpPr/>
          <p:nvPr/>
        </p:nvSpPr>
        <p:spPr>
          <a:xfrm>
            <a:off x="5572354" y="1333195"/>
            <a:ext cx="6229807" cy="9144"/>
          </a:xfrm>
          <a:prstGeom prst="roundRect">
            <a:avLst>
              <a:gd name="adj" fmla="val 2142857"/>
            </a:avLst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45" name="Text 39"/>
          <p:cNvSpPr txBox="1"/>
          <p:nvPr/>
        </p:nvSpPr>
        <p:spPr>
          <a:xfrm>
            <a:off x="6000293" y="961949"/>
            <a:ext cx="113111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상세 사양 및 정책</a:t>
            </a:r>
            <a:endParaRPr lang="en-US" sz="1100" dirty="0"/>
          </a:p>
        </p:txBody>
      </p:sp>
      <p:pic>
        <p:nvPicPr>
          <p:cNvPr id="46" name="Image 4" descr="preencoded.png">    </p:cNvPr>
          <p:cNvPicPr>
            <a:picLocks noChangeAspect="1"/>
          </p:cNvPicPr>
          <p:nvPr/>
        </p:nvPicPr>
        <p:blipFill>
          <a:blip r:embed="rId5"/>
          <a:srcRect l="-428" r="-428" t="0" b="0"/>
          <a:stretch/>
        </p:blipFill>
        <p:spPr>
          <a:xfrm>
            <a:off x="5762549" y="997610"/>
            <a:ext cx="161849" cy="142646"/>
          </a:xfrm>
          <a:prstGeom prst="rect">
            <a:avLst/>
          </a:prstGeom>
        </p:spPr>
      </p:pic>
      <p:sp>
        <p:nvSpPr>
          <p:cNvPr id="47" name="Text 40"/>
          <p:cNvSpPr txBox="1"/>
          <p:nvPr/>
        </p:nvSpPr>
        <p:spPr>
          <a:xfrm>
            <a:off x="9965131" y="993038"/>
            <a:ext cx="172455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Last Updated: 2026-02-02</a:t>
            </a:r>
            <a:endParaRPr lang="en-US" sz="9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72354" y="1338682"/>
          <a:ext cx="6229807" cy="3886200"/>
        </p:xfrm>
        <a:graphic>
          <a:graphicData uri="http://schemas.openxmlformats.org/drawingml/2006/table">
            <a:tbl>
              <a:tblPr/>
              <a:tblGrid>
                <a:gridCol w="1557223"/>
                <a:gridCol w="934517"/>
                <a:gridCol w="3738067"/>
              </a:tblGrid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b="1" dirty="0">
                          <a:solidFill>
                            <a:srgbClr val="64748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UI 요소 (Element)</a:t>
                      </a:r>
                      <a:endParaRPr lang="en-US" sz="97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705" marR="152705" marT="95098" marB="95098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b="1" dirty="0">
                          <a:solidFill>
                            <a:srgbClr val="64748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속성</a:t>
                      </a:r>
                      <a:endParaRPr lang="en-US" sz="97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705" marR="152705" marT="95098" marB="95098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b="1" dirty="0">
                          <a:solidFill>
                            <a:srgbClr val="64748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상세 설명 및 규칙 (Description &amp; Rules)</a:t>
                      </a:r>
                      <a:endParaRPr lang="en-US" sz="97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705" marR="152705" marT="95098" marB="95098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</a:t>
                      </a:r>
                      <a:pPr indent="0" marL="0">
                        <a:buNone/>
                      </a:pP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3341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업종 카테고리</a:t>
                      </a:r>
                      <a:endParaRPr lang="en-US" sz="1200" dirty="0"/>
                    </a:p>
                  </a:txBody>
                  <a:tcPr marL="152705" marR="152705" marT="114300" marB="114300" anchor="t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5" b="1" dirty="0">
                          <a:solidFill>
                            <a:srgbClr val="991B1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필수</a:t>
                      </a:r>
                      <a:endParaRPr lang="en-US" sz="1200" dirty="0"/>
                    </a:p>
                  </a:txBody>
                  <a:tcPr marL="152705" marR="152705" marT="114300" marB="114300" anchor="t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b="1" dirty="0">
                          <a:solidFill>
                            <a:srgbClr val="3341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유형:</a:t>
                      </a:r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3341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 Multi-select Checkbox Group</a:t>
                      </a:r>
                      <a:pPr indent="0" marL="0">
                        <a:spcAft>
                          <a:spcPts val="300"/>
                        </a:spcAft>
                        <a:buNone/>
                      </a:pP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975" b="1" dirty="0">
                          <a:solidFill>
                            <a:srgbClr val="3341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옵션:</a:t>
                      </a:r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3341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 숙박, 투어/액티비티, 티켓/패스, 교통/렌터카, 기타</a:t>
                      </a:r>
                      <a:pPr indent="0" marL="0">
                        <a:spcAft>
                          <a:spcPts val="300"/>
                        </a:spcAft>
                        <a:buNone/>
                      </a:pP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F444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Validation: 최소 1개 이상 선택 필수.</a:t>
                      </a:r>
                      <a:endParaRPr lang="en-US" sz="1200" dirty="0"/>
                    </a:p>
                  </a:txBody>
                  <a:tcPr marL="152705" marR="152705" marT="114300" marB="114300" anchor="t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</a:t>
                      </a:r>
                      <a:pPr indent="0" marL="0">
                        <a:buNone/>
                      </a:pP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3341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키워드 입력</a:t>
                      </a:r>
                      <a:endParaRPr lang="en-US" sz="1200" dirty="0"/>
                    </a:p>
                  </a:txBody>
                  <a:tcPr marL="152705" marR="152705" marT="114300" marB="114300" anchor="t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5" b="1" dirty="0">
                          <a:solidFill>
                            <a:srgbClr val="64748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선택</a:t>
                      </a:r>
                      <a:endParaRPr lang="en-US" sz="1200" dirty="0"/>
                    </a:p>
                  </a:txBody>
                  <a:tcPr marL="152705" marR="152705" marT="114300" marB="114300" anchor="t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b="1" dirty="0">
                          <a:solidFill>
                            <a:srgbClr val="3341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기능:</a:t>
                      </a:r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3341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 텍스트 입력 후 [Enter] 또는 [추가] 버튼 클릭 시 태그 생성.</a:t>
                      </a:r>
                      <a:pPr indent="0" marL="0">
                        <a:spcAft>
                          <a:spcPts val="300"/>
                        </a:spcAft>
                        <a:buNone/>
                      </a:pP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975" b="1" dirty="0">
                          <a:solidFill>
                            <a:srgbClr val="3341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규칙:</a:t>
                      </a:r>
                      <a:pPr indent="0" marL="0">
                        <a:spcAft>
                          <a:spcPts val="300"/>
                        </a:spcAft>
                        <a:buNone/>
                      </a:pP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한글/영문/숫자 허용 (특수문자 제외)</a:t>
                      </a:r>
                      <a:pPr indent="0" marL="0">
                        <a:buNone/>
                      </a:pP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키워드당 2~20자 제한</a:t>
                      </a:r>
                      <a:pPr indent="0" marL="0">
                        <a:spcBef>
                          <a:spcPts val="150"/>
                        </a:spcBef>
                        <a:buNone/>
                      </a:pP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최대 10개까지 등록 가능 (초과 시 입력 불가 안내)</a:t>
                      </a:r>
                      <a:pPr indent="0" marL="0">
                        <a:spcBef>
                          <a:spcPts val="150"/>
                        </a:spcBef>
                        <a:buNone/>
                      </a:pP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중복 키워드 입력 시 Toast 경고 노출</a:t>
                      </a:r>
                      <a:endParaRPr lang="en-US" sz="1200" dirty="0"/>
                    </a:p>
                  </a:txBody>
                  <a:tcPr marL="152705" marR="152705" marT="114300" marB="114300" anchor="t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3341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↳ 키워드 태그</a:t>
                      </a:r>
                      <a:endParaRPr lang="en-US" sz="1200" dirty="0"/>
                    </a:p>
                  </a:txBody>
                  <a:tcPr marL="152705" marR="152705" marT="114300" marB="114300" anchor="t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5" b="1" dirty="0">
                          <a:solidFill>
                            <a:srgbClr val="4338C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Action</a:t>
                      </a:r>
                      <a:endParaRPr lang="en-US" sz="1200" dirty="0"/>
                    </a:p>
                  </a:txBody>
                  <a:tcPr marL="152705" marR="152705" marT="114300" marB="114300" anchor="t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3341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생성된 태그의 'X' 아이콘 클릭 시 목록에서 즉시 삭제.</a:t>
                      </a:r>
                      <a:endParaRPr lang="en-US" sz="97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705" marR="152705" marT="114300" marB="114300" anchor="t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</a:t>
                      </a:r>
                      <a:pPr indent="0" marL="0">
                        <a:buNone/>
                      </a:pP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1D4ED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다음 단계</a:t>
                      </a:r>
                      <a:endParaRPr lang="en-US" sz="1200" dirty="0"/>
                    </a:p>
                  </a:txBody>
                  <a:tcPr marL="152705" marR="152705" marT="114300" marB="114300" anchor="t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5" b="1" dirty="0">
                          <a:solidFill>
                            <a:srgbClr val="4338C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Button</a:t>
                      </a:r>
                      <a:endParaRPr lang="en-US" sz="1200" dirty="0"/>
                    </a:p>
                  </a:txBody>
                  <a:tcPr marL="152705" marR="152705" marT="114300" marB="114300" anchor="t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b="1" dirty="0">
                          <a:solidFill>
                            <a:srgbClr val="1E40A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전환 (Transition)</a:t>
                      </a:r>
                      <a:pPr indent="0" marL="0">
                        <a:spcAft>
                          <a:spcPts val="300"/>
                        </a:spcAft>
                        <a:buNone/>
                      </a:pP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3341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업종 카테고리가 1개 이상 선택된 경우 활성화.</a:t>
                      </a:r>
                      <a:pPr indent="0" marL="0">
                        <a:spcAft>
                          <a:spcPts val="300"/>
                        </a:spcAft>
                        <a:buNone/>
                      </a:pP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3341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클릭 시 </a:t>
                      </a:r>
                      <a:pPr indent="0" marL="0">
                        <a:buNone/>
                      </a:pPr>
                      <a:r>
                        <a:rPr lang="en-US" sz="975" b="1" dirty="0">
                          <a:solidFill>
                            <a:srgbClr val="3341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S-08 기업 상품 옵션</a:t>
                      </a:r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3341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 화면으로 이동.</a:t>
                      </a:r>
                      <a:endParaRPr lang="en-US" sz="1200" dirty="0"/>
                    </a:p>
                  </a:txBody>
                  <a:tcPr marL="152705" marR="152705" marT="114300" marB="114300" anchor="t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</a:tr>
            </a:tbl>
          </a:graphicData>
        </a:graphic>
      </p:graphicFrame>
      <p:sp>
        <p:nvSpPr>
          <p:cNvPr id="49" name="Shape 41"/>
          <p:cNvSpPr/>
          <p:nvPr/>
        </p:nvSpPr>
        <p:spPr>
          <a:xfrm>
            <a:off x="5572354" y="5219395"/>
            <a:ext cx="6229807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50" name="Text 42"/>
          <p:cNvSpPr txBox="1"/>
          <p:nvPr/>
        </p:nvSpPr>
        <p:spPr>
          <a:xfrm>
            <a:off x="5971946" y="5419649"/>
            <a:ext cx="57534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예외 처리 (Exception)</a:t>
            </a:r>
            <a:endParaRPr lang="en-US" sz="1000" dirty="0"/>
          </a:p>
        </p:txBody>
      </p:sp>
      <p:pic>
        <p:nvPicPr>
          <p:cNvPr id="51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5762549" y="5446166"/>
            <a:ext cx="133502" cy="133502"/>
          </a:xfrm>
          <a:prstGeom prst="rect">
            <a:avLst/>
          </a:prstGeom>
        </p:spPr>
      </p:pic>
      <p:sp>
        <p:nvSpPr>
          <p:cNvPr id="52" name="Text 43"/>
          <p:cNvSpPr txBox="1"/>
          <p:nvPr/>
        </p:nvSpPr>
        <p:spPr>
          <a:xfrm>
            <a:off x="5762549" y="5686654"/>
            <a:ext cx="5925312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</a:t>
            </a:r>
            <a:pPr algn="l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카테고리 로딩 실패:</a:t>
            </a:r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서버에서 공통 코드(Category Code) 조회 실패 시 "카테고리 정보를 불러올 수 없습니다. 새로고침 해주세요." 얼럿 노출.</a:t>
            </a:r>
            <a:endParaRPr lang="en-US" sz="900" dirty="0"/>
          </a:p>
        </p:txBody>
      </p:sp>
      <p:sp>
        <p:nvSpPr>
          <p:cNvPr id="53" name="Text 44"/>
          <p:cNvSpPr txBox="1"/>
          <p:nvPr/>
        </p:nvSpPr>
        <p:spPr>
          <a:xfrm>
            <a:off x="5762549" y="6029554"/>
            <a:ext cx="603961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</a:t>
            </a:r>
            <a:pPr algn="l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키워드 정책:</a:t>
            </a:r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금칙어(욕설 등) 포함 시 등록 차단 및 경고 메시지 표시.</a:t>
            </a:r>
            <a:endParaRPr lang="en-US" sz="900" dirty="0"/>
          </a:p>
        </p:txBody>
      </p:sp>
      <p:sp>
        <p:nvSpPr>
          <p:cNvPr id="54" name="Shape 45"/>
          <p:cNvSpPr/>
          <p:nvPr/>
        </p:nvSpPr>
        <p:spPr>
          <a:xfrm>
            <a:off x="0" y="6476695"/>
            <a:ext cx="12191695" cy="38130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5" name="Shape 46"/>
          <p:cNvSpPr/>
          <p:nvPr/>
        </p:nvSpPr>
        <p:spPr>
          <a:xfrm>
            <a:off x="0" y="6476695"/>
            <a:ext cx="12191695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56" name="Text 47"/>
          <p:cNvSpPr txBox="1"/>
          <p:nvPr/>
        </p:nvSpPr>
        <p:spPr>
          <a:xfrm>
            <a:off x="381305" y="6586423"/>
            <a:ext cx="191749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B2B 파트너 입점 화면설계서 v0.9</a:t>
            </a:r>
            <a:endParaRPr lang="en-US" sz="900" dirty="0"/>
          </a:p>
        </p:txBody>
      </p:sp>
      <p:sp>
        <p:nvSpPr>
          <p:cNvPr id="57" name="Text 48"/>
          <p:cNvSpPr txBox="1"/>
          <p:nvPr/>
        </p:nvSpPr>
        <p:spPr>
          <a:xfrm>
            <a:off x="11330330" y="6586423"/>
            <a:ext cx="56235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Page 15</a:t>
            </a:r>
            <a:endParaRPr lang="en-US" sz="900" dirty="0"/>
          </a:p>
        </p:txBody>
      </p:sp>
      <p:sp>
        <p:nvSpPr>
          <p:cNvPr id="58" name="Shape 49"/>
          <p:cNvSpPr/>
          <p:nvPr/>
        </p:nvSpPr>
        <p:spPr>
          <a:xfrm>
            <a:off x="0" y="0"/>
            <a:ext cx="12191695" cy="571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9" name="Shape 50"/>
          <p:cNvSpPr/>
          <p:nvPr/>
        </p:nvSpPr>
        <p:spPr>
          <a:xfrm>
            <a:off x="0" y="562356"/>
            <a:ext cx="12191695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60" name="Shape 51"/>
          <p:cNvSpPr/>
          <p:nvPr/>
        </p:nvSpPr>
        <p:spPr>
          <a:xfrm>
            <a:off x="381305" y="142646"/>
            <a:ext cx="514807" cy="276149"/>
          </a:xfrm>
          <a:prstGeom prst="roundRect">
            <a:avLst>
              <a:gd name="adj" fmla="val 68509"/>
            </a:avLst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1" name="Text 52"/>
          <p:cNvSpPr txBox="1"/>
          <p:nvPr/>
        </p:nvSpPr>
        <p:spPr>
          <a:xfrm>
            <a:off x="381305" y="142646"/>
            <a:ext cx="571500" cy="2770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40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S-07</a:t>
            </a:r>
            <a:endParaRPr lang="en-US" sz="1000" dirty="0"/>
          </a:p>
        </p:txBody>
      </p:sp>
      <p:sp>
        <p:nvSpPr>
          <p:cNvPr id="62" name="Text 53"/>
          <p:cNvSpPr txBox="1"/>
          <p:nvPr/>
        </p:nvSpPr>
        <p:spPr>
          <a:xfrm>
            <a:off x="1038758" y="152705"/>
            <a:ext cx="2265883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업종 선택 및 키워드 설정</a:t>
            </a:r>
            <a:endParaRPr lang="en-US" sz="1300" dirty="0"/>
          </a:p>
        </p:txBody>
      </p:sp>
      <p:sp>
        <p:nvSpPr>
          <p:cNvPr id="63" name="Text 54"/>
          <p:cNvSpPr txBox="1"/>
          <p:nvPr/>
        </p:nvSpPr>
        <p:spPr>
          <a:xfrm>
            <a:off x="10253167" y="204826"/>
            <a:ext cx="63825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검색 최적화</a:t>
            </a:r>
            <a:endParaRPr lang="en-US" sz="900" dirty="0"/>
          </a:p>
        </p:txBody>
      </p:sp>
      <p:pic>
        <p:nvPicPr>
          <p:cNvPr id="64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10100462" y="224028"/>
            <a:ext cx="114300" cy="114300"/>
          </a:xfrm>
          <a:prstGeom prst="rect">
            <a:avLst/>
          </a:prstGeom>
        </p:spPr>
      </p:pic>
      <p:sp>
        <p:nvSpPr>
          <p:cNvPr id="65" name="Text 55"/>
          <p:cNvSpPr txBox="1"/>
          <p:nvPr/>
        </p:nvSpPr>
        <p:spPr>
          <a:xfrm>
            <a:off x="11116361" y="204826"/>
            <a:ext cx="77175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태그 입력 지원</a:t>
            </a:r>
            <a:endParaRPr lang="en-US" sz="900" dirty="0"/>
          </a:p>
        </p:txBody>
      </p:sp>
      <p:pic>
        <p:nvPicPr>
          <p:cNvPr id="66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10963656" y="224028"/>
            <a:ext cx="114300" cy="114300"/>
          </a:xfrm>
          <a:prstGeom prst="rect">
            <a:avLst/>
          </a:prstGeom>
        </p:spPr>
      </p:pic>
      <p:sp>
        <p:nvSpPr>
          <p:cNvPr id="67" name="Shape 56"/>
          <p:cNvSpPr/>
          <p:nvPr/>
        </p:nvSpPr>
        <p:spPr>
          <a:xfrm>
            <a:off x="543154" y="961949"/>
            <a:ext cx="1104595" cy="228600"/>
          </a:xfrm>
          <a:prstGeom prst="roundRect">
            <a:avLst>
              <a:gd name="adj" fmla="val 66667"/>
            </a:avLst>
          </a:prstGeom>
          <a:solidFill>
            <a:srgbClr val="000000">
              <a:alpha val="7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8" name="Text 57"/>
          <p:cNvSpPr txBox="1"/>
          <p:nvPr/>
        </p:nvSpPr>
        <p:spPr>
          <a:xfrm>
            <a:off x="543154" y="961949"/>
            <a:ext cx="1162202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PC 1280px View</a:t>
            </a:r>
            <a:endParaRPr lang="en-US" sz="900" dirty="0"/>
          </a:p>
        </p:txBody>
      </p:sp>
      <p:sp>
        <p:nvSpPr>
          <p:cNvPr id="69" name="Text 58"/>
          <p:cNvSpPr txBox="1"/>
          <p:nvPr/>
        </p:nvSpPr>
        <p:spPr>
          <a:xfrm>
            <a:off x="4533595" y="2486254"/>
            <a:ext cx="286207" cy="210312"/>
          </a:xfrm>
          <a:prstGeom prst="rect">
            <a:avLst/>
          </a:prstGeom>
          <a:solidFill>
            <a:srgbClr val="EF4444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800" dirty="0"/>
          </a:p>
        </p:txBody>
      </p:sp>
      <p:sp>
        <p:nvSpPr>
          <p:cNvPr id="70" name="Text 59"/>
          <p:cNvSpPr txBox="1"/>
          <p:nvPr/>
        </p:nvSpPr>
        <p:spPr>
          <a:xfrm>
            <a:off x="4533595" y="4129430"/>
            <a:ext cx="286207" cy="210312"/>
          </a:xfrm>
          <a:prstGeom prst="rect">
            <a:avLst/>
          </a:prstGeom>
          <a:solidFill>
            <a:srgbClr val="EF4444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800" dirty="0"/>
          </a:p>
        </p:txBody>
      </p:sp>
      <p:sp>
        <p:nvSpPr>
          <p:cNvPr id="71" name="Text 60"/>
          <p:cNvSpPr txBox="1"/>
          <p:nvPr/>
        </p:nvSpPr>
        <p:spPr>
          <a:xfrm>
            <a:off x="4981651" y="1171346"/>
            <a:ext cx="286207" cy="210312"/>
          </a:xfrm>
          <a:prstGeom prst="rect">
            <a:avLst/>
          </a:prstGeom>
          <a:solidFill>
            <a:srgbClr val="EF4444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71500"/>
            <a:ext cx="12191695" cy="5905195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81305" y="800100"/>
            <a:ext cx="4953305" cy="5447995"/>
          </a:xfrm>
          <a:prstGeom prst="roundRect">
            <a:avLst>
              <a:gd name="adj" fmla="val 426"/>
            </a:avLst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3" b="-3"/>
          <a:stretch/>
        </p:blipFill>
        <p:spPr>
          <a:xfrm>
            <a:off x="580644" y="1000354"/>
            <a:ext cx="4552798" cy="504840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80644" y="1000354"/>
            <a:ext cx="4552798" cy="267005"/>
          </a:xfrm>
          <a:prstGeom prst="roundRect">
            <a:avLst>
              <a:gd name="adj" fmla="val 97847"/>
            </a:avLst>
          </a:prstGeom>
          <a:solidFill>
            <a:srgbClr val="F1F5F9"/>
          </a:solidFill>
          <a:ln/>
        </p:spPr>
      </p:sp>
      <p:sp>
        <p:nvSpPr>
          <p:cNvPr id="8" name="Shape 5"/>
          <p:cNvSpPr/>
          <p:nvPr/>
        </p:nvSpPr>
        <p:spPr>
          <a:xfrm>
            <a:off x="580644" y="1258214"/>
            <a:ext cx="4552798" cy="9144"/>
          </a:xfrm>
          <a:prstGeom prst="roundRect">
            <a:avLst>
              <a:gd name="adj" fmla="val 2857143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94944" y="1090879"/>
            <a:ext cx="75895" cy="75895"/>
          </a:xfrm>
          <a:prstGeom prst="ellipse">
            <a:avLst/>
          </a:prstGeom>
          <a:solidFill>
            <a:srgbClr val="FCA5A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28446" y="1090879"/>
            <a:ext cx="75895" cy="75895"/>
          </a:xfrm>
          <a:prstGeom prst="ellipse">
            <a:avLst/>
          </a:prstGeom>
          <a:solidFill>
            <a:srgbClr val="FCD34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61949" y="1090879"/>
            <a:ext cx="75895" cy="75895"/>
          </a:xfrm>
          <a:prstGeom prst="ellipse">
            <a:avLst/>
          </a:prstGeom>
          <a:solidFill>
            <a:srgbClr val="86EFA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037844" y="1052474"/>
            <a:ext cx="403890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partner.travel.com/signup/options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933602" y="1552651"/>
            <a:ext cx="38487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서비스 설정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933602" y="1857146"/>
            <a:ext cx="38487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운영하실 상품과 정산 방식을 선택해주세요.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2590495" y="2238451"/>
            <a:ext cx="75895" cy="75895"/>
          </a:xfrm>
          <a:prstGeom prst="ellipse">
            <a:avLst/>
          </a:prstGeom>
          <a:solidFill>
            <a:srgbClr val="E2E8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2704795" y="2238451"/>
            <a:ext cx="75895" cy="75895"/>
          </a:xfrm>
          <a:prstGeom prst="ellipse">
            <a:avLst/>
          </a:prstGeom>
          <a:solidFill>
            <a:srgbClr val="E2E8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2819095" y="2238451"/>
            <a:ext cx="190195" cy="75895"/>
          </a:xfrm>
          <a:prstGeom prst="roundRect">
            <a:avLst>
              <a:gd name="adj" fmla="val 602411"/>
            </a:avLst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047695" y="2238451"/>
            <a:ext cx="75895" cy="75895"/>
          </a:xfrm>
          <a:prstGeom prst="ellipse">
            <a:avLst/>
          </a:prstGeom>
          <a:solidFill>
            <a:srgbClr val="E2E8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1028700" y="2771546"/>
            <a:ext cx="505663" cy="295351"/>
          </a:xfrm>
          <a:prstGeom prst="rect">
            <a:avLst/>
          </a:prstGeom>
          <a:solidFill>
            <a:srgbClr val="EFF6FF"/>
          </a:solidFill>
          <a:ln w="12700">
            <a:solidFill>
              <a:srgbClr val="3B82F6"/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숙박</a:t>
            </a:r>
            <a:endParaRPr lang="en-US" sz="800" dirty="0"/>
          </a:p>
        </p:txBody>
      </p:sp>
      <p:sp>
        <p:nvSpPr>
          <p:cNvPr id="20" name="Text 17"/>
          <p:cNvSpPr txBox="1"/>
          <p:nvPr/>
        </p:nvSpPr>
        <p:spPr>
          <a:xfrm>
            <a:off x="1545336" y="2771546"/>
            <a:ext cx="924458" cy="295351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투어/액티비티</a:t>
            </a:r>
            <a:endParaRPr lang="en-US" sz="800" dirty="0"/>
          </a:p>
        </p:txBody>
      </p:sp>
      <p:sp>
        <p:nvSpPr>
          <p:cNvPr id="21" name="Text 18"/>
          <p:cNvSpPr txBox="1"/>
          <p:nvPr/>
        </p:nvSpPr>
        <p:spPr>
          <a:xfrm>
            <a:off x="2485339" y="2771546"/>
            <a:ext cx="734263" cy="295351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티켓/패스</a:t>
            </a:r>
            <a:endParaRPr lang="en-US" sz="800" dirty="0"/>
          </a:p>
        </p:txBody>
      </p:sp>
      <p:sp>
        <p:nvSpPr>
          <p:cNvPr id="22" name="Text 19"/>
          <p:cNvSpPr txBox="1"/>
          <p:nvPr/>
        </p:nvSpPr>
        <p:spPr>
          <a:xfrm>
            <a:off x="3232404" y="2771546"/>
            <a:ext cx="829361" cy="295351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렌터카/교통</a:t>
            </a:r>
            <a:endParaRPr lang="en-US" sz="800" dirty="0"/>
          </a:p>
        </p:txBody>
      </p:sp>
      <p:sp>
        <p:nvSpPr>
          <p:cNvPr id="23" name="Text 20"/>
          <p:cNvSpPr txBox="1"/>
          <p:nvPr/>
        </p:nvSpPr>
        <p:spPr>
          <a:xfrm>
            <a:off x="1028700" y="3138221"/>
            <a:ext cx="38487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* 주요 취급 상품을 1개 이상 선택해주세요.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1028700" y="4376318"/>
            <a:ext cx="3657600" cy="342900"/>
          </a:xfrm>
          <a:prstGeom prst="roundRect">
            <a:avLst>
              <a:gd name="adj" fmla="val 4444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1028700" y="4910328"/>
            <a:ext cx="3657600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381805" y="5110582"/>
            <a:ext cx="152705" cy="152705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5E7EB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1028700" y="5376672"/>
            <a:ext cx="3657600" cy="342900"/>
          </a:xfrm>
          <a:prstGeom prst="roundRect">
            <a:avLst>
              <a:gd name="adj" fmla="val 44444"/>
            </a:avLst>
          </a:prstGeom>
          <a:solidFill>
            <a:srgbClr val="EFEFEF">
              <a:alpha val="30000"/>
            </a:srgbClr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1028700" y="6024982"/>
            <a:ext cx="1772107" cy="381305"/>
          </a:xfrm>
          <a:prstGeom prst="roundRect">
            <a:avLst>
              <a:gd name="adj" fmla="val 35971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2915107" y="6024982"/>
            <a:ext cx="1772107" cy="381305"/>
          </a:xfrm>
          <a:prstGeom prst="roundRect">
            <a:avLst>
              <a:gd name="adj" fmla="val 35971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5562295" y="800100"/>
            <a:ext cx="6248095" cy="5447995"/>
          </a:xfrm>
          <a:prstGeom prst="roundRect">
            <a:avLst>
              <a:gd name="adj" fmla="val 35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5572354" y="809244"/>
            <a:ext cx="6229807" cy="533095"/>
          </a:xfrm>
          <a:prstGeom prst="roundRect">
            <a:avLst>
              <a:gd name="adj" fmla="val 36756"/>
            </a:avLst>
          </a:prstGeom>
          <a:solidFill>
            <a:srgbClr val="FFFFFF"/>
          </a:solidFill>
          <a:ln/>
        </p:spPr>
      </p:sp>
      <p:sp>
        <p:nvSpPr>
          <p:cNvPr id="32" name="Shape 29"/>
          <p:cNvSpPr/>
          <p:nvPr/>
        </p:nvSpPr>
        <p:spPr>
          <a:xfrm>
            <a:off x="5572354" y="1333195"/>
            <a:ext cx="6229807" cy="9144"/>
          </a:xfrm>
          <a:prstGeom prst="roundRect">
            <a:avLst>
              <a:gd name="adj" fmla="val 2142857"/>
            </a:avLst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6000293" y="961949"/>
            <a:ext cx="113111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상세 사양 및 정책</a:t>
            </a:r>
            <a:endParaRPr lang="en-US" sz="1100" dirty="0"/>
          </a:p>
        </p:txBody>
      </p:sp>
      <p:pic>
        <p:nvPicPr>
          <p:cNvPr id="34" name="Image 1" descr="preencoded.png">    </p:cNvPr>
          <p:cNvPicPr>
            <a:picLocks noChangeAspect="1"/>
          </p:cNvPicPr>
          <p:nvPr/>
        </p:nvPicPr>
        <p:blipFill>
          <a:blip r:embed="rId2"/>
          <a:srcRect l="-428" r="-428" t="0" b="0"/>
          <a:stretch/>
        </p:blipFill>
        <p:spPr>
          <a:xfrm>
            <a:off x="5762549" y="997610"/>
            <a:ext cx="161849" cy="142646"/>
          </a:xfrm>
          <a:prstGeom prst="rect">
            <a:avLst/>
          </a:prstGeom>
        </p:spPr>
      </p:pic>
      <p:sp>
        <p:nvSpPr>
          <p:cNvPr id="35" name="Text 31"/>
          <p:cNvSpPr txBox="1"/>
          <p:nvPr/>
        </p:nvSpPr>
        <p:spPr>
          <a:xfrm>
            <a:off x="9965131" y="993038"/>
            <a:ext cx="172455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Last Updated: 2026-02-02</a:t>
            </a:r>
            <a:endParaRPr lang="en-US" sz="9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72354" y="1338682"/>
          <a:ext cx="6229807" cy="4239158"/>
        </p:xfrm>
        <a:graphic>
          <a:graphicData uri="http://schemas.openxmlformats.org/drawingml/2006/table">
            <a:tbl>
              <a:tblPr/>
              <a:tblGrid>
                <a:gridCol w="1557223"/>
                <a:gridCol w="934517"/>
                <a:gridCol w="3738067"/>
              </a:tblGrid>
              <a:tr h="70652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b="1" dirty="0">
                          <a:solidFill>
                            <a:srgbClr val="64748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UI 요소 (Element)</a:t>
                      </a:r>
                      <a:endParaRPr lang="en-US" sz="97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705" marR="152705" marT="95098" marB="95098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b="1" dirty="0">
                          <a:solidFill>
                            <a:srgbClr val="64748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속성</a:t>
                      </a:r>
                      <a:endParaRPr lang="en-US" sz="97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705" marR="152705" marT="95098" marB="95098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b="1" dirty="0">
                          <a:solidFill>
                            <a:srgbClr val="64748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상세 설명 및 규칙 (Description &amp; Rules)</a:t>
                      </a:r>
                      <a:endParaRPr lang="en-US" sz="97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705" marR="152705" marT="95098" marB="95098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7065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</a:t>
                      </a:r>
                      <a:pPr indent="0" marL="0">
                        <a:buNone/>
                      </a:pP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3341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취급 상품</a:t>
                      </a:r>
                      <a:endParaRPr lang="en-US" sz="1200" dirty="0"/>
                    </a:p>
                  </a:txBody>
                  <a:tcPr marL="152705" marR="152705" marT="114300" marB="114300" anchor="t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5" b="1" dirty="0">
                          <a:solidFill>
                            <a:srgbClr val="991B1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필수</a:t>
                      </a:r>
                      <a:endParaRPr lang="en-US" sz="1200" dirty="0"/>
                    </a:p>
                  </a:txBody>
                  <a:tcPr marL="152705" marR="152705" marT="114300" marB="114300" anchor="t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b="1" dirty="0">
                          <a:solidFill>
                            <a:srgbClr val="3341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유형:</a:t>
                      </a:r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3341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 Multi-select Chips/Checkboxes</a:t>
                      </a:r>
                      <a:pPr indent="0" marL="0">
                        <a:spcAft>
                          <a:spcPts val="300"/>
                        </a:spcAft>
                        <a:buNone/>
                      </a:pP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975" b="1" dirty="0">
                          <a:solidFill>
                            <a:srgbClr val="3341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규칙:</a:t>
                      </a:r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3341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 최소 1개 이상 선택 필수.</a:t>
                      </a:r>
                      <a:pPr indent="0" marL="0">
                        <a:spcAft>
                          <a:spcPts val="300"/>
                        </a:spcAft>
                        <a:buNone/>
                      </a:pP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미선택 시 "최소 하나 이상의 상품 카테고리를 선택해주세요." 에러 노출.</a:t>
                      </a:r>
                      <a:endParaRPr lang="en-US" sz="1200" dirty="0"/>
                    </a:p>
                  </a:txBody>
                  <a:tcPr marL="152705" marR="152705" marT="114300" marB="114300" anchor="t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065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</a:t>
                      </a:r>
                      <a:pPr indent="0" marL="0">
                        <a:buNone/>
                      </a:pP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3341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정산 방식</a:t>
                      </a:r>
                      <a:endParaRPr lang="en-US" sz="1200" dirty="0"/>
                    </a:p>
                  </a:txBody>
                  <a:tcPr marL="152705" marR="152705" marT="114300" marB="114300" anchor="t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5" b="1" dirty="0">
                          <a:solidFill>
                            <a:srgbClr val="991B1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필수</a:t>
                      </a:r>
                      <a:endParaRPr lang="en-US" sz="1200" dirty="0"/>
                    </a:p>
                  </a:txBody>
                  <a:tcPr marL="152705" marR="152705" marT="114300" marB="114300" anchor="t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b="1" dirty="0">
                          <a:solidFill>
                            <a:srgbClr val="3341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기본값:</a:t>
                      </a:r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3341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 후정산 (Credit)</a:t>
                      </a:r>
                      <a:pPr indent="0" marL="0">
                        <a:spcAft>
                          <a:spcPts val="300"/>
                        </a:spcAft>
                        <a:buNone/>
                      </a:pP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 - 후정산: 월 단위 정산 (신용 체크 필요)</a:t>
                      </a:r>
                      <a:pPr indent="0" marL="0">
                        <a:buNone/>
                      </a:pP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 - 선정산: 충전금 차감 방식 (즉시 승인 가능) </a:t>
                      </a:r>
                      <a:endParaRPr lang="en-US" sz="1200" dirty="0"/>
                    </a:p>
                  </a:txBody>
                  <a:tcPr marL="152705" marR="152705" marT="114300" marB="114300" anchor="t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065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</a:t>
                      </a:r>
                      <a:pPr indent="0" marL="0">
                        <a:buNone/>
                      </a:pP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3341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통화/지역</a:t>
                      </a:r>
                      <a:endParaRPr lang="en-US" sz="1200" dirty="0"/>
                    </a:p>
                  </a:txBody>
                  <a:tcPr marL="152705" marR="152705" marT="114300" marB="114300" anchor="t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5" b="1" dirty="0">
                          <a:solidFill>
                            <a:srgbClr val="64748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선택</a:t>
                      </a:r>
                      <a:endParaRPr lang="en-US" sz="1200" dirty="0"/>
                    </a:p>
                  </a:txBody>
                  <a:tcPr marL="152705" marR="152705" marT="114300" marB="114300" anchor="t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3341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사업자 소재지 기반으로 기본값 자동 설정 (KR → KRW).</a:t>
                      </a:r>
                      <a:pPr indent="0" marL="0">
                        <a:buNone/>
                      </a:pP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변경 시 환율 정책에 대한 안내 툴팁 제공.</a:t>
                      </a:r>
                      <a:endParaRPr lang="en-US" sz="1200" dirty="0"/>
                    </a:p>
                  </a:txBody>
                  <a:tcPr marL="152705" marR="152705" marT="114300" marB="114300" anchor="t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065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4</a:t>
                      </a:r>
                      <a:pPr indent="0" marL="0">
                        <a:buNone/>
                      </a:pP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3341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제휴키/API</a:t>
                      </a:r>
                      <a:endParaRPr lang="en-US" sz="1200" dirty="0"/>
                    </a:p>
                  </a:txBody>
                  <a:tcPr marL="152705" marR="152705" marT="114300" marB="114300" anchor="t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5" b="1" dirty="0">
                          <a:solidFill>
                            <a:srgbClr val="64748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선택</a:t>
                      </a:r>
                      <a:endParaRPr lang="en-US" sz="1200" dirty="0"/>
                    </a:p>
                  </a:txBody>
                  <a:tcPr marL="152705" marR="152705" marT="114300" marB="114300" anchor="t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b="1" dirty="0">
                          <a:solidFill>
                            <a:srgbClr val="3341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형식:</a:t>
                      </a:r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3341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 영문+숫자 혼합 (8~40자)</a:t>
                      </a:r>
                      <a:pPr indent="0" marL="0">
                        <a:spcAft>
                          <a:spcPts val="300"/>
                        </a:spcAft>
                        <a:buNone/>
                      </a:pP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975" b="1" dirty="0">
                          <a:solidFill>
                            <a:srgbClr val="3341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동작:</a:t>
                      </a:r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3341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 토글 ON 시 입력 필드 활성화.</a:t>
                      </a:r>
                      <a:pPr indent="0" marL="0">
                        <a:spcAft>
                          <a:spcPts val="300"/>
                        </a:spcAft>
                        <a:buNone/>
                      </a:pP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입력된 키는 서버에서 유효성(Active Status) 즉시 검증.</a:t>
                      </a:r>
                      <a:endParaRPr lang="en-US" sz="1200" dirty="0"/>
                    </a:p>
                  </a:txBody>
                  <a:tcPr marL="152705" marR="152705" marT="114300" marB="114300" anchor="t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065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5</a:t>
                      </a:r>
                      <a:pPr indent="0" marL="0">
                        <a:buNone/>
                      </a:pP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1D4ED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다음 단계로</a:t>
                      </a:r>
                      <a:endParaRPr lang="en-US" sz="1200" dirty="0"/>
                    </a:p>
                  </a:txBody>
                  <a:tcPr marL="152705" marR="152705" marT="114300" marB="114300" anchor="t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5" b="1" dirty="0">
                          <a:solidFill>
                            <a:srgbClr val="4338C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Button</a:t>
                      </a:r>
                      <a:endParaRPr lang="en-US" sz="1200" dirty="0"/>
                    </a:p>
                  </a:txBody>
                  <a:tcPr marL="152705" marR="152705" marT="114300" marB="114300" anchor="t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b="1" dirty="0">
                          <a:solidFill>
                            <a:srgbClr val="1E40A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전환 조건 (Transition)</a:t>
                      </a:r>
                      <a:pPr indent="0" marL="0">
                        <a:spcAft>
                          <a:spcPts val="300"/>
                        </a:spcAft>
                        <a:buNone/>
                      </a:pP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3341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필수 옵션 선택 완료 시 활성화. 클릭 시 </a:t>
                      </a:r>
                      <a:pPr indent="0" marL="0">
                        <a:buNone/>
                      </a:pPr>
                      <a:r>
                        <a:rPr lang="en-US" sz="975" b="1" dirty="0">
                          <a:solidFill>
                            <a:srgbClr val="3341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S-09 약관 동의</a:t>
                      </a:r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3341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 화면으로 이동.</a:t>
                      </a:r>
                      <a:endParaRPr lang="en-US" sz="1200" dirty="0"/>
                    </a:p>
                  </a:txBody>
                  <a:tcPr marL="152705" marR="152705" marT="114300" marB="114300" anchor="t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</a:tr>
            </a:tbl>
          </a:graphicData>
        </a:graphic>
      </p:graphicFrame>
      <p:sp>
        <p:nvSpPr>
          <p:cNvPr id="37" name="Shape 32"/>
          <p:cNvSpPr/>
          <p:nvPr/>
        </p:nvSpPr>
        <p:spPr>
          <a:xfrm>
            <a:off x="5572354" y="5576926"/>
            <a:ext cx="6229807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38" name="Text 33"/>
          <p:cNvSpPr txBox="1"/>
          <p:nvPr/>
        </p:nvSpPr>
        <p:spPr>
          <a:xfrm>
            <a:off x="5971946" y="5777179"/>
            <a:ext cx="57534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예외 및 정책 (Policy)</a:t>
            </a:r>
            <a:endParaRPr lang="en-US" sz="1000" dirty="0"/>
          </a:p>
        </p:txBody>
      </p:sp>
      <p:pic>
        <p:nvPicPr>
          <p:cNvPr id="39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762549" y="5802782"/>
            <a:ext cx="133502" cy="133502"/>
          </a:xfrm>
          <a:prstGeom prst="rect">
            <a:avLst/>
          </a:prstGeom>
        </p:spPr>
      </p:pic>
      <p:sp>
        <p:nvSpPr>
          <p:cNvPr id="40" name="Text 34"/>
          <p:cNvSpPr txBox="1"/>
          <p:nvPr/>
        </p:nvSpPr>
        <p:spPr>
          <a:xfrm>
            <a:off x="5762549" y="6043270"/>
            <a:ext cx="603961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</a:t>
            </a:r>
            <a:pPr algn="l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정산 방식 변경:</a:t>
            </a:r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가입 후에는 관리자 승인을 통해서만 변경 가능합니다.</a:t>
            </a:r>
            <a:endParaRPr lang="en-US" sz="900" dirty="0"/>
          </a:p>
        </p:txBody>
      </p:sp>
      <p:sp>
        <p:nvSpPr>
          <p:cNvPr id="41" name="Text 35"/>
          <p:cNvSpPr txBox="1"/>
          <p:nvPr/>
        </p:nvSpPr>
        <p:spPr>
          <a:xfrm>
            <a:off x="5762549" y="6234379"/>
            <a:ext cx="603961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</a:t>
            </a:r>
            <a:pPr algn="l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취급 상품 확장:</a:t>
            </a:r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추후 '파트너 센터 &gt; 상품 관리' 메뉴에서 카테고리 추가 가능합니다.</a:t>
            </a:r>
            <a:endParaRPr lang="en-US" sz="900" dirty="0"/>
          </a:p>
        </p:txBody>
      </p:sp>
      <p:sp>
        <p:nvSpPr>
          <p:cNvPr id="42" name="Shape 36"/>
          <p:cNvSpPr/>
          <p:nvPr/>
        </p:nvSpPr>
        <p:spPr>
          <a:xfrm>
            <a:off x="0" y="6476695"/>
            <a:ext cx="12191695" cy="38130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3" name="Shape 37"/>
          <p:cNvSpPr/>
          <p:nvPr/>
        </p:nvSpPr>
        <p:spPr>
          <a:xfrm>
            <a:off x="0" y="6476695"/>
            <a:ext cx="12191695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44" name="Text 38"/>
          <p:cNvSpPr txBox="1"/>
          <p:nvPr/>
        </p:nvSpPr>
        <p:spPr>
          <a:xfrm>
            <a:off x="381305" y="6586423"/>
            <a:ext cx="191749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B2B 파트너 입점 화면설계서 v0.9</a:t>
            </a:r>
            <a:endParaRPr lang="en-US" sz="900" dirty="0"/>
          </a:p>
        </p:txBody>
      </p:sp>
      <p:sp>
        <p:nvSpPr>
          <p:cNvPr id="45" name="Text 39"/>
          <p:cNvSpPr txBox="1"/>
          <p:nvPr/>
        </p:nvSpPr>
        <p:spPr>
          <a:xfrm>
            <a:off x="11330330" y="6586423"/>
            <a:ext cx="56235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Page 16</a:t>
            </a:r>
            <a:endParaRPr lang="en-US" sz="900" dirty="0"/>
          </a:p>
        </p:txBody>
      </p:sp>
      <p:sp>
        <p:nvSpPr>
          <p:cNvPr id="46" name="Shape 40"/>
          <p:cNvSpPr/>
          <p:nvPr/>
        </p:nvSpPr>
        <p:spPr>
          <a:xfrm>
            <a:off x="0" y="0"/>
            <a:ext cx="12191695" cy="571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7" name="Shape 41"/>
          <p:cNvSpPr/>
          <p:nvPr/>
        </p:nvSpPr>
        <p:spPr>
          <a:xfrm>
            <a:off x="0" y="562356"/>
            <a:ext cx="12191695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48" name="Shape 42"/>
          <p:cNvSpPr/>
          <p:nvPr/>
        </p:nvSpPr>
        <p:spPr>
          <a:xfrm>
            <a:off x="381305" y="142646"/>
            <a:ext cx="523951" cy="276149"/>
          </a:xfrm>
          <a:prstGeom prst="roundRect">
            <a:avLst>
              <a:gd name="adj" fmla="val 68509"/>
            </a:avLst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9" name="Text 43"/>
          <p:cNvSpPr txBox="1"/>
          <p:nvPr/>
        </p:nvSpPr>
        <p:spPr>
          <a:xfrm>
            <a:off x="381305" y="142646"/>
            <a:ext cx="581558" cy="2770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40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S-08</a:t>
            </a:r>
            <a:endParaRPr lang="en-US" sz="1000" dirty="0"/>
          </a:p>
        </p:txBody>
      </p:sp>
      <p:sp>
        <p:nvSpPr>
          <p:cNvPr id="50" name="Text 44"/>
          <p:cNvSpPr txBox="1"/>
          <p:nvPr/>
        </p:nvSpPr>
        <p:spPr>
          <a:xfrm>
            <a:off x="1050646" y="152705"/>
            <a:ext cx="2195474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기업 상품 옵션 / 제휴키</a:t>
            </a:r>
            <a:endParaRPr lang="en-US" sz="1300" dirty="0"/>
          </a:p>
        </p:txBody>
      </p:sp>
      <p:sp>
        <p:nvSpPr>
          <p:cNvPr id="51" name="Text 45"/>
          <p:cNvSpPr txBox="1"/>
          <p:nvPr/>
        </p:nvSpPr>
        <p:spPr>
          <a:xfrm>
            <a:off x="10310774" y="204826"/>
            <a:ext cx="51389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PC Web</a:t>
            </a:r>
            <a:endParaRPr lang="en-US" sz="900" dirty="0"/>
          </a:p>
        </p:txBody>
      </p:sp>
      <p:pic>
        <p:nvPicPr>
          <p:cNvPr id="52" name="Image 3" descr="preencoded.png">    </p:cNvPr>
          <p:cNvPicPr>
            <a:picLocks noChangeAspect="1"/>
          </p:cNvPicPr>
          <p:nvPr/>
        </p:nvPicPr>
        <p:blipFill>
          <a:blip r:embed="rId4"/>
          <a:srcRect l="-1911" r="-1911" t="0" b="0"/>
          <a:stretch/>
        </p:blipFill>
        <p:spPr>
          <a:xfrm>
            <a:off x="10138867" y="224028"/>
            <a:ext cx="133502" cy="114300"/>
          </a:xfrm>
          <a:prstGeom prst="rect">
            <a:avLst/>
          </a:prstGeom>
        </p:spPr>
      </p:pic>
      <p:sp>
        <p:nvSpPr>
          <p:cNvPr id="53" name="Text 46"/>
          <p:cNvSpPr txBox="1"/>
          <p:nvPr/>
        </p:nvSpPr>
        <p:spPr>
          <a:xfrm>
            <a:off x="11046866" y="204826"/>
            <a:ext cx="84764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반응형 (md, lg)</a:t>
            </a:r>
            <a:endParaRPr lang="en-US" sz="900" dirty="0"/>
          </a:p>
        </p:txBody>
      </p:sp>
      <p:pic>
        <p:nvPicPr>
          <p:cNvPr id="54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10894162" y="224028"/>
            <a:ext cx="114300" cy="114300"/>
          </a:xfrm>
          <a:prstGeom prst="rect">
            <a:avLst/>
          </a:prstGeom>
        </p:spPr>
      </p:pic>
      <p:sp>
        <p:nvSpPr>
          <p:cNvPr id="55" name="Shape 47"/>
          <p:cNvSpPr/>
          <p:nvPr/>
        </p:nvSpPr>
        <p:spPr>
          <a:xfrm>
            <a:off x="543154" y="961949"/>
            <a:ext cx="1104595" cy="228600"/>
          </a:xfrm>
          <a:prstGeom prst="roundRect">
            <a:avLst>
              <a:gd name="adj" fmla="val 66667"/>
            </a:avLst>
          </a:prstGeom>
          <a:solidFill>
            <a:srgbClr val="000000">
              <a:alpha val="7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6" name="Text 48"/>
          <p:cNvSpPr txBox="1"/>
          <p:nvPr/>
        </p:nvSpPr>
        <p:spPr>
          <a:xfrm>
            <a:off x="543154" y="961949"/>
            <a:ext cx="1162202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PC 1280px View</a:t>
            </a:r>
            <a:endParaRPr lang="en-US" sz="900" dirty="0"/>
          </a:p>
        </p:txBody>
      </p:sp>
      <p:sp>
        <p:nvSpPr>
          <p:cNvPr id="57" name="Text 49"/>
          <p:cNvSpPr txBox="1"/>
          <p:nvPr/>
        </p:nvSpPr>
        <p:spPr>
          <a:xfrm>
            <a:off x="4533595" y="2542946"/>
            <a:ext cx="286207" cy="210312"/>
          </a:xfrm>
          <a:prstGeom prst="rect">
            <a:avLst/>
          </a:prstGeom>
          <a:solidFill>
            <a:srgbClr val="EF4444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800" dirty="0"/>
          </a:p>
        </p:txBody>
      </p:sp>
      <p:sp>
        <p:nvSpPr>
          <p:cNvPr id="58" name="Text 50"/>
          <p:cNvSpPr txBox="1"/>
          <p:nvPr/>
        </p:nvSpPr>
        <p:spPr>
          <a:xfrm>
            <a:off x="4533595" y="3557930"/>
            <a:ext cx="286207" cy="210312"/>
          </a:xfrm>
          <a:prstGeom prst="rect">
            <a:avLst/>
          </a:prstGeom>
          <a:solidFill>
            <a:srgbClr val="EF4444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800" dirty="0"/>
          </a:p>
        </p:txBody>
      </p:sp>
      <p:sp>
        <p:nvSpPr>
          <p:cNvPr id="59" name="Text 51"/>
          <p:cNvSpPr txBox="1"/>
          <p:nvPr/>
        </p:nvSpPr>
        <p:spPr>
          <a:xfrm>
            <a:off x="4533595" y="4386377"/>
            <a:ext cx="286207" cy="210312"/>
          </a:xfrm>
          <a:prstGeom prst="rect">
            <a:avLst/>
          </a:prstGeom>
          <a:solidFill>
            <a:srgbClr val="EF4444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800" dirty="0"/>
          </a:p>
        </p:txBody>
      </p:sp>
      <p:sp>
        <p:nvSpPr>
          <p:cNvPr id="60" name="Text 52"/>
          <p:cNvSpPr txBox="1"/>
          <p:nvPr/>
        </p:nvSpPr>
        <p:spPr>
          <a:xfrm>
            <a:off x="4533595" y="5158130"/>
            <a:ext cx="286207" cy="210312"/>
          </a:xfrm>
          <a:prstGeom prst="rect">
            <a:avLst/>
          </a:prstGeom>
          <a:solidFill>
            <a:srgbClr val="EF4444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800" dirty="0"/>
          </a:p>
        </p:txBody>
      </p:sp>
      <p:sp>
        <p:nvSpPr>
          <p:cNvPr id="61" name="Text 53"/>
          <p:cNvSpPr txBox="1"/>
          <p:nvPr/>
        </p:nvSpPr>
        <p:spPr>
          <a:xfrm>
            <a:off x="4533595" y="5928970"/>
            <a:ext cx="286207" cy="210312"/>
          </a:xfrm>
          <a:prstGeom prst="rect">
            <a:avLst/>
          </a:prstGeom>
          <a:solidFill>
            <a:srgbClr val="EF4444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71500"/>
            <a:ext cx="12191695" cy="5905195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81305" y="800100"/>
            <a:ext cx="4953305" cy="5447995"/>
          </a:xfrm>
          <a:prstGeom prst="roundRect">
            <a:avLst>
              <a:gd name="adj" fmla="val 426"/>
            </a:avLst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3" b="-3"/>
          <a:stretch/>
        </p:blipFill>
        <p:spPr>
          <a:xfrm>
            <a:off x="580644" y="1000354"/>
            <a:ext cx="4552798" cy="504840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80644" y="1000354"/>
            <a:ext cx="4552798" cy="267005"/>
          </a:xfrm>
          <a:prstGeom prst="roundRect">
            <a:avLst>
              <a:gd name="adj" fmla="val 97847"/>
            </a:avLst>
          </a:prstGeom>
          <a:solidFill>
            <a:srgbClr val="F1F5F9"/>
          </a:solidFill>
          <a:ln/>
        </p:spPr>
      </p:sp>
      <p:sp>
        <p:nvSpPr>
          <p:cNvPr id="8" name="Shape 5"/>
          <p:cNvSpPr/>
          <p:nvPr/>
        </p:nvSpPr>
        <p:spPr>
          <a:xfrm>
            <a:off x="580644" y="1258214"/>
            <a:ext cx="4552798" cy="9144"/>
          </a:xfrm>
          <a:prstGeom prst="roundRect">
            <a:avLst>
              <a:gd name="adj" fmla="val 2857143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94944" y="1090879"/>
            <a:ext cx="75895" cy="75895"/>
          </a:xfrm>
          <a:prstGeom prst="ellipse">
            <a:avLst/>
          </a:prstGeom>
          <a:solidFill>
            <a:srgbClr val="FCA5A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28446" y="1090879"/>
            <a:ext cx="75895" cy="75895"/>
          </a:xfrm>
          <a:prstGeom prst="ellipse">
            <a:avLst/>
          </a:prstGeom>
          <a:solidFill>
            <a:srgbClr val="FCD34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61949" y="1090879"/>
            <a:ext cx="75895" cy="75895"/>
          </a:xfrm>
          <a:prstGeom prst="ellipse">
            <a:avLst/>
          </a:prstGeom>
          <a:solidFill>
            <a:srgbClr val="86EFA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037844" y="1052474"/>
            <a:ext cx="403890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partner.travel.com/signup/terms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933602" y="1552651"/>
            <a:ext cx="38487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약관 동의 및 제출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933602" y="1857146"/>
            <a:ext cx="38487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마지막 단계입니다. 약관을 꼼꼼히 확인해주세요.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2590495" y="2238451"/>
            <a:ext cx="75895" cy="75895"/>
          </a:xfrm>
          <a:prstGeom prst="ellipse">
            <a:avLst/>
          </a:prstGeom>
          <a:solidFill>
            <a:srgbClr val="93C5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2704795" y="2238451"/>
            <a:ext cx="75895" cy="75895"/>
          </a:xfrm>
          <a:prstGeom prst="ellipse">
            <a:avLst/>
          </a:prstGeom>
          <a:solidFill>
            <a:srgbClr val="93C5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2819095" y="2238451"/>
            <a:ext cx="75895" cy="75895"/>
          </a:xfrm>
          <a:prstGeom prst="ellipse">
            <a:avLst/>
          </a:prstGeom>
          <a:solidFill>
            <a:srgbClr val="93C5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2933395" y="2238451"/>
            <a:ext cx="190195" cy="75895"/>
          </a:xfrm>
          <a:prstGeom prst="roundRect">
            <a:avLst>
              <a:gd name="adj" fmla="val 602411"/>
            </a:avLst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028700" y="2542946"/>
            <a:ext cx="3657600" cy="1837944"/>
          </a:xfrm>
          <a:prstGeom prst="roundRect">
            <a:avLst>
              <a:gd name="adj" fmla="val 206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1190549" y="3010205"/>
            <a:ext cx="3333902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419149" y="2704795"/>
            <a:ext cx="159197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전체 약관에 동의합니다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1419149" y="3133649"/>
            <a:ext cx="187269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[필수] 파트너 입점 이용 약관</a:t>
            </a:r>
            <a:endParaRPr lang="en-US" sz="900" dirty="0"/>
          </a:p>
        </p:txBody>
      </p:sp>
      <p:sp>
        <p:nvSpPr>
          <p:cNvPr id="23" name="Text 20"/>
          <p:cNvSpPr txBox="1"/>
          <p:nvPr/>
        </p:nvSpPr>
        <p:spPr>
          <a:xfrm>
            <a:off x="1419149" y="3433572"/>
            <a:ext cx="220644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[필수] 개인정보 수집 및 이용 동의</a:t>
            </a:r>
            <a:endParaRPr lang="en-US" sz="900" dirty="0"/>
          </a:p>
        </p:txBody>
      </p:sp>
      <p:sp>
        <p:nvSpPr>
          <p:cNvPr id="24" name="Text 21"/>
          <p:cNvSpPr txBox="1"/>
          <p:nvPr/>
        </p:nvSpPr>
        <p:spPr>
          <a:xfrm>
            <a:off x="1419149" y="3733495"/>
            <a:ext cx="182514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[필수] 제3자 정보 제공 동의</a:t>
            </a:r>
            <a:endParaRPr lang="en-US" sz="900" dirty="0"/>
          </a:p>
        </p:txBody>
      </p:sp>
      <p:sp>
        <p:nvSpPr>
          <p:cNvPr id="25" name="Text 22"/>
          <p:cNvSpPr txBox="1"/>
          <p:nvPr/>
        </p:nvSpPr>
        <p:spPr>
          <a:xfrm>
            <a:off x="1419149" y="4033418"/>
            <a:ext cx="187269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[선택] 마케팅 정보 수신 동의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1028700" y="4781398"/>
            <a:ext cx="3657600" cy="362102"/>
          </a:xfrm>
          <a:prstGeom prst="roundRect">
            <a:avLst>
              <a:gd name="adj" fmla="val 3987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1028700" y="5181905"/>
            <a:ext cx="414131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본인은 위 내용을 모두 숙지하였으며, 이에 동의합니다.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1028700" y="5639105"/>
            <a:ext cx="142646" cy="400507"/>
          </a:xfrm>
          <a:prstGeom prst="roundRect">
            <a:avLst>
              <a:gd name="adj" fmla="val 25641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1284732" y="5639105"/>
            <a:ext cx="3409798" cy="400507"/>
          </a:xfrm>
          <a:prstGeom prst="roundRect">
            <a:avLst>
              <a:gd name="adj" fmla="val 32616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5562295" y="800100"/>
            <a:ext cx="6248095" cy="5447995"/>
          </a:xfrm>
          <a:prstGeom prst="roundRect">
            <a:avLst>
              <a:gd name="adj" fmla="val 35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5572354" y="809244"/>
            <a:ext cx="6229807" cy="533095"/>
          </a:xfrm>
          <a:prstGeom prst="roundRect">
            <a:avLst>
              <a:gd name="adj" fmla="val 36756"/>
            </a:avLst>
          </a:prstGeom>
          <a:solidFill>
            <a:srgbClr val="FFFFFF"/>
          </a:solidFill>
          <a:ln/>
        </p:spPr>
      </p:sp>
      <p:sp>
        <p:nvSpPr>
          <p:cNvPr id="32" name="Shape 29"/>
          <p:cNvSpPr/>
          <p:nvPr/>
        </p:nvSpPr>
        <p:spPr>
          <a:xfrm>
            <a:off x="5572354" y="1333195"/>
            <a:ext cx="6229807" cy="9144"/>
          </a:xfrm>
          <a:prstGeom prst="roundRect">
            <a:avLst>
              <a:gd name="adj" fmla="val 2142857"/>
            </a:avLst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6000293" y="961949"/>
            <a:ext cx="113111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상세 사양 및 정책</a:t>
            </a:r>
            <a:endParaRPr lang="en-US" sz="1100" dirty="0"/>
          </a:p>
        </p:txBody>
      </p:sp>
      <p:pic>
        <p:nvPicPr>
          <p:cNvPr id="34" name="Image 1" descr="preencoded.png">    </p:cNvPr>
          <p:cNvPicPr>
            <a:picLocks noChangeAspect="1"/>
          </p:cNvPicPr>
          <p:nvPr/>
        </p:nvPicPr>
        <p:blipFill>
          <a:blip r:embed="rId2"/>
          <a:srcRect l="-428" r="-428" t="0" b="0"/>
          <a:stretch/>
        </p:blipFill>
        <p:spPr>
          <a:xfrm>
            <a:off x="5762549" y="997610"/>
            <a:ext cx="161849" cy="142646"/>
          </a:xfrm>
          <a:prstGeom prst="rect">
            <a:avLst/>
          </a:prstGeom>
        </p:spPr>
      </p:pic>
      <p:sp>
        <p:nvSpPr>
          <p:cNvPr id="35" name="Text 31"/>
          <p:cNvSpPr txBox="1"/>
          <p:nvPr/>
        </p:nvSpPr>
        <p:spPr>
          <a:xfrm>
            <a:off x="9965131" y="993038"/>
            <a:ext cx="172455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Last Updated: 2026-02-02</a:t>
            </a:r>
            <a:endParaRPr lang="en-US" sz="9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72354" y="1338682"/>
          <a:ext cx="6229807" cy="4315054"/>
        </p:xfrm>
        <a:graphic>
          <a:graphicData uri="http://schemas.openxmlformats.org/drawingml/2006/table">
            <a:tbl>
              <a:tblPr/>
              <a:tblGrid>
                <a:gridCol w="1557223"/>
                <a:gridCol w="934517"/>
                <a:gridCol w="3738067"/>
              </a:tblGrid>
              <a:tr h="86301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b="1" dirty="0">
                          <a:solidFill>
                            <a:srgbClr val="64748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UI 요소 (Element)</a:t>
                      </a:r>
                      <a:endParaRPr lang="en-US" sz="97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705" marR="152705" marT="95098" marB="95098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b="1" dirty="0">
                          <a:solidFill>
                            <a:srgbClr val="64748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속성</a:t>
                      </a:r>
                      <a:endParaRPr lang="en-US" sz="97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705" marR="152705" marT="95098" marB="95098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b="1" dirty="0">
                          <a:solidFill>
                            <a:srgbClr val="64748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상세 설명 및 규칙 (Description &amp; Rules)</a:t>
                      </a:r>
                      <a:endParaRPr lang="en-US" sz="97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705" marR="152705" marT="95098" marB="95098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86301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</a:t>
                      </a:r>
                      <a:pPr indent="0" marL="0">
                        <a:buNone/>
                      </a:pP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3341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전체 동의</a:t>
                      </a:r>
                      <a:endParaRPr lang="en-US" sz="1200" dirty="0"/>
                    </a:p>
                  </a:txBody>
                  <a:tcPr marL="152705" marR="152705" marT="114300" marB="114300" anchor="t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5" b="1" dirty="0">
                          <a:solidFill>
                            <a:srgbClr val="4338C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Logic</a:t>
                      </a:r>
                      <a:endParaRPr lang="en-US" sz="1200" dirty="0"/>
                    </a:p>
                  </a:txBody>
                  <a:tcPr marL="152705" marR="152705" marT="114300" marB="114300" anchor="t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b="1" dirty="0">
                          <a:solidFill>
                            <a:srgbClr val="3341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Toggle 기능:</a:t>
                      </a:r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3341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 체크 시 모든 하위 약관(필수/선택) 일괄 선택/해제.</a:t>
                      </a:r>
                      <a:pPr indent="0" marL="0">
                        <a:spcAft>
                          <a:spcPts val="300"/>
                        </a:spcAft>
                        <a:buNone/>
                      </a:pP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975" b="1" dirty="0">
                          <a:solidFill>
                            <a:srgbClr val="3341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Sync:</a:t>
                      </a:r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3341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 하위 항목을 개별적으로 모두 체크하면 자동으로 체크됨.</a:t>
                      </a:r>
                      <a:pPr indent="0" marL="0">
                        <a:spcAft>
                          <a:spcPts val="300"/>
                        </a:spcAft>
                        <a:buNone/>
                      </a:pP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3341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하나라도 해제 시 전체 동의 체크 해제.</a:t>
                      </a:r>
                      <a:endParaRPr lang="en-US" sz="1200" dirty="0"/>
                    </a:p>
                  </a:txBody>
                  <a:tcPr marL="152705" marR="152705" marT="114300" marB="114300" anchor="t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6301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</a:t>
                      </a:r>
                      <a:pPr indent="0" marL="0">
                        <a:buNone/>
                      </a:pP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3341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약관 항목</a:t>
                      </a:r>
                      <a:endParaRPr lang="en-US" sz="1200" dirty="0"/>
                    </a:p>
                  </a:txBody>
                  <a:tcPr marL="152705" marR="152705" marT="114300" marB="114300" anchor="t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5" b="1" dirty="0">
                          <a:solidFill>
                            <a:srgbClr val="991B1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필수</a:t>
                      </a:r>
                      <a:endParaRPr lang="en-US" sz="1200" dirty="0"/>
                    </a:p>
                  </a:txBody>
                  <a:tcPr marL="152705" marR="152705" marT="114300" marB="114300" anchor="t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b="1" dirty="0">
                          <a:solidFill>
                            <a:srgbClr val="3341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필수 약관:</a:t>
                      </a:r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3341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 미동의 시 '제출하기' 버튼 비활성화 또는 클릭 시 에러 알림.</a:t>
                      </a:r>
                      <a:pPr indent="0" marL="0">
                        <a:spcAft>
                          <a:spcPts val="300"/>
                        </a:spcAft>
                        <a:buNone/>
                      </a:pP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975" b="1" dirty="0">
                          <a:solidFill>
                            <a:srgbClr val="3341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상세보기:</a:t>
                      </a:r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3341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 '보기' 클릭 시 해당 약관 내용을 담은 모달 레이어 호출.</a:t>
                      </a:r>
                      <a:pPr indent="0" marL="0">
                        <a:spcAft>
                          <a:spcPts val="300"/>
                        </a:spcAft>
                        <a:buNone/>
                      </a:pP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3341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마케팅 정보 수신(선택)은 체크 안 해도 진행 가능.</a:t>
                      </a:r>
                      <a:endParaRPr lang="en-US" sz="1200" dirty="0"/>
                    </a:p>
                  </a:txBody>
                  <a:tcPr marL="152705" marR="152705" marT="114300" marB="114300" anchor="t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6301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</a:t>
                      </a:r>
                      <a:pPr indent="0" marL="0">
                        <a:buNone/>
                      </a:pP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3341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전자 서명</a:t>
                      </a:r>
                      <a:endParaRPr lang="en-US" sz="1200" dirty="0"/>
                    </a:p>
                  </a:txBody>
                  <a:tcPr marL="152705" marR="152705" marT="114300" marB="114300" anchor="t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5" b="1" dirty="0">
                          <a:solidFill>
                            <a:srgbClr val="991B1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필수</a:t>
                      </a:r>
                      <a:endParaRPr lang="en-US" sz="1200" dirty="0"/>
                    </a:p>
                  </a:txBody>
                  <a:tcPr marL="152705" marR="152705" marT="114300" marB="114300" anchor="t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b="1" dirty="0">
                          <a:solidFill>
                            <a:srgbClr val="3341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Validation:</a:t>
                      </a:r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3341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 빈 값일 수 없음.</a:t>
                      </a:r>
                      <a:pPr indent="0" marL="0">
                        <a:spcAft>
                          <a:spcPts val="300"/>
                        </a:spcAft>
                        <a:buNone/>
                      </a:pP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975" b="1" dirty="0">
                          <a:solidFill>
                            <a:srgbClr val="3341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Rule:</a:t>
                      </a:r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3341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 입력된 이름은 DB에 서명 데이터로 저장됨 (Log).</a:t>
                      </a:r>
                      <a:pPr indent="0" marL="0">
                        <a:spcAft>
                          <a:spcPts val="300"/>
                        </a:spcAft>
                        <a:buNone/>
                      </a:pP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※ S-04의 대표자 또는 S-05의 담당자 이름과 일치 여부는 검사하지 않음 (대리인 가능성).</a:t>
                      </a:r>
                      <a:endParaRPr lang="en-US" sz="1200" dirty="0"/>
                    </a:p>
                  </a:txBody>
                  <a:tcPr marL="152705" marR="152705" marT="114300" marB="114300" anchor="t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6301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4</a:t>
                      </a:r>
                      <a:pPr indent="0" marL="0">
                        <a:buNone/>
                      </a:pP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1D4ED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제출하기</a:t>
                      </a:r>
                      <a:endParaRPr lang="en-US" sz="1200" dirty="0"/>
                    </a:p>
                  </a:txBody>
                  <a:tcPr marL="152705" marR="152705" marT="114300" marB="114300" anchor="t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5" b="1" dirty="0">
                          <a:solidFill>
                            <a:srgbClr val="4338C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Button</a:t>
                      </a:r>
                      <a:endParaRPr lang="en-US" sz="1200" dirty="0"/>
                    </a:p>
                  </a:txBody>
                  <a:tcPr marL="152705" marR="152705" marT="114300" marB="114300" anchor="t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b="1" dirty="0">
                          <a:solidFill>
                            <a:srgbClr val="1E40A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Action: API Request (POST)</a:t>
                      </a:r>
                      <a:pPr indent="0" marL="0">
                        <a:spcAft>
                          <a:spcPts val="300"/>
                        </a:spcAft>
                        <a:buNone/>
                      </a:pP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3341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모든 입력 데이터(S-01 ~ S-09)를 서버로 전송.</a:t>
                      </a:r>
                      <a:pPr indent="0" marL="0">
                        <a:spcAft>
                          <a:spcPts val="300"/>
                        </a:spcAft>
                        <a:buNone/>
                      </a:pP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성공: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41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S-10 제출 완료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 화면으로 이동.</a:t>
                      </a:r>
                      <a:pPr indent="0" marL="0">
                        <a:buNone/>
                      </a:pP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실패: 서버 에러 메시지를 토스트 팝업으로 노출.</a:t>
                      </a:r>
                      <a:endParaRPr lang="en-US" sz="1200" dirty="0"/>
                    </a:p>
                  </a:txBody>
                  <a:tcPr marL="152705" marR="152705" marT="114300" marB="114300" anchor="t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</a:tr>
            </a:tbl>
          </a:graphicData>
        </a:graphic>
      </p:graphicFrame>
      <p:sp>
        <p:nvSpPr>
          <p:cNvPr id="37" name="Shape 32"/>
          <p:cNvSpPr/>
          <p:nvPr/>
        </p:nvSpPr>
        <p:spPr>
          <a:xfrm>
            <a:off x="5572354" y="5652821"/>
            <a:ext cx="6229807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38" name="Text 33"/>
          <p:cNvSpPr txBox="1"/>
          <p:nvPr/>
        </p:nvSpPr>
        <p:spPr>
          <a:xfrm>
            <a:off x="5971946" y="5853074"/>
            <a:ext cx="57534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예외 처리 (Exception)</a:t>
            </a:r>
            <a:endParaRPr lang="en-US" sz="1000" dirty="0"/>
          </a:p>
        </p:txBody>
      </p:sp>
      <p:pic>
        <p:nvPicPr>
          <p:cNvPr id="39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762549" y="5879592"/>
            <a:ext cx="133502" cy="133502"/>
          </a:xfrm>
          <a:prstGeom prst="rect">
            <a:avLst/>
          </a:prstGeom>
        </p:spPr>
      </p:pic>
      <p:sp>
        <p:nvSpPr>
          <p:cNvPr id="40" name="Text 34"/>
          <p:cNvSpPr txBox="1"/>
          <p:nvPr/>
        </p:nvSpPr>
        <p:spPr>
          <a:xfrm>
            <a:off x="5762549" y="6120079"/>
            <a:ext cx="613013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</a:t>
            </a:r>
            <a:pPr algn="l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제출 실패:</a:t>
            </a:r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네트워크 이슈 등으로 제출 실패 시, 입력 데이터는 보존되어야 하며 "다시 시도해주세요" 안내.</a:t>
            </a:r>
            <a:endParaRPr lang="en-US" sz="900" dirty="0"/>
          </a:p>
        </p:txBody>
      </p:sp>
      <p:sp>
        <p:nvSpPr>
          <p:cNvPr id="41" name="Text 35"/>
          <p:cNvSpPr txBox="1"/>
          <p:nvPr/>
        </p:nvSpPr>
        <p:spPr>
          <a:xfrm>
            <a:off x="5762549" y="6310274"/>
            <a:ext cx="673364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</a:t>
            </a:r>
            <a:pPr algn="l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세션 만료:</a:t>
            </a:r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작성 시간이 길어져 세션이 만료된 경우, 로그인 팝업 등을 통해 재인증 후 제출 처리 (데이터 유실 방지).</a:t>
            </a:r>
            <a:endParaRPr lang="en-US" sz="900" dirty="0"/>
          </a:p>
        </p:txBody>
      </p:sp>
      <p:sp>
        <p:nvSpPr>
          <p:cNvPr id="42" name="Shape 36"/>
          <p:cNvSpPr/>
          <p:nvPr/>
        </p:nvSpPr>
        <p:spPr>
          <a:xfrm>
            <a:off x="0" y="6476695"/>
            <a:ext cx="12191695" cy="38130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3" name="Shape 37"/>
          <p:cNvSpPr/>
          <p:nvPr/>
        </p:nvSpPr>
        <p:spPr>
          <a:xfrm>
            <a:off x="0" y="6476695"/>
            <a:ext cx="12191695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44" name="Text 38"/>
          <p:cNvSpPr txBox="1"/>
          <p:nvPr/>
        </p:nvSpPr>
        <p:spPr>
          <a:xfrm>
            <a:off x="381305" y="6586423"/>
            <a:ext cx="191749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B2B 파트너 입점 화면설계서 v0.9</a:t>
            </a:r>
            <a:endParaRPr lang="en-US" sz="900" dirty="0"/>
          </a:p>
        </p:txBody>
      </p:sp>
      <p:sp>
        <p:nvSpPr>
          <p:cNvPr id="45" name="Text 39"/>
          <p:cNvSpPr txBox="1"/>
          <p:nvPr/>
        </p:nvSpPr>
        <p:spPr>
          <a:xfrm>
            <a:off x="11330330" y="6586423"/>
            <a:ext cx="56235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Page 17</a:t>
            </a:r>
            <a:endParaRPr lang="en-US" sz="900" dirty="0"/>
          </a:p>
        </p:txBody>
      </p:sp>
      <p:sp>
        <p:nvSpPr>
          <p:cNvPr id="46" name="Shape 40"/>
          <p:cNvSpPr/>
          <p:nvPr/>
        </p:nvSpPr>
        <p:spPr>
          <a:xfrm>
            <a:off x="0" y="0"/>
            <a:ext cx="12191695" cy="571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7" name="Shape 41"/>
          <p:cNvSpPr/>
          <p:nvPr/>
        </p:nvSpPr>
        <p:spPr>
          <a:xfrm>
            <a:off x="0" y="562356"/>
            <a:ext cx="12191695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48" name="Shape 42"/>
          <p:cNvSpPr/>
          <p:nvPr/>
        </p:nvSpPr>
        <p:spPr>
          <a:xfrm>
            <a:off x="381305" y="142646"/>
            <a:ext cx="523951" cy="276149"/>
          </a:xfrm>
          <a:prstGeom prst="roundRect">
            <a:avLst>
              <a:gd name="adj" fmla="val 68509"/>
            </a:avLst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9" name="Text 43"/>
          <p:cNvSpPr txBox="1"/>
          <p:nvPr/>
        </p:nvSpPr>
        <p:spPr>
          <a:xfrm>
            <a:off x="381305" y="142646"/>
            <a:ext cx="581558" cy="2770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40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S-09</a:t>
            </a:r>
            <a:endParaRPr lang="en-US" sz="1000" dirty="0"/>
          </a:p>
        </p:txBody>
      </p:sp>
      <p:sp>
        <p:nvSpPr>
          <p:cNvPr id="50" name="Text 44"/>
          <p:cNvSpPr txBox="1"/>
          <p:nvPr/>
        </p:nvSpPr>
        <p:spPr>
          <a:xfrm>
            <a:off x="1049731" y="152705"/>
            <a:ext cx="160843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약관 동의 및 제출</a:t>
            </a:r>
            <a:endParaRPr lang="en-US" sz="1300" dirty="0"/>
          </a:p>
        </p:txBody>
      </p:sp>
      <p:sp>
        <p:nvSpPr>
          <p:cNvPr id="51" name="Text 45"/>
          <p:cNvSpPr txBox="1"/>
          <p:nvPr/>
        </p:nvSpPr>
        <p:spPr>
          <a:xfrm>
            <a:off x="10642702" y="204826"/>
            <a:ext cx="50474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전자서명</a:t>
            </a:r>
            <a:endParaRPr lang="en-US" sz="900" dirty="0"/>
          </a:p>
        </p:txBody>
      </p:sp>
      <p:pic>
        <p:nvPicPr>
          <p:cNvPr id="52" name="Image 3" descr="preencoded.png">    </p:cNvPr>
          <p:cNvPicPr>
            <a:picLocks noChangeAspect="1"/>
          </p:cNvPicPr>
          <p:nvPr/>
        </p:nvPicPr>
        <p:blipFill>
          <a:blip r:embed="rId4"/>
          <a:srcRect l="-1911" r="-1911" t="0" b="0"/>
          <a:stretch/>
        </p:blipFill>
        <p:spPr>
          <a:xfrm>
            <a:off x="10470794" y="224028"/>
            <a:ext cx="133502" cy="114300"/>
          </a:xfrm>
          <a:prstGeom prst="rect">
            <a:avLst/>
          </a:prstGeom>
        </p:spPr>
      </p:pic>
      <p:sp>
        <p:nvSpPr>
          <p:cNvPr id="53" name="Text 46"/>
          <p:cNvSpPr txBox="1"/>
          <p:nvPr/>
        </p:nvSpPr>
        <p:spPr>
          <a:xfrm>
            <a:off x="11357762" y="204826"/>
            <a:ext cx="5340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보안 전송</a:t>
            </a:r>
            <a:endParaRPr lang="en-US" sz="900" dirty="0"/>
          </a:p>
        </p:txBody>
      </p:sp>
      <p:pic>
        <p:nvPicPr>
          <p:cNvPr id="54" name="Image 4" descr="preencoded.png">    </p:cNvPr>
          <p:cNvPicPr>
            <a:picLocks noChangeAspect="1"/>
          </p:cNvPicPr>
          <p:nvPr/>
        </p:nvPicPr>
        <p:blipFill>
          <a:blip r:embed="rId5"/>
          <a:srcRect l="-2571" r="-2571" t="0" b="0"/>
          <a:stretch/>
        </p:blipFill>
        <p:spPr>
          <a:xfrm>
            <a:off x="11215116" y="224028"/>
            <a:ext cx="105156" cy="114300"/>
          </a:xfrm>
          <a:prstGeom prst="rect">
            <a:avLst/>
          </a:prstGeom>
        </p:spPr>
      </p:pic>
      <p:sp>
        <p:nvSpPr>
          <p:cNvPr id="55" name="Shape 47"/>
          <p:cNvSpPr/>
          <p:nvPr/>
        </p:nvSpPr>
        <p:spPr>
          <a:xfrm>
            <a:off x="543154" y="961949"/>
            <a:ext cx="1104595" cy="228600"/>
          </a:xfrm>
          <a:prstGeom prst="roundRect">
            <a:avLst>
              <a:gd name="adj" fmla="val 66667"/>
            </a:avLst>
          </a:prstGeom>
          <a:solidFill>
            <a:srgbClr val="000000">
              <a:alpha val="7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6" name="Text 48"/>
          <p:cNvSpPr txBox="1"/>
          <p:nvPr/>
        </p:nvSpPr>
        <p:spPr>
          <a:xfrm>
            <a:off x="543154" y="961949"/>
            <a:ext cx="1162202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PC 1280px View</a:t>
            </a:r>
            <a:endParaRPr lang="en-US" sz="900" dirty="0"/>
          </a:p>
        </p:txBody>
      </p:sp>
      <p:sp>
        <p:nvSpPr>
          <p:cNvPr id="57" name="Text 49"/>
          <p:cNvSpPr txBox="1"/>
          <p:nvPr/>
        </p:nvSpPr>
        <p:spPr>
          <a:xfrm>
            <a:off x="4334256" y="2695651"/>
            <a:ext cx="286207" cy="210312"/>
          </a:xfrm>
          <a:prstGeom prst="rect">
            <a:avLst/>
          </a:prstGeom>
          <a:solidFill>
            <a:srgbClr val="EF4444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800" dirty="0"/>
          </a:p>
        </p:txBody>
      </p:sp>
      <p:sp>
        <p:nvSpPr>
          <p:cNvPr id="58" name="Text 50"/>
          <p:cNvSpPr txBox="1"/>
          <p:nvPr/>
        </p:nvSpPr>
        <p:spPr>
          <a:xfrm>
            <a:off x="4667098" y="2553005"/>
            <a:ext cx="286207" cy="210312"/>
          </a:xfrm>
          <a:prstGeom prst="rect">
            <a:avLst/>
          </a:prstGeom>
          <a:solidFill>
            <a:srgbClr val="EF4444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800" dirty="0"/>
          </a:p>
        </p:txBody>
      </p:sp>
      <p:sp>
        <p:nvSpPr>
          <p:cNvPr id="59" name="Text 51"/>
          <p:cNvSpPr txBox="1"/>
          <p:nvPr/>
        </p:nvSpPr>
        <p:spPr>
          <a:xfrm>
            <a:off x="4533595" y="4572000"/>
            <a:ext cx="286207" cy="210312"/>
          </a:xfrm>
          <a:prstGeom prst="rect">
            <a:avLst/>
          </a:prstGeom>
          <a:solidFill>
            <a:srgbClr val="EF4444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800" dirty="0"/>
          </a:p>
        </p:txBody>
      </p:sp>
      <p:sp>
        <p:nvSpPr>
          <p:cNvPr id="60" name="Text 52"/>
          <p:cNvSpPr txBox="1"/>
          <p:nvPr/>
        </p:nvSpPr>
        <p:spPr>
          <a:xfrm>
            <a:off x="4533595" y="5544007"/>
            <a:ext cx="286207" cy="210312"/>
          </a:xfrm>
          <a:prstGeom prst="rect">
            <a:avLst/>
          </a:prstGeom>
          <a:solidFill>
            <a:srgbClr val="EF4444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71500"/>
            <a:ext cx="12191695" cy="5905195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81305" y="800100"/>
            <a:ext cx="4953305" cy="5447995"/>
          </a:xfrm>
          <a:prstGeom prst="roundRect">
            <a:avLst>
              <a:gd name="adj" fmla="val 426"/>
            </a:avLst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3" b="-3"/>
          <a:stretch/>
        </p:blipFill>
        <p:spPr>
          <a:xfrm>
            <a:off x="580644" y="1000354"/>
            <a:ext cx="4552798" cy="504840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80644" y="1000354"/>
            <a:ext cx="4552798" cy="267005"/>
          </a:xfrm>
          <a:prstGeom prst="roundRect">
            <a:avLst>
              <a:gd name="adj" fmla="val 97847"/>
            </a:avLst>
          </a:prstGeom>
          <a:solidFill>
            <a:srgbClr val="F1F5F9"/>
          </a:solidFill>
          <a:ln/>
        </p:spPr>
      </p:sp>
      <p:sp>
        <p:nvSpPr>
          <p:cNvPr id="8" name="Shape 5"/>
          <p:cNvSpPr/>
          <p:nvPr/>
        </p:nvSpPr>
        <p:spPr>
          <a:xfrm>
            <a:off x="580644" y="1258214"/>
            <a:ext cx="4552798" cy="9144"/>
          </a:xfrm>
          <a:prstGeom prst="roundRect">
            <a:avLst>
              <a:gd name="adj" fmla="val 2857143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94944" y="1090879"/>
            <a:ext cx="75895" cy="75895"/>
          </a:xfrm>
          <a:prstGeom prst="ellipse">
            <a:avLst/>
          </a:prstGeom>
          <a:solidFill>
            <a:srgbClr val="FCA5A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28446" y="1090879"/>
            <a:ext cx="75895" cy="75895"/>
          </a:xfrm>
          <a:prstGeom prst="ellipse">
            <a:avLst/>
          </a:prstGeom>
          <a:solidFill>
            <a:srgbClr val="FCD34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61949" y="1090879"/>
            <a:ext cx="75895" cy="75895"/>
          </a:xfrm>
          <a:prstGeom prst="ellipse">
            <a:avLst/>
          </a:prstGeom>
          <a:solidFill>
            <a:srgbClr val="86EFA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037844" y="1052474"/>
            <a:ext cx="403890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partner.travel.com/signup/completed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2476195" y="1266444"/>
            <a:ext cx="761695" cy="761695"/>
          </a:xfrm>
          <a:prstGeom prst="ellipse">
            <a:avLst/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rcRect l="-17" r="-17" t="0" b="0"/>
          <a:stretch/>
        </p:blipFill>
        <p:spPr>
          <a:xfrm>
            <a:off x="2691079" y="1457554"/>
            <a:ext cx="333756" cy="381305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1520647" y="2257654"/>
            <a:ext cx="268010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입점 신청이 접수되었습니다</a:t>
            </a:r>
            <a:endParaRPr lang="en-US" sz="1500" dirty="0"/>
          </a:p>
        </p:txBody>
      </p:sp>
      <p:sp>
        <p:nvSpPr>
          <p:cNvPr id="16" name="Text 12"/>
          <p:cNvSpPr txBox="1"/>
          <p:nvPr/>
        </p:nvSpPr>
        <p:spPr>
          <a:xfrm>
            <a:off x="1722730" y="2600554"/>
            <a:ext cx="2276856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파트너 승인 심사는 영업일 기준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약 1~3일</a:t>
            </a:r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정도 소요됩니다. </a:t>
            </a:r>
            <a:endParaRPr lang="en-US" sz="1000" dirty="0"/>
          </a:p>
        </p:txBody>
      </p:sp>
      <p:sp>
        <p:nvSpPr>
          <p:cNvPr id="17" name="Text 13"/>
          <p:cNvSpPr txBox="1"/>
          <p:nvPr/>
        </p:nvSpPr>
        <p:spPr>
          <a:xfrm>
            <a:off x="2377440" y="3209544"/>
            <a:ext cx="1340510" cy="305410"/>
          </a:xfrm>
          <a:prstGeom prst="rect">
            <a:avLst/>
          </a:prstGeom>
          <a:solidFill>
            <a:srgbClr val="FFF7ED"/>
          </a:solidFill>
          <a:ln w="12700">
            <a:solidFill>
              <a:srgbClr val="FFEDD5"/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심사 진행 중 (Pending) </a:t>
            </a:r>
            <a:endParaRPr lang="en-US" sz="9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2187245" y="3305556"/>
            <a:ext cx="114300" cy="114300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1028700" y="3705149"/>
            <a:ext cx="3657600" cy="1162202"/>
          </a:xfrm>
          <a:prstGeom prst="roundRect">
            <a:avLst>
              <a:gd name="adj" fmla="val 51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1190549" y="3866998"/>
            <a:ext cx="352501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안내사항</a:t>
            </a:r>
            <a:endParaRPr lang="en-US" sz="900" dirty="0"/>
          </a:p>
        </p:txBody>
      </p:sp>
      <p:sp>
        <p:nvSpPr>
          <p:cNvPr id="21" name="Text 16"/>
          <p:cNvSpPr txBox="1"/>
          <p:nvPr/>
        </p:nvSpPr>
        <p:spPr>
          <a:xfrm>
            <a:off x="1343254" y="4095598"/>
            <a:ext cx="337230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심사 결과는 입력하신 이메일로 발송됩니다.</a:t>
            </a:r>
            <a:endParaRPr lang="en-US" sz="900" dirty="0"/>
          </a:p>
        </p:txBody>
      </p:sp>
      <p:sp>
        <p:nvSpPr>
          <p:cNvPr id="22" name="Text 17"/>
          <p:cNvSpPr txBox="1"/>
          <p:nvPr/>
        </p:nvSpPr>
        <p:spPr>
          <a:xfrm>
            <a:off x="1343254" y="4324198"/>
            <a:ext cx="329641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user@company.com</a:t>
            </a:r>
            <a:endParaRPr lang="en-US" sz="900" dirty="0"/>
          </a:p>
        </p:txBody>
      </p:sp>
      <p:sp>
        <p:nvSpPr>
          <p:cNvPr id="23" name="Text 18"/>
          <p:cNvSpPr txBox="1"/>
          <p:nvPr/>
        </p:nvSpPr>
        <p:spPr>
          <a:xfrm>
            <a:off x="1343254" y="4552798"/>
            <a:ext cx="337230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추가 서류가 필요한 경우 별도 연락을 드릴 수 있습니다.</a:t>
            </a:r>
            <a:endParaRPr lang="en-US" sz="900" dirty="0"/>
          </a:p>
        </p:txBody>
      </p:sp>
      <p:sp>
        <p:nvSpPr>
          <p:cNvPr id="24" name="Shape 19"/>
          <p:cNvSpPr/>
          <p:nvPr/>
        </p:nvSpPr>
        <p:spPr>
          <a:xfrm>
            <a:off x="1028700" y="5095951"/>
            <a:ext cx="3657600" cy="418795"/>
          </a:xfrm>
          <a:prstGeom prst="roundRect">
            <a:avLst>
              <a:gd name="adj" fmla="val 29774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1028700" y="5629046"/>
            <a:ext cx="3657600" cy="418795"/>
          </a:xfrm>
          <a:prstGeom prst="roundRect">
            <a:avLst>
              <a:gd name="adj" fmla="val 2977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5562295" y="800100"/>
            <a:ext cx="6248095" cy="5447995"/>
          </a:xfrm>
          <a:prstGeom prst="roundRect">
            <a:avLst>
              <a:gd name="adj" fmla="val 35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5572354" y="809244"/>
            <a:ext cx="6229807" cy="533095"/>
          </a:xfrm>
          <a:prstGeom prst="roundRect">
            <a:avLst>
              <a:gd name="adj" fmla="val 36756"/>
            </a:avLst>
          </a:prstGeom>
          <a:solidFill>
            <a:srgbClr val="FFFFFF"/>
          </a:solidFill>
          <a:ln/>
        </p:spPr>
      </p:sp>
      <p:sp>
        <p:nvSpPr>
          <p:cNvPr id="28" name="Shape 23"/>
          <p:cNvSpPr/>
          <p:nvPr/>
        </p:nvSpPr>
        <p:spPr>
          <a:xfrm>
            <a:off x="5572354" y="1333195"/>
            <a:ext cx="6229807" cy="9144"/>
          </a:xfrm>
          <a:prstGeom prst="roundRect">
            <a:avLst>
              <a:gd name="adj" fmla="val 2142857"/>
            </a:avLst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29" name="Text 24"/>
          <p:cNvSpPr txBox="1"/>
          <p:nvPr/>
        </p:nvSpPr>
        <p:spPr>
          <a:xfrm>
            <a:off x="6000293" y="961949"/>
            <a:ext cx="113111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상세 사양 및 정책</a:t>
            </a:r>
            <a:endParaRPr lang="en-US" sz="1100" dirty="0"/>
          </a:p>
        </p:txBody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rcRect l="-428" r="-428" t="0" b="0"/>
          <a:stretch/>
        </p:blipFill>
        <p:spPr>
          <a:xfrm>
            <a:off x="5762549" y="997610"/>
            <a:ext cx="161849" cy="142646"/>
          </a:xfrm>
          <a:prstGeom prst="rect">
            <a:avLst/>
          </a:prstGeom>
        </p:spPr>
      </p:pic>
      <p:sp>
        <p:nvSpPr>
          <p:cNvPr id="31" name="Text 25"/>
          <p:cNvSpPr txBox="1"/>
          <p:nvPr/>
        </p:nvSpPr>
        <p:spPr>
          <a:xfrm>
            <a:off x="9965131" y="993038"/>
            <a:ext cx="172455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Last Updated: 2026-02-02</a:t>
            </a:r>
            <a:endParaRPr lang="en-US" sz="9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72354" y="1338682"/>
          <a:ext cx="6229807" cy="3943807"/>
        </p:xfrm>
        <a:graphic>
          <a:graphicData uri="http://schemas.openxmlformats.org/drawingml/2006/table">
            <a:tbl>
              <a:tblPr/>
              <a:tblGrid>
                <a:gridCol w="1557223"/>
                <a:gridCol w="934517"/>
                <a:gridCol w="3738067"/>
              </a:tblGrid>
              <a:tr h="65730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b="1" dirty="0">
                          <a:solidFill>
                            <a:srgbClr val="64748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UI 요소 (Element)</a:t>
                      </a:r>
                      <a:endParaRPr lang="en-US" sz="97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705" marR="152705" marT="95098" marB="95098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b="1" dirty="0">
                          <a:solidFill>
                            <a:srgbClr val="64748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속성</a:t>
                      </a:r>
                      <a:endParaRPr lang="en-US" sz="97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705" marR="152705" marT="95098" marB="95098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b="1" dirty="0">
                          <a:solidFill>
                            <a:srgbClr val="64748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상세 설명 및 규칙 (Description &amp; Rules)</a:t>
                      </a:r>
                      <a:endParaRPr lang="en-US" sz="97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705" marR="152705" marT="95098" marB="95098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6573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</a:t>
                      </a:r>
                      <a:pPr indent="0" marL="0">
                        <a:buNone/>
                      </a:pP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3341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성공 피드백</a:t>
                      </a:r>
                      <a:endParaRPr lang="en-US" sz="1200" dirty="0"/>
                    </a:p>
                  </a:txBody>
                  <a:tcPr marL="152705" marR="152705" marT="114300" marB="114300" anchor="t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5" b="1" dirty="0">
                          <a:solidFill>
                            <a:srgbClr val="1E40A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Display</a:t>
                      </a:r>
                      <a:endParaRPr lang="en-US" sz="1200" dirty="0"/>
                    </a:p>
                  </a:txBody>
                  <a:tcPr marL="152705" marR="152705" marT="114300" marB="114300" anchor="t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3341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제출 완료를 명확히 인지할 수 있는 아이콘/이미지 사용.</a:t>
                      </a:r>
                      <a:pPr indent="0" marL="0">
                        <a:spcAft>
                          <a:spcPts val="300"/>
                        </a:spcAft>
                        <a:buNone/>
                      </a:pP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애니메이션(Lottie 등) 적용 시 사용자 경험 향상 가능.</a:t>
                      </a:r>
                      <a:endParaRPr lang="en-US" sz="1200" dirty="0"/>
                    </a:p>
                  </a:txBody>
                  <a:tcPr marL="152705" marR="152705" marT="114300" marB="114300" anchor="t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73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</a:t>
                      </a:r>
                      <a:pPr indent="0" marL="0">
                        <a:buNone/>
                      </a:pP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3341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안내 메시지</a:t>
                      </a:r>
                      <a:endParaRPr lang="en-US" sz="1200" dirty="0"/>
                    </a:p>
                  </a:txBody>
                  <a:tcPr marL="152705" marR="152705" marT="114300" marB="114300" anchor="t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5" b="1" dirty="0">
                          <a:solidFill>
                            <a:srgbClr val="1E40A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Static</a:t>
                      </a:r>
                      <a:endParaRPr lang="en-US" sz="1200" dirty="0"/>
                    </a:p>
                  </a:txBody>
                  <a:tcPr marL="152705" marR="152705" marT="114300" marB="114300" anchor="t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b="1" dirty="0">
                          <a:solidFill>
                            <a:srgbClr val="3341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SLA 고지:</a:t>
                      </a:r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3341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 "영업일 기준 1~3일" 문구 필수 포함.</a:t>
                      </a:r>
                      <a:pPr indent="0" marL="0">
                        <a:spcAft>
                          <a:spcPts val="300"/>
                        </a:spcAft>
                        <a:buNone/>
                      </a:pP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3341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심사 기간이 지연될 경우를 대비한 문구 톤앤매너 유지.</a:t>
                      </a:r>
                      <a:endParaRPr lang="en-US" sz="1200" dirty="0"/>
                    </a:p>
                  </a:txBody>
                  <a:tcPr marL="152705" marR="152705" marT="114300" marB="114300" anchor="t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73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</a:t>
                      </a:r>
                      <a:pPr indent="0" marL="0">
                        <a:buNone/>
                      </a:pP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3341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상태 배지</a:t>
                      </a:r>
                      <a:endParaRPr lang="en-US" sz="1200" dirty="0"/>
                    </a:p>
                  </a:txBody>
                  <a:tcPr marL="152705" marR="152705" marT="114300" marB="114300" anchor="t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5" b="1" dirty="0">
                          <a:solidFill>
                            <a:srgbClr val="1E40A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Status</a:t>
                      </a:r>
                      <a:endParaRPr lang="en-US" sz="1200" dirty="0"/>
                    </a:p>
                  </a:txBody>
                  <a:tcPr marL="152705" marR="152705" marT="114300" marB="114300" anchor="t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3341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현재 계정 상태가 </a:t>
                      </a:r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334155"/>
                          </a:solidFill>
                          <a:latin typeface="ui-monospace" pitchFamily="34" charset="0"/>
                          <a:ea typeface="ui-monospace" pitchFamily="34" charset="-122"/>
                          <a:cs typeface="ui-monospace" pitchFamily="34" charset="-120"/>
                        </a:rPr>
                        <a:t>Pending(심사중)</a:t>
                      </a:r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3341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임을 시각적으로 표시.</a:t>
                      </a:r>
                      <a:pPr indent="0" marL="0">
                        <a:buNone/>
                      </a:pP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Color: Amber/Orange 계열 사용 (주의/대기 의미).</a:t>
                      </a:r>
                      <a:endParaRPr lang="en-US" sz="1200" dirty="0"/>
                    </a:p>
                  </a:txBody>
                  <a:tcPr marL="152705" marR="152705" marT="114300" marB="114300" anchor="t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73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4</a:t>
                      </a:r>
                      <a:pPr indent="0" marL="0">
                        <a:buNone/>
                      </a:pP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3341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이메일 안내</a:t>
                      </a:r>
                      <a:endParaRPr lang="en-US" sz="1200" dirty="0"/>
                    </a:p>
                  </a:txBody>
                  <a:tcPr marL="152705" marR="152705" marT="114300" marB="114300" anchor="t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5" b="1" dirty="0">
                          <a:solidFill>
                            <a:srgbClr val="1E40A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Data</a:t>
                      </a:r>
                      <a:endParaRPr lang="en-US" sz="1200" dirty="0"/>
                    </a:p>
                  </a:txBody>
                  <a:tcPr marL="152705" marR="152705" marT="114300" marB="114300" anchor="t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3341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S-01 또는 S-05에서 입력한 담당자/계정 이메일 노출.</a:t>
                      </a:r>
                      <a:pPr indent="0" marL="0">
                        <a:spcAft>
                          <a:spcPts val="300"/>
                        </a:spcAft>
                        <a:buNone/>
                      </a:pP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975" b="1" dirty="0">
                          <a:solidFill>
                            <a:srgbClr val="3341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System Action:</a:t>
                      </a:r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3341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 페이지 로드 시점에 "가입 신청 접수" 안내 이메일 자동 발송.</a:t>
                      </a:r>
                      <a:endParaRPr lang="en-US" sz="1200" dirty="0"/>
                    </a:p>
                  </a:txBody>
                  <a:tcPr marL="152705" marR="152705" marT="114300" marB="114300" anchor="t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73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5</a:t>
                      </a:r>
                      <a:pPr indent="0" marL="0">
                        <a:buNone/>
                      </a:pP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1D4ED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로그인 이동</a:t>
                      </a:r>
                      <a:endParaRPr lang="en-US" sz="1200" dirty="0"/>
                    </a:p>
                  </a:txBody>
                  <a:tcPr marL="152705" marR="152705" marT="114300" marB="114300" anchor="t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5" b="1" dirty="0">
                          <a:solidFill>
                            <a:srgbClr val="4338C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Button</a:t>
                      </a:r>
                      <a:endParaRPr lang="en-US" sz="1200" dirty="0"/>
                    </a:p>
                  </a:txBody>
                  <a:tcPr marL="152705" marR="152705" marT="114300" marB="114300" anchor="t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b="1" dirty="0">
                          <a:solidFill>
                            <a:srgbClr val="1E40A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CTA (Call to Action)</a:t>
                      </a:r>
                      <a:pPr indent="0" marL="0">
                        <a:spcAft>
                          <a:spcPts val="300"/>
                        </a:spcAft>
                        <a:buNone/>
                      </a:pP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3341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클릭 시 </a:t>
                      </a:r>
                      <a:pPr indent="0" marL="0">
                        <a:buNone/>
                      </a:pPr>
                      <a:r>
                        <a:rPr lang="en-US" sz="975" b="1" dirty="0">
                          <a:solidFill>
                            <a:srgbClr val="3341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L-01 로그인</a:t>
                      </a:r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3341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 화면으로 이동.</a:t>
                      </a:r>
                      <a:pPr indent="0" marL="0">
                        <a:spcAft>
                          <a:spcPts val="300"/>
                        </a:spcAft>
                        <a:buNone/>
                      </a:pP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3341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로그인 시도 시, </a:t>
                      </a:r>
                      <a:pPr indent="0" marL="0">
                        <a:buNone/>
                      </a:pPr>
                      <a:r>
                        <a:rPr lang="en-US" sz="975" b="1" dirty="0">
                          <a:solidFill>
                            <a:srgbClr val="3341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L-02 심사중 팝업</a:t>
                      </a:r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3341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이 노출됨을 확인해야 함.</a:t>
                      </a:r>
                      <a:endParaRPr lang="en-US" sz="1200" dirty="0"/>
                    </a:p>
                  </a:txBody>
                  <a:tcPr marL="152705" marR="152705" marT="114300" marB="114300" anchor="t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</a:tr>
            </a:tbl>
          </a:graphicData>
        </a:graphic>
      </p:graphicFrame>
      <p:sp>
        <p:nvSpPr>
          <p:cNvPr id="33" name="Shape 26"/>
          <p:cNvSpPr/>
          <p:nvPr/>
        </p:nvSpPr>
        <p:spPr>
          <a:xfrm>
            <a:off x="5572354" y="5277002"/>
            <a:ext cx="6229807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34" name="Text 27"/>
          <p:cNvSpPr txBox="1"/>
          <p:nvPr/>
        </p:nvSpPr>
        <p:spPr>
          <a:xfrm>
            <a:off x="5971946" y="5477256"/>
            <a:ext cx="57534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예외 및 보안 (Exception &amp; Security)</a:t>
            </a:r>
            <a:endParaRPr lang="en-US" sz="1000" dirty="0"/>
          </a:p>
        </p:txBody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5762549" y="5502859"/>
            <a:ext cx="133502" cy="133502"/>
          </a:xfrm>
          <a:prstGeom prst="rect">
            <a:avLst/>
          </a:prstGeom>
        </p:spPr>
      </p:pic>
      <p:sp>
        <p:nvSpPr>
          <p:cNvPr id="36" name="Text 28"/>
          <p:cNvSpPr txBox="1"/>
          <p:nvPr/>
        </p:nvSpPr>
        <p:spPr>
          <a:xfrm>
            <a:off x="5762549" y="5743346"/>
            <a:ext cx="603961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</a:t>
            </a:r>
            <a:pPr algn="l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접근 제어:</a:t>
            </a:r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가입 절차를 정상적으로 마친 세션만 접근 가능 (URL 직접 접근 시 로그인 리다이렉트).</a:t>
            </a:r>
            <a:endParaRPr lang="en-US" sz="900" dirty="0"/>
          </a:p>
        </p:txBody>
      </p:sp>
      <p:sp>
        <p:nvSpPr>
          <p:cNvPr id="37" name="Text 29"/>
          <p:cNvSpPr txBox="1"/>
          <p:nvPr/>
        </p:nvSpPr>
        <p:spPr>
          <a:xfrm>
            <a:off x="5762549" y="5934456"/>
            <a:ext cx="59628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</a:t>
            </a:r>
            <a:pPr algn="l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뒤로가기 방지:</a:t>
            </a:r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브라우저 뒤로가기 시 폼 입력 단계(S-09)로 돌아가지 않도록 History Replace 처리.</a:t>
            </a:r>
            <a:endParaRPr lang="en-US" sz="900" dirty="0"/>
          </a:p>
        </p:txBody>
      </p:sp>
      <p:sp>
        <p:nvSpPr>
          <p:cNvPr id="38" name="Shape 30"/>
          <p:cNvSpPr/>
          <p:nvPr/>
        </p:nvSpPr>
        <p:spPr>
          <a:xfrm>
            <a:off x="0" y="6476695"/>
            <a:ext cx="12191695" cy="38130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9" name="Shape 31"/>
          <p:cNvSpPr/>
          <p:nvPr/>
        </p:nvSpPr>
        <p:spPr>
          <a:xfrm>
            <a:off x="0" y="6476695"/>
            <a:ext cx="12191695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40" name="Text 32"/>
          <p:cNvSpPr txBox="1"/>
          <p:nvPr/>
        </p:nvSpPr>
        <p:spPr>
          <a:xfrm>
            <a:off x="381305" y="6586423"/>
            <a:ext cx="191749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B2B 파트너 입점 화면설계서 v0.9</a:t>
            </a:r>
            <a:endParaRPr lang="en-US" sz="900" dirty="0"/>
          </a:p>
        </p:txBody>
      </p:sp>
      <p:sp>
        <p:nvSpPr>
          <p:cNvPr id="41" name="Text 33"/>
          <p:cNvSpPr txBox="1"/>
          <p:nvPr/>
        </p:nvSpPr>
        <p:spPr>
          <a:xfrm>
            <a:off x="11330330" y="6586423"/>
            <a:ext cx="56235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Page 18</a:t>
            </a:r>
            <a:endParaRPr lang="en-US" sz="900" dirty="0"/>
          </a:p>
        </p:txBody>
      </p:sp>
      <p:sp>
        <p:nvSpPr>
          <p:cNvPr id="42" name="Shape 34"/>
          <p:cNvSpPr/>
          <p:nvPr/>
        </p:nvSpPr>
        <p:spPr>
          <a:xfrm>
            <a:off x="0" y="0"/>
            <a:ext cx="12191695" cy="571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3" name="Shape 35"/>
          <p:cNvSpPr/>
          <p:nvPr/>
        </p:nvSpPr>
        <p:spPr>
          <a:xfrm>
            <a:off x="0" y="562356"/>
            <a:ext cx="12191695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44" name="Shape 36"/>
          <p:cNvSpPr/>
          <p:nvPr/>
        </p:nvSpPr>
        <p:spPr>
          <a:xfrm>
            <a:off x="381305" y="142646"/>
            <a:ext cx="495605" cy="276149"/>
          </a:xfrm>
          <a:prstGeom prst="roundRect">
            <a:avLst>
              <a:gd name="adj" fmla="val 68509"/>
            </a:avLst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" name="Text 37"/>
          <p:cNvSpPr txBox="1"/>
          <p:nvPr/>
        </p:nvSpPr>
        <p:spPr>
          <a:xfrm>
            <a:off x="381305" y="142646"/>
            <a:ext cx="553212" cy="2770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40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S-10</a:t>
            </a:r>
            <a:endParaRPr lang="en-US" sz="1000" dirty="0"/>
          </a:p>
        </p:txBody>
      </p:sp>
      <p:sp>
        <p:nvSpPr>
          <p:cNvPr id="46" name="Text 38"/>
          <p:cNvSpPr txBox="1"/>
          <p:nvPr/>
        </p:nvSpPr>
        <p:spPr>
          <a:xfrm>
            <a:off x="1021385" y="152705"/>
            <a:ext cx="2012594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제출 완료 / 심사 안내</a:t>
            </a:r>
            <a:endParaRPr lang="en-US" sz="1300" dirty="0"/>
          </a:p>
        </p:txBody>
      </p:sp>
      <p:sp>
        <p:nvSpPr>
          <p:cNvPr id="47" name="Text 39"/>
          <p:cNvSpPr txBox="1"/>
          <p:nvPr/>
        </p:nvSpPr>
        <p:spPr>
          <a:xfrm>
            <a:off x="10495483" y="204826"/>
            <a:ext cx="63825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반응형 지원</a:t>
            </a:r>
            <a:endParaRPr lang="en-US" sz="900" dirty="0"/>
          </a:p>
        </p:txBody>
      </p:sp>
      <p:pic>
        <p:nvPicPr>
          <p:cNvPr id="48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10342778" y="224028"/>
            <a:ext cx="114300" cy="114300"/>
          </a:xfrm>
          <a:prstGeom prst="rect">
            <a:avLst/>
          </a:prstGeom>
        </p:spPr>
      </p:pic>
      <p:sp>
        <p:nvSpPr>
          <p:cNvPr id="49" name="Text 40"/>
          <p:cNvSpPr txBox="1"/>
          <p:nvPr/>
        </p:nvSpPr>
        <p:spPr>
          <a:xfrm>
            <a:off x="11358677" y="204826"/>
            <a:ext cx="53309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메일 발송</a:t>
            </a:r>
            <a:endParaRPr lang="en-US" sz="900" dirty="0"/>
          </a:p>
        </p:txBody>
      </p:sp>
      <p:pic>
        <p:nvPicPr>
          <p:cNvPr id="50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11205972" y="224028"/>
            <a:ext cx="114300" cy="114300"/>
          </a:xfrm>
          <a:prstGeom prst="rect">
            <a:avLst/>
          </a:prstGeom>
        </p:spPr>
      </p:pic>
      <p:sp>
        <p:nvSpPr>
          <p:cNvPr id="51" name="Shape 41"/>
          <p:cNvSpPr/>
          <p:nvPr/>
        </p:nvSpPr>
        <p:spPr>
          <a:xfrm>
            <a:off x="543154" y="961949"/>
            <a:ext cx="1104595" cy="228600"/>
          </a:xfrm>
          <a:prstGeom prst="roundRect">
            <a:avLst>
              <a:gd name="adj" fmla="val 66667"/>
            </a:avLst>
          </a:prstGeom>
          <a:solidFill>
            <a:srgbClr val="000000">
              <a:alpha val="7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2" name="Text 42"/>
          <p:cNvSpPr txBox="1"/>
          <p:nvPr/>
        </p:nvSpPr>
        <p:spPr>
          <a:xfrm>
            <a:off x="543154" y="961949"/>
            <a:ext cx="1162202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PC 1280px View</a:t>
            </a:r>
            <a:endParaRPr lang="en-US" sz="900" dirty="0"/>
          </a:p>
        </p:txBody>
      </p:sp>
      <p:sp>
        <p:nvSpPr>
          <p:cNvPr id="53" name="Text 43"/>
          <p:cNvSpPr txBox="1"/>
          <p:nvPr/>
        </p:nvSpPr>
        <p:spPr>
          <a:xfrm>
            <a:off x="2991002" y="1266444"/>
            <a:ext cx="286207" cy="210312"/>
          </a:xfrm>
          <a:prstGeom prst="rect">
            <a:avLst/>
          </a:prstGeom>
          <a:solidFill>
            <a:srgbClr val="EF4444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800" dirty="0"/>
          </a:p>
        </p:txBody>
      </p:sp>
      <p:sp>
        <p:nvSpPr>
          <p:cNvPr id="54" name="Text 44"/>
          <p:cNvSpPr txBox="1"/>
          <p:nvPr/>
        </p:nvSpPr>
        <p:spPr>
          <a:xfrm>
            <a:off x="3897173" y="2352751"/>
            <a:ext cx="286207" cy="210312"/>
          </a:xfrm>
          <a:prstGeom prst="rect">
            <a:avLst/>
          </a:prstGeom>
          <a:solidFill>
            <a:srgbClr val="EF4444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800" dirty="0"/>
          </a:p>
        </p:txBody>
      </p:sp>
      <p:sp>
        <p:nvSpPr>
          <p:cNvPr id="55" name="Text 45"/>
          <p:cNvSpPr txBox="1"/>
          <p:nvPr/>
        </p:nvSpPr>
        <p:spPr>
          <a:xfrm>
            <a:off x="3499409" y="3114446"/>
            <a:ext cx="286207" cy="210312"/>
          </a:xfrm>
          <a:prstGeom prst="rect">
            <a:avLst/>
          </a:prstGeom>
          <a:solidFill>
            <a:srgbClr val="EF4444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800" dirty="0"/>
          </a:p>
        </p:txBody>
      </p:sp>
      <p:sp>
        <p:nvSpPr>
          <p:cNvPr id="56" name="Text 46"/>
          <p:cNvSpPr txBox="1"/>
          <p:nvPr/>
        </p:nvSpPr>
        <p:spPr>
          <a:xfrm>
            <a:off x="4524451" y="3619195"/>
            <a:ext cx="286207" cy="210312"/>
          </a:xfrm>
          <a:prstGeom prst="rect">
            <a:avLst/>
          </a:prstGeom>
          <a:solidFill>
            <a:srgbClr val="EF4444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800" dirty="0"/>
          </a:p>
        </p:txBody>
      </p:sp>
      <p:sp>
        <p:nvSpPr>
          <p:cNvPr id="57" name="Text 47"/>
          <p:cNvSpPr txBox="1"/>
          <p:nvPr/>
        </p:nvSpPr>
        <p:spPr>
          <a:xfrm>
            <a:off x="4533595" y="5572354"/>
            <a:ext cx="286207" cy="210312"/>
          </a:xfrm>
          <a:prstGeom prst="rect">
            <a:avLst/>
          </a:prstGeom>
          <a:solidFill>
            <a:srgbClr val="EF4444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2026-02-02T12:08:26Z</dcterms:created>
  <dcterms:modified xsi:type="dcterms:W3CDTF">2026-02-02T12:08:26Z</dcterms:modified>
</cp:coreProperties>
</file>