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548640"/>
            <a:ext cx="4754880" cy="475488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82880"/>
            <a:ext cx="3200400" cy="3200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</a:rPr>
              <a:t>INVESTOR PROPOSAL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토스 프라임 멤버십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리텐션 상승 전략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072384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UX 심리학 × 데이터 기반 | 13대 전략 프레임워크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Pain Point → Ah-ha → PMF → AAARRR 완전 설계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2468880" cy="530352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75234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MAU 2,480만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2024 토스 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364992"/>
            <a:ext cx="2468880" cy="530352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74136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시장 100조↑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2025 한국 구독경제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986784"/>
            <a:ext cx="2468880" cy="530352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99592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Churn 7%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글로벌 멤버십 평균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비바리퍼블리카 (토스)  |  Toss Prime Retention Strategy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소비자 Pain Point 분석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실제 이탈 원인 데이터 기반 진단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44%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of subscription cancellations occur within the first 90 days  |  </a:t>
            </a:r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5.3%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월 평균 Churn Rate (글로벌 구독 벤치마크, 2024)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20299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38528"/>
            <a:ext cx="202996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38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💸 혜택 체감 가치 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487168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496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혜택 활용도 낮음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月 5,900원 대비 실제 혜택 경험 부족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→ 가입 첫 달 이탈률 급등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23744" y="1938528"/>
            <a:ext cx="20299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23744" y="1938528"/>
            <a:ext cx="202996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1938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혜택 인지 어려움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96896" y="248716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6896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35224" y="2496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Discovery 실패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15184" y="28163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"프라임 전용" 혜택이 어디있는지 모름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→ 온보딩 부재·UX 복잡성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1938528"/>
            <a:ext cx="20299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938528"/>
            <a:ext cx="202996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38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😐 습관 미형성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4871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3208" y="2496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재방문 동기 부재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8163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특별한 이유 없이 앱 재방문 안 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→ Hooked Model 부재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39712" y="1938528"/>
            <a:ext cx="20299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39712" y="1938528"/>
            <a:ext cx="202996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1938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⚔️ 경쟁 대체재 증가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12864" y="248716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51192" y="2496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치열한 경쟁 환경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28163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쿠팡 와우·네이버플러스·카카오페이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→ Alternative Solutions 4%+ 이탈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출처: Churnkey State of Retention 2025 | Marketing LTB Subscription Statistics 2025 | 서울시 구독경제 이용 실태조사 2024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Ah-ha Point 도출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사용자가 '이거다!' 느끼는 핵심 순간 설계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4B"/>
                </a:solidFill>
              </a:rPr>
              <a:t>🌟 Ah-ha Point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첫 7일 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₩5,900 이상 절약 경험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468880" cy="731520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ATM 수수료 무료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첫 경험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468880" cy="731520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토스페이 4% 적립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첫 체험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468880" cy="731520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17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절약금액 실시간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표시 확인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2514600"/>
            <a:ext cx="2468880" cy="731520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멤버십 리포트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₩OOO 절약 확인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←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🔬 데이터 근거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• Amazon Prime: 첫 구매 후 LTV 2.3× 증가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• Weekly 사용자 → 85% 높은 리텐션 (2025 Subscription Stats)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43159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• 토스 월 20만원 결제 시 포인트 ₩8,000 적립 → 즉각 본전 확인 가능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455371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• 70% 구독자: 로열티 보상 제시 시 해지 재고 (Recurly 2025)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핵심 가설: 가입 7일 내 Ah-ha 경험 사용자의 Day 90 Retention이 미경험 사용자 대비 3배 이상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시장 조사 TAM / SAM / SOM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KT경제경영연구소·모바일인덱스 2024~2025 데이터 기반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한국 구독경제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전체 시장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21031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100조원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2025 전망 (SKT·KT경제경영연구소)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8872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핀테크 멤버십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구독 시장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450592"/>
            <a:ext cx="21031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4505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~8조원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37560" y="31821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(MAU 2,480만 × 구독전환 15% × ₩70,860 ARPU)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17556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토스 프라임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목표 시장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450592"/>
            <a:ext cx="21031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505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~2,400억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17920" y="31821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(토스 MAU 25% 전환 × ₩5,900 × 12개월)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5303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57200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구독경제 CAGR: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18%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(UBS·KT경제경영연구소)  |  한국 소비자 월평균 구독 지출: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₩40,530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(서울시 2024)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SWOT 분석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토스 프라임 멤버십 전략 환경 분석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2062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  강점 (Strength)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MAU 2,480만 최대 핀테크 플랫폼 (2024 AWS 공식)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201168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슈퍼앱 생태계: 100+ 서비스 통합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월 5,900원 경쟁력 있는 가격 구조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토스페이 2만여 가맹점 네트워크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20624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420624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887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  약점 (Weakness)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6916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혜택 인지도·활용률 낮음 (온보딩 부재)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64608" y="201168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해지 30일 내 집중 이탈 패턴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233172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패밀리 멤버십 출시 이후 단가 희석 우려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64608" y="265176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포인트 적립 한도 월 12,000P로 제한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20624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4206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  기회 (Opportunity)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70332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한국 구독경제 2025년 100조원 돌파 전망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402336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AI 개인화로 Churn 25~35% 추가 감소 가능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" y="434340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패밀리 플랜으로 신규 사용자층 확장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" y="46634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핀테크 서비스 만족도 최상위권 유지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420624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20040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00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  위협 (Threat)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70332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쿠팡 와우(₩7,890), 네이버플러스 경쟁 심화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구독 피로 증가 – 41% 소비자 구독 피로 호소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64608" y="434340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Alternative Solutions로 이탈 4%+ 지속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46634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경기 침체 시 선택적 구독 해지 위험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출처: 모바일인덱스 2025 상반기 리포트 | Subscription Statistics 2025 | 한국 구독경제 시장현황 (CEO매거진, 2025)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PMF 검증 (Product-Market Fit)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정량·정성 지표로 PMF 달성 여부 확인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PMF 검증 지표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749040" cy="594360"/>
          </a:xfrm>
          <a:prstGeom prst="rect">
            <a:avLst/>
          </a:prstGeom>
          <a:solidFill>
            <a:srgbClr val="0D30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928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64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Sean Ellis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764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40%+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574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"없으면 매우 실망" 응답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3749040" cy="594360"/>
          </a:xfrm>
          <a:prstGeom prst="rect">
            <a:avLst/>
          </a:prstGeom>
          <a:solidFill>
            <a:srgbClr val="0D30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토스 실사용 리뷰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450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3개월 경험 긍정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포인트 적립속도, 주식 수수료 절감 호평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749040" cy="594360"/>
          </a:xfrm>
          <a:prstGeom prst="rect">
            <a:avLst/>
          </a:prstGeom>
          <a:solidFill>
            <a:srgbClr val="0D30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136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패밀리 플랜 요청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1363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이용자 적극 요청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429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사용자 니즈 기반 제품 확장 (2024.11 출시)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794760"/>
            <a:ext cx="3749040" cy="594360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950208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DAY 90 Retention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822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 업계평균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1148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초기 이탈 집중 → 개선 필요 신호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PMF 강화 전략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00600" y="1737360"/>
            <a:ext cx="594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737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17647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Ah-ha 속도 단축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2029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가입 24시간 내 첫 ATM 무료 출금 경험 유도 (푸시 알림)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2423160"/>
            <a:ext cx="5943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423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450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3 혜택 집중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2715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복잡한 혜택 나열 → 개인화 Top3 혜택만 전면 배치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3108960"/>
            <a:ext cx="5943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108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3136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Retention Loop 구축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0" y="34015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주간 '이번 주 절약' 리포트 → 습관 형성 루프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00600" y="3794760"/>
            <a:ext cx="5943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7947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3822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PMF 반복 검증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NPS, Day 7/30/90 Retention 월별 A/B 테스트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출처: Recurly 2025 State of Subscriptions | 토스프라임 실사용 리뷰 (thisthatbase.com, 2025.09)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서비스 핵심 가치 (Core Value Proposition)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단순 할인을 넘어 '생활 금융 파트너'로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194560" cy="1828800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토스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프라임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24688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경제적 가치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22494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월 ₩38,100 이상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실질 혜택 (수수료+적립)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24688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편의 가치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566160"/>
            <a:ext cx="22494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20만+ 가맹점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원클릭 결제·적립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55448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554480"/>
            <a:ext cx="24688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554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정보 가치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3408" y="2057400"/>
            <a:ext cx="22494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맞춤 금융 리포트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개인화 절약 현황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3063240"/>
            <a:ext cx="24688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063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🤝 관계 가치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93408" y="3566160"/>
            <a:ext cx="224942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패밀리 공유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커뮤니티 연결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←→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←→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←→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←→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5486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핵심 가치: "₩5,900으로 생활 금융을 스마트하게" — 단순 구독이 아닌 금융 라이프스타일 플랫폼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사용자 여정지도 &amp; Flow Chart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가입 → Ah-ha → 습관 → 전도사 경로 설계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사용자 여정 단계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66420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Awareness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6733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광고/SNS/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지인 추천 인지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1664208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163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😐 관망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166420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735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KPI: CPI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56816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1143000"/>
            <a:ext cx="1664208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14300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Acquisition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162763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94560" y="16733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앱 가입 +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프라임 7일 무료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2816352"/>
            <a:ext cx="1664208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8163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🙂 기대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3273552"/>
            <a:ext cx="1664208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2735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KPI: CTR→가입率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31336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1143000"/>
            <a:ext cx="16642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114300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Ah-ha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162763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69080" y="16733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첫 ATM무료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포인트 체감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2816352"/>
            <a:ext cx="1664208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8163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😲 감동!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3273552"/>
            <a:ext cx="16642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2735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KPI: Day7 Ret.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143000"/>
            <a:ext cx="166420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14300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Habit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162763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0" y="16733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주간 리포트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챌린지 참여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7880" y="2816352"/>
            <a:ext cx="1664208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163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😊 루틴화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97880" y="3273552"/>
            <a:ext cx="166420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2735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KPI: MAU/혜택수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0376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72400" y="1143000"/>
            <a:ext cx="166420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114300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Advocate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72400" y="162763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818120" y="1673352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패밀리 초대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리뷰·SNS 공유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772400" y="2816352"/>
            <a:ext cx="1664208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28163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🤩 전도사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72400" y="3273552"/>
            <a:ext cx="166420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3273552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KPI: NPS, Referral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822192"/>
            <a:ext cx="859536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8587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⚡ 이탈 위험 개입 포인트 (Smart Retention Triggers)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D+1: Ah-ha 미경험 → 즉시 개입 푸시  |  D+7: 혜택 미사용 → 맞춤 추천  |  D+25: 해지 예측 → 50% 할인 선제 제안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AS-IS &amp; TO-BE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현재 상태 vs 개선 후 목표 상태 비교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70432"/>
            <a:ext cx="29260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70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AS-IS  (현재)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23560" y="1170432"/>
            <a:ext cx="29260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1704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TO-BE  (목표)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2057400" cy="621792"/>
          </a:xfrm>
          <a:prstGeom prst="rect">
            <a:avLst/>
          </a:prstGeom>
          <a:solidFill>
            <a:srgbClr val="1A3570"/>
          </a:solidFill>
          <a:ln w="12700">
            <a:solidFill>
              <a:srgbClr val="243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온보딩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719072"/>
            <a:ext cx="2926080" cy="621792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7190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혜택 목록만 나열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체험 유도 없음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2926080" cy="621792"/>
          </a:xfrm>
          <a:prstGeom prst="rect">
            <a:avLst/>
          </a:prstGeom>
          <a:solidFill>
            <a:srgbClr val="0D30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7190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7일 챌린지 + Progress Bar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Ah-ha 경험 의무화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50592"/>
            <a:ext cx="2057400" cy="621792"/>
          </a:xfrm>
          <a:prstGeom prst="rect">
            <a:avLst/>
          </a:prstGeom>
          <a:solidFill>
            <a:srgbClr val="1A3570"/>
          </a:solidFill>
          <a:ln w="12700">
            <a:solidFill>
              <a:srgbClr val="243F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5059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혜택 인지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2450592"/>
            <a:ext cx="2926080" cy="621792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45059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사용자가 직접 탐색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낮은 혜택 활용률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56032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23560" y="2450592"/>
            <a:ext cx="2926080" cy="621792"/>
          </a:xfrm>
          <a:prstGeom prst="rect">
            <a:avLst/>
          </a:prstGeom>
          <a:solidFill>
            <a:srgbClr val="0D30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45059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AI 개인화 Top3 혜택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홈 화면 전면 노출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2057400" cy="621792"/>
          </a:xfrm>
          <a:prstGeom prst="rect">
            <a:avLst/>
          </a:prstGeom>
          <a:solidFill>
            <a:srgbClr val="1A3570"/>
          </a:solidFill>
          <a:ln w="12700">
            <a:solidFill>
              <a:srgbClr val="243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8211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이탈 방어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3182112"/>
            <a:ext cx="2926080" cy="621792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18211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해지 시 단순 확인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별도 방어 없음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29184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23560" y="3182112"/>
            <a:ext cx="2926080" cy="621792"/>
          </a:xfrm>
          <a:prstGeom prst="rect">
            <a:avLst/>
          </a:prstGeom>
          <a:solidFill>
            <a:srgbClr val="0D30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18211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5단계 Smart Flow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맞춤 할인 제안·휴면 옵션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13632"/>
            <a:ext cx="2057400" cy="621792"/>
          </a:xfrm>
          <a:prstGeom prst="rect">
            <a:avLst/>
          </a:prstGeom>
          <a:solidFill>
            <a:srgbClr val="1A3570"/>
          </a:solidFill>
          <a:ln w="12700">
            <a:solidFill>
              <a:srgbClr val="243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1363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습관 형성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60320" y="3913632"/>
            <a:ext cx="2926080" cy="621792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91363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혜택 단발성 사용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CA5A5"/>
                </a:solidFill>
              </a:rPr>
              <a:t>재방문 동기 부재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4023360"/>
            <a:ext cx="228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623560" y="3913632"/>
            <a:ext cx="2926080" cy="621792"/>
          </a:xfrm>
          <a:prstGeom prst="rect">
            <a:avLst/>
          </a:prstGeom>
          <a:solidFill>
            <a:srgbClr val="0D30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91363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주간 리포트 + 챌린지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2C39A"/>
                </a:solidFill>
              </a:rPr>
              <a:t>연속 기록(Streak) 보상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617720"/>
            <a:ext cx="8412480" cy="512064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61772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기대 성과: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Day 90 Retention +30%  |  월 혜택 사용 횟수 3×  |  Churn Rate 40% 감소  |  NPS 50점 이상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OKR &amp; KPI Tree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목표 → 핵심 결과 → 지표 연결 체계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70432"/>
            <a:ext cx="402336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1704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🎯 Objective: 프라임을 토스 생태계 핵심 Lock-in 엔진으로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859536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764792"/>
            <a:ext cx="4572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57400"/>
            <a:ext cx="26517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57400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KR1  리텐션 강화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263347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3347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3347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Day 90 Retention 30%↑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22783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22783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2783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Churn Rate 40%↓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382219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82219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82219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해지 방어율 25%↑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0" y="1764792"/>
            <a:ext cx="4572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057400"/>
            <a:ext cx="26517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057400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KR2  활성화 극대화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55848" y="263347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2633472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63347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월 혜택 사용 3× 증가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55848" y="322783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227832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22783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Feature Adoption 60%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55848" y="382219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3822192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7288" y="382219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DAU/MAU 35%↑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52360" y="1764792"/>
            <a:ext cx="4572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05740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057400"/>
            <a:ext cx="26517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057400"/>
            <a:ext cx="25054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KR3  성장 루프 가속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27648" y="263347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263347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263347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NPS 50점 이상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27648" y="322783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7648" y="322783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322783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Referral 가입 20%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27648" y="3822192"/>
            <a:ext cx="2432304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382219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3822192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패밀리 플랜 30% 전환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74320" y="4590288"/>
            <a:ext cx="8595360" cy="5303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5902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측정 주기: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Daily (DAU·Churn 모니터링)  |  Weekly (A/B Test 결과)  |  Monthly (OKR 리뷰)  |  Quarterly (투자자 리포트)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Business Model Canvas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토스 프라임 리텐션 전략 BM 설계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887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🤝 핵심 파트너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2만+ 토스페이 가맹점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NICE 평가정보 (신용플러스)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증권·보험 제휴사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188720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1887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⚡ 핵심 활동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16459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UX 심리학 적용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AI 개인화 추천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A/B 테스트·리텐션 분석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188720"/>
            <a:ext cx="2286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1188720"/>
            <a:ext cx="2286000" cy="4114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18872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💎 가치 제안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16459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하루 ₩197로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무제한 금융 혜택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월 ₩38,100 절약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288036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97480" y="2880360"/>
            <a:ext cx="22860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344" y="288036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❤️ 고객 관계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8892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Hooked Model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게임화·Streak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Community 형성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88036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880360"/>
            <a:ext cx="22860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288036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📱 채널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토스 앱 (MAU 2,480만)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푸시 알림·인앱 메시지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SNS·바이럴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1188720"/>
            <a:ext cx="13258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43800" y="1188720"/>
            <a:ext cx="1325880" cy="41148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8664" y="118872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👥 목표 고객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35240" y="1645920"/>
            <a:ext cx="1188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20-40대 디지털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금융 액티브 유저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토스페이 월 5회↑ 결제자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80360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288036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🏗️ 핵심 자원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33375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MAU 2,480만 플랫폼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AI 데이터 엔진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토스 생태계 데이터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356616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348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💸 비용 구조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프라임 혜택 원가 + AI 인프라 + 마케팅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77640" y="44348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443484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💰 수익 구조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월 구독료 ₩5,900 × 구독자 수  |  제휴 수수료·데이터 광고  |  패밀리 플랜 확장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 사용 기술 &amp; ML 파이프라인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AI 개인화 추천 + Churn 예측 모델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27632" cy="2468880"/>
          </a:xfrm>
          <a:prstGeom prst="rect">
            <a:avLst/>
          </a:prstGeom>
          <a:solidFill>
            <a:srgbClr val="1A357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62763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" y="233172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토스 행동 로그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결제·로그인·혜택사용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01952" y="21031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48840" y="1188720"/>
            <a:ext cx="1627632" cy="246888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188720"/>
            <a:ext cx="162763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18872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1737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203704" y="233172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혜택 사용 패턴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RFM 지표·세션 빈도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76472" y="21031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23360" y="1188720"/>
            <a:ext cx="1627632" cy="2468880"/>
          </a:xfrm>
          <a:prstGeom prst="rect">
            <a:avLst/>
          </a:prstGeom>
          <a:solidFill>
            <a:srgbClr val="1A357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188720"/>
            <a:ext cx="162763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18872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1737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078224" y="233172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Churn 예측 (XGBoost)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Churn AUC 0.87 목표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50992" y="21031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97880" y="1188720"/>
            <a:ext cx="1627632" cy="2468880"/>
          </a:xfrm>
          <a:prstGeom prst="rect">
            <a:avLst/>
          </a:prstGeom>
          <a:solidFill>
            <a:srgbClr val="1A357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188720"/>
            <a:ext cx="162763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Personali-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737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952744" y="233172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Top3 혜택 추천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Bandit 알고리즘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25512" y="2103120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772400" y="1188720"/>
            <a:ext cx="1627632" cy="2468880"/>
          </a:xfrm>
          <a:prstGeom prst="rect">
            <a:avLst/>
          </a:prstGeom>
          <a:solidFill>
            <a:srgbClr val="1A357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1188720"/>
            <a:ext cx="162763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18872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17373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📬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827264" y="233172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최적 타이밍 푸시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인앱 배너·이메일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822192"/>
            <a:ext cx="8595360" cy="475488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2219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🔬 Tech Stack: Python (XGBoost·LightGBM·Multi-Armed Bandit) | Apache Kafka (실시간 스트리밍) | AWS SageMaker | Redis (실시간 추천 캐시)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434840"/>
            <a:ext cx="8595360" cy="685800"/>
          </a:xfrm>
          <a:prstGeom prst="rect">
            <a:avLst/>
          </a:prstGeom>
          <a:solidFill>
            <a:srgbClr val="0D30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53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🔄 MLOps 피드백 루프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사용자 행동 반응 → 모델 재학습 (주 1회) → 추천 정확도 개선 → A/B 테스트 → 배포 → 반복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 프로젝트 일정 &amp; 운영 배포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6개월 로드맵 | Agile 스프린트 기반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07899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6976" y="107899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3328" y="107899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1732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 M1~M2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73352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기반 구축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04825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온보딩 재설계 (Progress Bar)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264261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프라임 대시보드 개발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323697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Hooked Model 트리거 구축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" y="383133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데이터 파이프라인 셋업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82112" y="141732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141732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 M3~M4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73552" y="1673352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기능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0482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AI 개인화 추천 v1 배포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6426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게임화 (챌린지·Streak)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2369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Smart Retention Flow 런칭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8313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Social Feed 베타 오픈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98464" y="141732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98464" y="141732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1417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 M5~M6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9904" y="1673352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성장 가속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08192" y="204825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AI 추천 v2 (Bandit 알고리즘)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08192" y="264261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커뮤니티 기능 오픈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08192" y="323697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연간 VIP 프로그램 런칭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08192" y="383133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AAARRR 전략 전면 가동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773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배포: Canary Release (5→20→100%) | Feature Flag | 실시간 모니터링 (Grafana·Datadog) | 롤백 SLA 15분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 AAARRR 전략 &amp; Growth Loop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획득 → 활성화 → 유지 → 추천 → 매출 완전 설계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8892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704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Awareness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앱 노출 5M↑/월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📊 노출·CPC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SNS 바이럴 + 패밀리 초대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'1명 구독료로 4명 혜택'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17043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70432"/>
            <a:ext cx="27889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704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Acquisition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가입 CVR 25%↑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164592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📊 가입전환율·CPI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920240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7일 무료 체험 + 원클릭 가입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가입 즉시 레벨1 부여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17043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70432"/>
            <a:ext cx="2788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1704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Day7 Ret. 60%↑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164592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📊 Day7 Retention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Ah-ha 강제 경험 설계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온보딩 3Step 챌린지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529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52928"/>
            <a:ext cx="2788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852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03120" y="28529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Monthly Churn &lt;3%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32841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📊 Day30/90 Ret.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3602736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Hooked 사이클 + Streak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해지 방어 5단계 Flow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8529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852928"/>
            <a:ext cx="27889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852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8529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ARPU ₩7,000↑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46120" y="332841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📊 ARPU·LTV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602736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패밀리 플랜 업셀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연간 구독 전환 인센티브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852928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852928"/>
            <a:ext cx="2788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852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Referral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3840" y="285292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KPI: K-factor 1.2 이상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26480" y="332841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📊 NPS·K-factor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3602736"/>
            <a:ext cx="2624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추천인 보상 (월 1개월 무료)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'베스트 절약러' SNS 공유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🔄 Growth Loop: 패밀리 가입 → Ah-ha 경험 → SNS 공유 → 신규 유입 → 패밀리 확장 → 재반복 (바이럴 루프)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 Monte Carlo 의사결정 시뮬레이션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383280"/>
          </a:xfrm>
          <a:prstGeom prst="rect">
            <a:avLst/>
          </a:prstGeom>
          <a:solidFill>
            <a:srgbClr val="1A357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Pessimistic (20%)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Churn 감소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Day90 Retention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추가 연간 매출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₩+150억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1188720"/>
            <a:ext cx="2743200" cy="338328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18872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Base Case (55%)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182880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Churn 감소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167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Day90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29000" y="338328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추가 연간 매출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721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₩+480억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1188720"/>
            <a:ext cx="2743200" cy="3383280"/>
          </a:xfrm>
          <a:prstGeom prst="rect">
            <a:avLst/>
          </a:prstGeom>
          <a:solidFill>
            <a:srgbClr val="1A357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18872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</a:rPr>
              <a:t>Optimistic (25%)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182880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Churn 감소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2167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080" y="260604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Day90 Retention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+38%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5080" y="3383280"/>
            <a:ext cx="24688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추가 연간 매출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3721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₩+820억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" y="4681728"/>
            <a:ext cx="8412480" cy="457200"/>
          </a:xfrm>
          <a:prstGeom prst="rect">
            <a:avLst/>
          </a:prstGeom>
          <a:solidFill>
            <a:srgbClr val="1A357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🎯 기댓값 (EV):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₩+484억 추가 연간 매출  |  전략 실행 ROI 8.2×  |  투자 회수 기간 4.2개월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4572000" cy="457200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548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토스 프라임을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생활 필수품으로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UX 심리학 × AI × 데이터 기반 13대 전략으로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리텐션을 구조적으로 혁신합니다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심리학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38328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AI/ML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데이터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38328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© 2026 Viva Republica (Toss)  |  Investor Briefing — Confidential  |  문의: prime@toss.im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토스 프라임 멤버십 리텐션 전략 – 투자자 제안서</dc:title>
  <dc:subject>PptxGenJS Presentation</dc:subject>
  <dc:creator>PptxGenJS</dc:creator>
  <cp:lastModifiedBy>PptxGenJS</cp:lastModifiedBy>
  <cp:revision>1</cp:revision>
  <dcterms:created xsi:type="dcterms:W3CDTF">2026-02-22T07:23:09Z</dcterms:created>
  <dcterms:modified xsi:type="dcterms:W3CDTF">2026-02-22T07:23:09Z</dcterms:modified>
</cp:coreProperties>
</file>