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개선율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F2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8A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8A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8A9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A8A9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입점 시간 단축</c:v>
                  </c:pt>
                  <c:pt idx="1">
                    <c:v>운영 개입 감소</c:v>
                  </c:pt>
                  <c:pt idx="2">
                    <c:v>환불 처리 단축</c:v>
                  </c:pt>
                  <c:pt idx="3">
                    <c:v>온보딩 비용 감소</c:v>
                  </c:pt>
                  <c:pt idx="4">
                    <c:v>분쟁 비용 감소</c:v>
                  </c:pt>
                  <c:pt idx="5">
                    <c:v>감사 대응 시간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30</c:v>
                </c:pt>
                <c:pt idx="2">
                  <c:v>50</c:v>
                </c:pt>
                <c:pt idx="3">
                  <c:v>40</c:v>
                </c:pt>
                <c:pt idx="4">
                  <c:v>30</c:v>
                </c:pt>
                <c:pt idx="5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F2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5" name="Shape 3"/>
          <p:cNvSpPr/>
          <p:nvPr/>
        </p:nvSpPr>
        <p:spPr>
          <a:xfrm>
            <a:off x="8366760" y="50292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54864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72600" y="50292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54864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378440" y="50292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457200" cy="457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366760" y="150876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554480"/>
            <a:ext cx="457200" cy="4572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372600" y="150876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554480"/>
            <a:ext cx="457200" cy="4572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0378440" y="150876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1554480"/>
            <a:ext cx="457200" cy="4572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366760" y="251460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2560320"/>
            <a:ext cx="457200" cy="4572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372600" y="251460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2560320"/>
            <a:ext cx="457200" cy="45720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10378440" y="2514600"/>
            <a:ext cx="5943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2560320"/>
            <a:ext cx="457200" cy="4572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6576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Aftravel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365760" y="14630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 온보딩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플랫폼</a:t>
            </a:r>
            <a:endParaRPr lang="en-US" sz="5200" dirty="0"/>
          </a:p>
        </p:txBody>
      </p:sp>
      <p:sp>
        <p:nvSpPr>
          <p:cNvPr id="25" name="Text 14"/>
          <p:cNvSpPr/>
          <p:nvPr/>
        </p:nvSpPr>
        <p:spPr>
          <a:xfrm>
            <a:off x="365760" y="3520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Partner Onboarding Platform</a:t>
            </a:r>
            <a:endParaRPr lang="en-US" sz="1800" dirty="0"/>
          </a:p>
        </p:txBody>
      </p:sp>
      <p:sp>
        <p:nvSpPr>
          <p:cNvPr id="26" name="Shape 15"/>
          <p:cNvSpPr/>
          <p:nvPr/>
        </p:nvSpPr>
        <p:spPr>
          <a:xfrm>
            <a:off x="365760" y="4069080"/>
            <a:ext cx="3200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16"/>
          <p:cNvSpPr/>
          <p:nvPr/>
        </p:nvSpPr>
        <p:spPr>
          <a:xfrm>
            <a:off x="365760" y="42519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여행 공급자가 입점하고 운영되는 전 과정을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 실행하는 B2B 파트너 라이프사이클 관리 인프라</a:t>
            </a:r>
            <a:endParaRPr lang="en-US" sz="1400" dirty="0"/>
          </a:p>
        </p:txBody>
      </p:sp>
      <p:sp>
        <p:nvSpPr>
          <p:cNvPr id="28" name="Text 17"/>
          <p:cNvSpPr/>
          <p:nvPr/>
        </p:nvSpPr>
        <p:spPr>
          <a:xfrm>
            <a:off x="3657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Lifecycle Automation  ·  AI Operations  ·  Supply Control Infrastructure</a:t>
            </a:r>
            <a:endParaRPr lang="en-US" sz="1000" dirty="0"/>
          </a:p>
        </p:txBody>
      </p:sp>
      <p:sp>
        <p:nvSpPr>
          <p:cNvPr id="29" name="Text 18"/>
          <p:cNvSpPr/>
          <p:nvPr/>
        </p:nvSpPr>
        <p:spPr>
          <a:xfrm>
            <a:off x="813816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제안서</a:t>
            </a:r>
            <a:endParaRPr lang="en-US" sz="2800" dirty="0"/>
          </a:p>
        </p:txBody>
      </p:sp>
      <p:sp>
        <p:nvSpPr>
          <p:cNvPr id="30" name="Text 19"/>
          <p:cNvSpPr/>
          <p:nvPr/>
        </p:nvSpPr>
        <p:spPr>
          <a:xfrm>
            <a:off x="813816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8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  —  왜 지금 필요한가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651760" cy="5806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85800"/>
            <a:ext cx="2651760" cy="16459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058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여행 플랫폼 구조 변화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51560" y="2286000"/>
            <a:ext cx="11887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공급자 급증 (호텔·액티비티·로컬)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플랫폼 간 공급 경쟁 심화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글로벌 공급망 연결 확대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91840" y="685800"/>
            <a:ext cx="2651760" cy="5806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685800"/>
            <a:ext cx="2651760" cy="16459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058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환경 변화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023360" y="2286000"/>
            <a:ext cx="11887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4"/>
          <p:cNvSpPr/>
          <p:nvPr/>
        </p:nvSpPr>
        <p:spPr>
          <a:xfrm>
            <a:off x="347472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파트너 입점 심사 복잡도 증가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47472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계약·권한·정산 구조 다변화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47472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품질 통제 중요성 증가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63640" y="685800"/>
            <a:ext cx="2651760" cy="5806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685800"/>
            <a:ext cx="2651760" cy="164592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00584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비즈니스 현실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995160" y="2286000"/>
            <a:ext cx="118872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1"/>
          <p:cNvSpPr/>
          <p:nvPr/>
        </p:nvSpPr>
        <p:spPr>
          <a:xfrm>
            <a:off x="644652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플랫폼 경쟁력 = 공급자 확보 속도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4652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입점 속도 지연 → 시장 점유율 손실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44652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디지털 온보딩 기술 조건 성숙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9235440" y="685800"/>
            <a:ext cx="2651760" cy="5806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235440" y="685800"/>
            <a:ext cx="2651760" cy="164592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005840"/>
            <a:ext cx="594360" cy="5943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7260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안 하면 생기는 손실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9966960" y="2286000"/>
            <a:ext cx="118872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28"/>
          <p:cNvSpPr/>
          <p:nvPr/>
        </p:nvSpPr>
        <p:spPr>
          <a:xfrm>
            <a:off x="941832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경쟁 플랫폼에 공급 속도 열위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941832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운영 인력 의존 → 확장 한계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941832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공급망 리스크 통제 불가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Problem  —  현재 시장 문제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114800" cy="5806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685800"/>
            <a:ext cx="4114800" cy="109728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09728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488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여행 플랫폼 대부분이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 관리를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"수동 운영"으로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하고 있다.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" y="4480560"/>
            <a:ext cx="1188720" cy="384048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480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1~3주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8308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평균 소요 시간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1188720" cy="384048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83080" y="5001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수동 운영 의존도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5431536"/>
            <a:ext cx="1188720" cy="384048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54315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증가↑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83080" y="5477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환불 분쟁 발생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685800"/>
            <a:ext cx="2651760" cy="5806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9" name="Shape 16"/>
          <p:cNvSpPr/>
          <p:nvPr/>
        </p:nvSpPr>
        <p:spPr>
          <a:xfrm>
            <a:off x="4709160" y="685800"/>
            <a:ext cx="2651760" cy="10972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05840"/>
            <a:ext cx="594360" cy="59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006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단계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910328" y="228600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19"/>
          <p:cNvSpPr/>
          <p:nvPr/>
        </p:nvSpPr>
        <p:spPr>
          <a:xfrm>
            <a:off x="5056632" y="2286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신청 정보 검증 수동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910328" y="310896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1"/>
          <p:cNvSpPr/>
          <p:nvPr/>
        </p:nvSpPr>
        <p:spPr>
          <a:xfrm>
            <a:off x="5056632" y="3108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심사 기준 비표준화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910328" y="393192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3"/>
          <p:cNvSpPr/>
          <p:nvPr/>
        </p:nvSpPr>
        <p:spPr>
          <a:xfrm>
            <a:off x="5056632" y="3931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승인 시간 장기화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910328" y="475488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5"/>
          <p:cNvSpPr/>
          <p:nvPr/>
        </p:nvSpPr>
        <p:spPr>
          <a:xfrm>
            <a:off x="5056632" y="4754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계약 처리 복잡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995160" y="685800"/>
            <a:ext cx="2651760" cy="5806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1" name="Shape 27"/>
          <p:cNvSpPr/>
          <p:nvPr/>
        </p:nvSpPr>
        <p:spPr>
          <a:xfrm>
            <a:off x="6995160" y="685800"/>
            <a:ext cx="2651760" cy="10972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005840"/>
            <a:ext cx="594360" cy="5943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0866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온보딩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7196328" y="228600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0"/>
          <p:cNvSpPr/>
          <p:nvPr/>
        </p:nvSpPr>
        <p:spPr>
          <a:xfrm>
            <a:off x="7342632" y="2286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계정 생성 수동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7196328" y="310896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2"/>
          <p:cNvSpPr/>
          <p:nvPr/>
        </p:nvSpPr>
        <p:spPr>
          <a:xfrm>
            <a:off x="7342632" y="3108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권한 설정 복잡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7196328" y="393192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4"/>
          <p:cNvSpPr/>
          <p:nvPr/>
        </p:nvSpPr>
        <p:spPr>
          <a:xfrm>
            <a:off x="7342632" y="3931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상품 등록 지원 필요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7196328" y="475488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Text 36"/>
          <p:cNvSpPr/>
          <p:nvPr/>
        </p:nvSpPr>
        <p:spPr>
          <a:xfrm>
            <a:off x="7342632" y="4754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비용 발생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9281160" y="685800"/>
            <a:ext cx="2651760" cy="5806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43" name="Shape 38"/>
          <p:cNvSpPr/>
          <p:nvPr/>
        </p:nvSpPr>
        <p:spPr>
          <a:xfrm>
            <a:off x="9281160" y="685800"/>
            <a:ext cx="2651760" cy="10972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1005840"/>
            <a:ext cx="594360" cy="59436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3726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후 운영</a:t>
            </a:r>
            <a:endParaRPr lang="en-US" sz="1400" dirty="0"/>
          </a:p>
        </p:txBody>
      </p:sp>
      <p:sp>
        <p:nvSpPr>
          <p:cNvPr id="46" name="Shape 40"/>
          <p:cNvSpPr/>
          <p:nvPr/>
        </p:nvSpPr>
        <p:spPr>
          <a:xfrm>
            <a:off x="9482328" y="228600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41"/>
          <p:cNvSpPr/>
          <p:nvPr/>
        </p:nvSpPr>
        <p:spPr>
          <a:xfrm>
            <a:off x="9628632" y="2286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품질 통제 어려움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9482328" y="310896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Text 43"/>
          <p:cNvSpPr/>
          <p:nvPr/>
        </p:nvSpPr>
        <p:spPr>
          <a:xfrm>
            <a:off x="9628632" y="3108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환불 분쟁 증가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9482328" y="393192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1" name="Text 45"/>
          <p:cNvSpPr/>
          <p:nvPr/>
        </p:nvSpPr>
        <p:spPr>
          <a:xfrm>
            <a:off x="9628632" y="3931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정산 오류 발생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9482328" y="475488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3" name="Text 47"/>
          <p:cNvSpPr/>
          <p:nvPr/>
        </p:nvSpPr>
        <p:spPr>
          <a:xfrm>
            <a:off x="9628632" y="4754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리스크 증가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Overview  —  Aftravel 플랫폼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480560" cy="5806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Aftravel은 파트너를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"관리"하지 않는다.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 라이프사이클을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"자동 실행"한다.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347472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776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공급자 확보 속도 증가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165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416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공급 품질 통제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554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4855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리스크 감소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29437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5294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확장 가능한 공급망 구축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074920" y="82296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074920" y="822960"/>
            <a:ext cx="20574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3"/>
          <p:cNvSpPr/>
          <p:nvPr/>
        </p:nvSpPr>
        <p:spPr>
          <a:xfrm>
            <a:off x="5184648" y="987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1170432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84648" y="1828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 신청 접수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360920" y="82296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360920" y="822960"/>
            <a:ext cx="20574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17"/>
          <p:cNvSpPr/>
          <p:nvPr/>
        </p:nvSpPr>
        <p:spPr>
          <a:xfrm>
            <a:off x="7470648" y="987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728" y="1170432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70648" y="1828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 심사 및 검증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9646920" y="82296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646920" y="822960"/>
            <a:ext cx="20574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1"/>
          <p:cNvSpPr/>
          <p:nvPr/>
        </p:nvSpPr>
        <p:spPr>
          <a:xfrm>
            <a:off x="9756648" y="987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6728" y="117043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756648" y="1828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계정 자동 생성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5074920" y="338328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074920" y="3383280"/>
            <a:ext cx="20574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25"/>
          <p:cNvSpPr/>
          <p:nvPr/>
        </p:nvSpPr>
        <p:spPr>
          <a:xfrm>
            <a:off x="5184648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4728" y="3730752"/>
            <a:ext cx="548640" cy="5486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84648" y="4389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온보딩 자동 실행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7360920" y="338328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7360920" y="3383280"/>
            <a:ext cx="20574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29"/>
          <p:cNvSpPr/>
          <p:nvPr/>
        </p:nvSpPr>
        <p:spPr>
          <a:xfrm>
            <a:off x="7470648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0728" y="3730752"/>
            <a:ext cx="548640" cy="54864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470648" y="4389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상태 관리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9646920" y="338328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9646920" y="3383280"/>
            <a:ext cx="20574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4" name="Text 33"/>
          <p:cNvSpPr/>
          <p:nvPr/>
        </p:nvSpPr>
        <p:spPr>
          <a:xfrm>
            <a:off x="9756648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6728" y="3730752"/>
            <a:ext cx="548640" cy="54864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756648" y="4389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성과 데이터 축적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Lifecycle Automation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 모든 과정이 하나의 시스템에서 실행된다.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011680" cy="4663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201168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35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822960" cy="82296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38528"/>
            <a:ext cx="694944" cy="6949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1148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온라인 신청 / 데이터 수집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33756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697480" y="1234440"/>
            <a:ext cx="2011680" cy="4663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5" name="Shape 11"/>
          <p:cNvSpPr/>
          <p:nvPr/>
        </p:nvSpPr>
        <p:spPr>
          <a:xfrm>
            <a:off x="2697480" y="1234440"/>
            <a:ext cx="201168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2"/>
          <p:cNvSpPr/>
          <p:nvPr/>
        </p:nvSpPr>
        <p:spPr>
          <a:xfrm>
            <a:off x="2697480" y="1435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91840" y="1874520"/>
            <a:ext cx="822960" cy="82296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938528"/>
            <a:ext cx="694944" cy="6949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8892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278892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사업자 검증 / 위험도 평가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337560"/>
            <a:ext cx="201168" cy="20116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074920" y="1234440"/>
            <a:ext cx="2011680" cy="4663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3" name="Shape 17"/>
          <p:cNvSpPr/>
          <p:nvPr/>
        </p:nvSpPr>
        <p:spPr>
          <a:xfrm>
            <a:off x="5074920" y="1234440"/>
            <a:ext cx="201168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18"/>
          <p:cNvSpPr/>
          <p:nvPr/>
        </p:nvSpPr>
        <p:spPr>
          <a:xfrm>
            <a:off x="5074920" y="1435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669280" y="1874520"/>
            <a:ext cx="822960" cy="82296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1938528"/>
            <a:ext cx="694944" cy="6949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16636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계정·권한·상품 등록 자동화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337560"/>
            <a:ext cx="201168" cy="201168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452360" y="1234440"/>
            <a:ext cx="2011680" cy="4663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1" name="Shape 23"/>
          <p:cNvSpPr/>
          <p:nvPr/>
        </p:nvSpPr>
        <p:spPr>
          <a:xfrm>
            <a:off x="7452360" y="1234440"/>
            <a:ext cx="2011680" cy="12801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2" name="Text 24"/>
          <p:cNvSpPr/>
          <p:nvPr/>
        </p:nvSpPr>
        <p:spPr>
          <a:xfrm>
            <a:off x="7452360" y="1435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046720" y="1874520"/>
            <a:ext cx="822960" cy="822960"/>
          </a:xfrm>
          <a:prstGeom prst="rect">
            <a:avLst/>
          </a:prstGeom>
          <a:solidFill>
            <a:srgbClr val="48CAE4">
              <a:alpha val="20000"/>
            </a:srgbClr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0728" y="1938528"/>
            <a:ext cx="694944" cy="6949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4380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754380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주문·환불·정산 관리</a:t>
            </a:r>
            <a:endParaRPr lang="en-US" sz="11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0" y="3337560"/>
            <a:ext cx="201168" cy="201168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829800" y="1234440"/>
            <a:ext cx="2011680" cy="4663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9" name="Shape 29"/>
          <p:cNvSpPr/>
          <p:nvPr/>
        </p:nvSpPr>
        <p:spPr>
          <a:xfrm>
            <a:off x="9829800" y="1234440"/>
            <a:ext cx="2011680" cy="1280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0" name="Text 30"/>
          <p:cNvSpPr/>
          <p:nvPr/>
        </p:nvSpPr>
        <p:spPr>
          <a:xfrm>
            <a:off x="9829800" y="1435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10424160" y="1874520"/>
            <a:ext cx="822960" cy="822960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8168" y="1938528"/>
            <a:ext cx="694944" cy="69494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92124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44" name="Text 33"/>
          <p:cNvSpPr/>
          <p:nvPr/>
        </p:nvSpPr>
        <p:spPr>
          <a:xfrm>
            <a:off x="992124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판매·품질·리스크 분석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Operations Layer  —  핵심 기술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846320" cy="580644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0058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Operations Engine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플랫폼 위에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자동화 엔진이 작동한다.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4206240" cy="50292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결과: 운영 의사결정의 자동화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480560"/>
            <a:ext cx="4206240" cy="50292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480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안 하면: 운영 판단이 계속 사람 경험에 의존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40680" y="685800"/>
            <a:ext cx="2971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40680" y="685800"/>
            <a:ext cx="137160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25272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9360" y="914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리스크 분석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30936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신청 데이터 기반 위험도 자동 평가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686800" y="685800"/>
            <a:ext cx="2971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0" y="685800"/>
            <a:ext cx="137160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25272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555480" y="914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환불 적격성 판단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55548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정책 매칭 자동 처리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40680" y="2606040"/>
            <a:ext cx="2971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40680" y="2606040"/>
            <a:ext cx="137160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17296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이상 주문 감지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309360" y="3337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패턴 분석으로 이상 거래 탐지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686800" y="2606040"/>
            <a:ext cx="2971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686800" y="2606040"/>
            <a:ext cx="137160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3172968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5548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병목 예측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555480" y="33375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처리 지연 사전 감지 및 알림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40680" y="4526280"/>
            <a:ext cx="2971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440680" y="4526280"/>
            <a:ext cx="137160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712" y="5093208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309360" y="4754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우선 처리 추천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309360" y="5257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중요도 기반 처리 순서 자동 제안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686800" y="4526280"/>
            <a:ext cx="2971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686800" y="4526280"/>
            <a:ext cx="137160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832" y="5093208"/>
            <a:ext cx="502920" cy="5029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555480" y="4754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판단 자동화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9555480" y="5257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규칙 기반 + AI 복합 의사결정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Differentiation  —  기존 플랫폼 vs Aftravel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685800"/>
            <a:ext cx="329184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685800"/>
            <a:ext cx="329184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685800"/>
            <a:ext cx="3794760" cy="5486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85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685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기존 플랫폼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6858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Aftravel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1325880"/>
            <a:ext cx="329184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1325880"/>
            <a:ext cx="329184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325880"/>
            <a:ext cx="3794760" cy="82296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325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관리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1325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입점 관리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1325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입점 자동 실행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240280"/>
            <a:ext cx="3291840" cy="82296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0560" y="2240280"/>
            <a:ext cx="3291840" cy="82296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240280"/>
            <a:ext cx="3794760" cy="82296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공급자 처리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공급자 등록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공급자 라이프사이클 관리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3154680"/>
            <a:ext cx="329184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4" name="Shape 22"/>
          <p:cNvSpPr/>
          <p:nvPr/>
        </p:nvSpPr>
        <p:spPr>
          <a:xfrm>
            <a:off x="4480560" y="3154680"/>
            <a:ext cx="329184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3154680"/>
            <a:ext cx="3794760" cy="82296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154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방식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수동 운영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3816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자동화 운영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4069080"/>
            <a:ext cx="3291840" cy="82296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0" y="4069080"/>
            <a:ext cx="3291840" cy="82296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4069080"/>
            <a:ext cx="3794760" cy="82296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069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활용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4069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데이터 저장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38160" y="4069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데이터 기반 판단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14400" y="4983480"/>
            <a:ext cx="329184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0560" y="4983480"/>
            <a:ext cx="329184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0" y="4983480"/>
            <a:ext cx="3794760" cy="82296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983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리스크 대응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4983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사후 대응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38160" y="4983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사전 리스크 관리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14400" y="5989320"/>
            <a:ext cx="10927080" cy="59436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989320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안 하면 생기는 손실 :  플랫폼은 커지지만 통제력은 약화됨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  —  정량 효과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651760" cy="22860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2004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시간 단축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공급 확장 속도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685800"/>
            <a:ext cx="2651760" cy="2286000"/>
          </a:xfrm>
          <a:prstGeom prst="rect">
            <a:avLst/>
          </a:prstGeom>
          <a:solidFill>
            <a:srgbClr val="0F2D52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8686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324612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개입 감소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4612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효율화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685800"/>
            <a:ext cx="2651760" cy="2286000"/>
          </a:xfrm>
          <a:prstGeom prst="rect">
            <a:avLst/>
          </a:prstGeom>
          <a:solidFill>
            <a:srgbClr val="0F2D52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686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617220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환불 처리 단축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효율화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98280" y="685800"/>
            <a:ext cx="2651760" cy="22860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8686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909828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로그 기록률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09828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품질·감사 대응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20040" y="3246120"/>
          <a:ext cx="11521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Aftravel은 단순 시스템이 아니라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플랫폼 성장 엔진이다.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794760" y="2103120"/>
            <a:ext cx="4572000" cy="594360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103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Control Infrastructure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2971800"/>
            <a:ext cx="2103120" cy="3520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971800"/>
            <a:ext cx="210312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246120"/>
            <a:ext cx="914400" cy="91440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310128"/>
            <a:ext cx="777240" cy="777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11480" y="4297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공급자 확보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속도 증가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" y="5166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 심사로 입점 시간 70% 단축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33472" y="2971800"/>
            <a:ext cx="2103120" cy="3520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6" name="Shape 13"/>
          <p:cNvSpPr/>
          <p:nvPr/>
        </p:nvSpPr>
        <p:spPr>
          <a:xfrm>
            <a:off x="2633472" y="2971800"/>
            <a:ext cx="210312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Shape 14"/>
          <p:cNvSpPr/>
          <p:nvPr/>
        </p:nvSpPr>
        <p:spPr>
          <a:xfrm>
            <a:off x="3227832" y="3246120"/>
            <a:ext cx="914400" cy="91440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310128"/>
            <a:ext cx="777240" cy="7772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24912" y="4297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품질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표준화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724912" y="5166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정책 기반 운영으로 일관된 기준 유지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946904" y="2971800"/>
            <a:ext cx="2103120" cy="3520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2" name="Shape 18"/>
          <p:cNvSpPr/>
          <p:nvPr/>
        </p:nvSpPr>
        <p:spPr>
          <a:xfrm>
            <a:off x="4946904" y="2971800"/>
            <a:ext cx="210312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Shape 19"/>
          <p:cNvSpPr/>
          <p:nvPr/>
        </p:nvSpPr>
        <p:spPr>
          <a:xfrm>
            <a:off x="5541264" y="3246120"/>
            <a:ext cx="914400" cy="91440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3310128"/>
            <a:ext cx="777240" cy="7772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38344" y="4297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글로벌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확장 가능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038344" y="5166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모듈형 구조로 국가별 확장 지원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260336" y="2971800"/>
            <a:ext cx="2103120" cy="3520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8" name="Shape 23"/>
          <p:cNvSpPr/>
          <p:nvPr/>
        </p:nvSpPr>
        <p:spPr>
          <a:xfrm>
            <a:off x="7260336" y="2971800"/>
            <a:ext cx="210312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Shape 24"/>
          <p:cNvSpPr/>
          <p:nvPr/>
        </p:nvSpPr>
        <p:spPr>
          <a:xfrm>
            <a:off x="7854696" y="3246120"/>
            <a:ext cx="914400" cy="91440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310128"/>
            <a:ext cx="777240" cy="7772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51776" y="4297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확장 가능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351776" y="5166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 수가 늘어도 운영 비용 일정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9573768" y="2971800"/>
            <a:ext cx="2103120" cy="3520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4" name="Shape 28"/>
          <p:cNvSpPr/>
          <p:nvPr/>
        </p:nvSpPr>
        <p:spPr>
          <a:xfrm>
            <a:off x="9573768" y="2971800"/>
            <a:ext cx="210312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Shape 29"/>
          <p:cNvSpPr/>
          <p:nvPr/>
        </p:nvSpPr>
        <p:spPr>
          <a:xfrm>
            <a:off x="10168128" y="3246120"/>
            <a:ext cx="914400" cy="91440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136" y="3310128"/>
            <a:ext cx="777240" cy="7772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65208" y="4297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자산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축적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9665208" y="5166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공급·운영 데이터의 전략적 자산화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Plan  —  실행 계획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0" y="640080"/>
            <a:ext cx="315468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0" y="640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구축 목표: 4개월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1521440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353312"/>
            <a:ext cx="237744" cy="2377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4160520" y="1353312"/>
            <a:ext cx="237744" cy="237744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0" name="Shape 8"/>
          <p:cNvSpPr/>
          <p:nvPr/>
        </p:nvSpPr>
        <p:spPr>
          <a:xfrm>
            <a:off x="8001000" y="1353312"/>
            <a:ext cx="237744" cy="2377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11612880" y="1353312"/>
            <a:ext cx="237744" cy="23774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1384280" y="1627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완료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691640"/>
            <a:ext cx="37490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91640"/>
            <a:ext cx="374904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1–2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240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신청 + 심사 자동화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3383280" cy="27432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10896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온라인 신청 폼 구축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93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사업자 자동 검증 모듈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위험도 평가 엔진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90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승인 워크플로우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계정 자동 생성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97680" y="1691640"/>
            <a:ext cx="37490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1691640"/>
            <a:ext cx="3749040" cy="12801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2–3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0" y="2240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온보딩 + 운영 관리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80560" y="2926080"/>
            <a:ext cx="3383280" cy="27432"/>
          </a:xfrm>
          <a:prstGeom prst="rect">
            <a:avLst/>
          </a:prstGeom>
          <a:solidFill>
            <a:srgbClr val="48CAE4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26280" y="3108960"/>
            <a:ext cx="73152" cy="7315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권한 자동 설정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26280" y="3657600"/>
            <a:ext cx="73152" cy="7315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3593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상품 등록 지원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26280" y="4206240"/>
            <a:ext cx="73152" cy="7315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주문 상태 관리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526280" y="4754880"/>
            <a:ext cx="73152" cy="7315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4690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환불 승인 시스템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526280" y="5303520"/>
            <a:ext cx="73152" cy="7315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정산 관리 모듈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275320" y="1691640"/>
            <a:ext cx="37490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75320" y="1691640"/>
            <a:ext cx="3749040" cy="1280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1955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3–4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58200" y="2240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운영 최적화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58200" y="2926080"/>
            <a:ext cx="3383280" cy="27432"/>
          </a:xfrm>
          <a:prstGeom prst="rect">
            <a:avLst/>
          </a:prstGeom>
          <a:solidFill>
            <a:srgbClr val="FF6B35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503920" y="3108960"/>
            <a:ext cx="73152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리스크 분석 엔진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503920" y="3657600"/>
            <a:ext cx="73152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4" name="Text 52"/>
          <p:cNvSpPr/>
          <p:nvPr/>
        </p:nvSpPr>
        <p:spPr>
          <a:xfrm>
            <a:off x="8686800" y="3593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이상 감지 시스템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8503920" y="4206240"/>
            <a:ext cx="73152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0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병목 예측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503920" y="4754880"/>
            <a:ext cx="73152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8" name="Text 56"/>
          <p:cNvSpPr/>
          <p:nvPr/>
        </p:nvSpPr>
        <p:spPr>
          <a:xfrm>
            <a:off x="8686800" y="4690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대시보드 / KPI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503920" y="5303520"/>
            <a:ext cx="73152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0" name="Text 58"/>
          <p:cNvSpPr/>
          <p:nvPr/>
        </p:nvSpPr>
        <p:spPr>
          <a:xfrm>
            <a:off x="8686800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파이프라인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&amp; Resource  —  인력 및 인프라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0" cy="5806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685800"/>
            <a:ext cx="5669280" cy="10972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96012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인력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5212080" cy="64008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560320"/>
            <a:ext cx="73152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Engineer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832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8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워크플로우 엔진, API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521208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337560"/>
            <a:ext cx="73152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Engineer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832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3108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8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 포털, 대시보드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5212080" cy="64008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4114800"/>
            <a:ext cx="73152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749808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Engineer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38328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114800" y="3886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8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분석, 로그 파이프라인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663440"/>
            <a:ext cx="521208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4892040"/>
            <a:ext cx="73152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Manager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38328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114800" y="4663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8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요구사항, 일정 관리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5440680"/>
            <a:ext cx="5212080" cy="64008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30" name="Shape 27"/>
          <p:cNvSpPr/>
          <p:nvPr/>
        </p:nvSpPr>
        <p:spPr>
          <a:xfrm>
            <a:off x="548640" y="5669280"/>
            <a:ext cx="73152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" y="5440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Engineer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383280" y="5440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1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114800" y="54406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8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테스트, 품질 보증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263640" y="685800"/>
            <a:ext cx="5577840" cy="580644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5" name="Shape 32"/>
          <p:cNvSpPr/>
          <p:nvPr/>
        </p:nvSpPr>
        <p:spPr>
          <a:xfrm>
            <a:off x="6263640" y="685800"/>
            <a:ext cx="5577840" cy="109728"/>
          </a:xfrm>
          <a:prstGeom prst="rect">
            <a:avLst/>
          </a:prstGeom>
          <a:solidFill>
            <a:srgbClr val="48CAE4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960120"/>
            <a:ext cx="685800" cy="6858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35508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인프라 구성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6446520" y="2331720"/>
            <a:ext cx="5212080" cy="109728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39" name="Shape 35"/>
          <p:cNvSpPr/>
          <p:nvPr/>
        </p:nvSpPr>
        <p:spPr>
          <a:xfrm>
            <a:off x="6446520" y="2331720"/>
            <a:ext cx="82296" cy="1097280"/>
          </a:xfrm>
          <a:prstGeom prst="rect">
            <a:avLst/>
          </a:prstGeom>
          <a:solidFill>
            <a:srgbClr val="48CAE4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624328"/>
            <a:ext cx="502920" cy="5029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269480" y="2441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워크플로우 엔진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726948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상태 머신 기반 자동화 처리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6446520" y="3703320"/>
            <a:ext cx="5212080" cy="109728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44" name="Shape 39"/>
          <p:cNvSpPr/>
          <p:nvPr/>
        </p:nvSpPr>
        <p:spPr>
          <a:xfrm>
            <a:off x="6446520" y="3703320"/>
            <a:ext cx="82296" cy="1097280"/>
          </a:xfrm>
          <a:prstGeom prst="rect">
            <a:avLst/>
          </a:prstGeom>
          <a:solidFill>
            <a:srgbClr val="48CAE4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995928"/>
            <a:ext cx="502920" cy="50292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269480" y="38130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로그 저장소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726948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Append-Only 감사 로그 인프라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6446520" y="5074920"/>
            <a:ext cx="5212080" cy="1097280"/>
          </a:xfrm>
          <a:prstGeom prst="rect">
            <a:avLst/>
          </a:prstGeom>
          <a:solidFill>
            <a:srgbClr val="0D2840"/>
          </a:solidFill>
          <a:ln/>
        </p:spPr>
      </p:sp>
      <p:sp>
        <p:nvSpPr>
          <p:cNvPr id="49" name="Shape 43"/>
          <p:cNvSpPr/>
          <p:nvPr/>
        </p:nvSpPr>
        <p:spPr>
          <a:xfrm>
            <a:off x="6446520" y="5074920"/>
            <a:ext cx="82296" cy="1097280"/>
          </a:xfrm>
          <a:prstGeom prst="rect">
            <a:avLst/>
          </a:prstGeom>
          <a:solidFill>
            <a:srgbClr val="48CAE4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5367528"/>
            <a:ext cx="502920" cy="50292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269480" y="5184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분석 모듈</a:t>
            </a:r>
            <a:endParaRPr lang="en-US" sz="1400" dirty="0"/>
          </a:p>
        </p:txBody>
      </p:sp>
      <p:sp>
        <p:nvSpPr>
          <p:cNvPr id="52" name="Text 45"/>
          <p:cNvSpPr/>
          <p:nvPr/>
        </p:nvSpPr>
        <p:spPr>
          <a:xfrm>
            <a:off x="7269480" y="5623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리스크 평가·이상 감지 엔진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대응 방안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85800"/>
            <a:ext cx="566928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60120"/>
            <a:ext cx="1463040" cy="411480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60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리스크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35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심사 기준 변화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097280"/>
            <a:ext cx="548640" cy="548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1645920" cy="41148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160520" y="960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대응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29000" y="1435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정책 엔진 분리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2011680"/>
            <a:ext cx="53035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1488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심사 로직을 코드가 아닌 정책 DB로 관리하여 변경 시 코드 배포 없이 수정 가능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685800"/>
            <a:ext cx="5669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685800"/>
            <a:ext cx="566928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6520" y="960120"/>
            <a:ext cx="1463040" cy="411480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960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리스크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1435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공급자 다양성</a:t>
            </a:r>
            <a:endParaRPr lang="en-US" sz="16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097280"/>
            <a:ext cx="548640" cy="5486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0104120" y="960120"/>
            <a:ext cx="1645920" cy="41148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10104120" y="960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대응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372600" y="1435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유연한 데이터 모델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446520" y="2011680"/>
            <a:ext cx="53035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2"/>
          <p:cNvSpPr/>
          <p:nvPr/>
        </p:nvSpPr>
        <p:spPr>
          <a:xfrm>
            <a:off x="6446520" y="21488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공급자 유형별 속성을 동적 스키마로 설계하여 신규 유형 추가 시 구조 변경 최소화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20040" y="3657600"/>
            <a:ext cx="5669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20040" y="3657600"/>
            <a:ext cx="566928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Shape 25"/>
          <p:cNvSpPr/>
          <p:nvPr/>
        </p:nvSpPr>
        <p:spPr>
          <a:xfrm>
            <a:off x="502920" y="3931920"/>
            <a:ext cx="1463040" cy="411480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리스크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02920" y="4407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규칙 변경</a:t>
            </a:r>
            <a:endParaRPr lang="en-US" sz="16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069080"/>
            <a:ext cx="548640" cy="54864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4160520" y="3931920"/>
            <a:ext cx="1645920" cy="41148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16052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대응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342900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상태 머신 구조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502920" y="4983480"/>
            <a:ext cx="53035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2"/>
          <p:cNvSpPr/>
          <p:nvPr/>
        </p:nvSpPr>
        <p:spPr>
          <a:xfrm>
            <a:off x="502920" y="51206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상태 전이 규칙을 상태 머신으로 구성하여 규칙 변경 시 전이 테이블만 수정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263640" y="3657600"/>
            <a:ext cx="5669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263640" y="3657600"/>
            <a:ext cx="566928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Shape 35"/>
          <p:cNvSpPr/>
          <p:nvPr/>
        </p:nvSpPr>
        <p:spPr>
          <a:xfrm>
            <a:off x="6446520" y="3931920"/>
            <a:ext cx="1463040" cy="411480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644652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리스크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446520" y="4407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증가</a:t>
            </a:r>
            <a:endParaRPr lang="en-US" sz="16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4069080"/>
            <a:ext cx="548640" cy="548640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10104120" y="3931920"/>
            <a:ext cx="1645920" cy="41148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1010412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대응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937260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로그 아카이빙</a:t>
            </a:r>
            <a:endParaRPr lang="en-US" sz="1600" dirty="0"/>
          </a:p>
        </p:txBody>
      </p:sp>
      <p:sp>
        <p:nvSpPr>
          <p:cNvPr id="47" name="Shape 41"/>
          <p:cNvSpPr/>
          <p:nvPr/>
        </p:nvSpPr>
        <p:spPr>
          <a:xfrm>
            <a:off x="6446520" y="4983480"/>
            <a:ext cx="53035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Text 42"/>
          <p:cNvSpPr/>
          <p:nvPr/>
        </p:nvSpPr>
        <p:spPr>
          <a:xfrm>
            <a:off x="6446520" y="51206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Hot/Warm/Cold 데이터 계층화 정책 적용, 로그 저장소를 운영 DB와 분리 구성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0" y="685800"/>
            <a:ext cx="704088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685800"/>
            <a:ext cx="128016" cy="64008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7863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37560" y="7223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Portal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37560" y="1024128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입점 신청 · 온보딩 · 현황 조회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71032" y="1344168"/>
            <a:ext cx="201168" cy="1097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20240" y="1472184"/>
            <a:ext cx="832104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2" name="Shape 8"/>
          <p:cNvSpPr/>
          <p:nvPr/>
        </p:nvSpPr>
        <p:spPr>
          <a:xfrm>
            <a:off x="1920240" y="1472184"/>
            <a:ext cx="128016" cy="64008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57276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15087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Engine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697480" y="1810512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계정 · 권한 · 상품 등록 자동화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71032" y="2130552"/>
            <a:ext cx="201168" cy="10972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280160" y="2258568"/>
            <a:ext cx="960120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8" name="Shape 12"/>
          <p:cNvSpPr/>
          <p:nvPr/>
        </p:nvSpPr>
        <p:spPr>
          <a:xfrm>
            <a:off x="1280160" y="2258568"/>
            <a:ext cx="128016" cy="640080"/>
          </a:xfrm>
          <a:prstGeom prst="rect">
            <a:avLst/>
          </a:prstGeom>
          <a:solidFill>
            <a:srgbClr val="48CAE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235915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057400" y="22951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Engine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2057400" y="25968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주문 · 환불 · 정산 상태 관리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971032" y="2916936"/>
            <a:ext cx="201168" cy="10972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22960" y="3044952"/>
            <a:ext cx="1051560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4" name="Shape 16"/>
          <p:cNvSpPr/>
          <p:nvPr/>
        </p:nvSpPr>
        <p:spPr>
          <a:xfrm>
            <a:off x="822960" y="3044952"/>
            <a:ext cx="128016" cy="640080"/>
          </a:xfrm>
          <a:prstGeom prst="rect">
            <a:avLst/>
          </a:prstGeom>
          <a:solidFill>
            <a:srgbClr val="48CAE4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3145536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600200" y="3081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Engine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1600200" y="338328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정책 규칙 · 판단 기준 적용</a:t>
            </a:r>
            <a:endParaRPr lang="en-US" sz="10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971032" y="3703320"/>
            <a:ext cx="201168" cy="10972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457200" y="3831336"/>
            <a:ext cx="1124712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0" name="Shape 20"/>
          <p:cNvSpPr/>
          <p:nvPr/>
        </p:nvSpPr>
        <p:spPr>
          <a:xfrm>
            <a:off x="457200" y="3831336"/>
            <a:ext cx="128016" cy="64008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931920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234440" y="38679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Decision Engine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1234440" y="4169664"/>
            <a:ext cx="10332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리스크 분석 · 이상 감지 · SLA 예측</a:t>
            </a:r>
            <a:endParaRPr lang="en-US" sz="10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5971032" y="4489704"/>
            <a:ext cx="201168" cy="10972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182880" y="4617720"/>
            <a:ext cx="1179576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6" name="Shape 24"/>
          <p:cNvSpPr/>
          <p:nvPr/>
        </p:nvSpPr>
        <p:spPr>
          <a:xfrm>
            <a:off x="182880" y="4617720"/>
            <a:ext cx="128016" cy="640080"/>
          </a:xfrm>
          <a:prstGeom prst="rect">
            <a:avLst/>
          </a:prstGeom>
          <a:solidFill>
            <a:srgbClr val="5A8A9F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4718304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60120" y="46542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Log System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60120" y="4956048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감사 로그 · 상태 이력 영구 기록</a:t>
            </a:r>
            <a:endParaRPr lang="en-US" sz="105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5971032" y="5276088"/>
            <a:ext cx="201168" cy="109728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0" y="5404104"/>
            <a:ext cx="12161520" cy="64008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42" name="Shape 28"/>
          <p:cNvSpPr/>
          <p:nvPr/>
        </p:nvSpPr>
        <p:spPr>
          <a:xfrm>
            <a:off x="0" y="5404104"/>
            <a:ext cx="128016" cy="64008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5504688"/>
            <a:ext cx="438912" cy="438912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777240" y="54406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45" name="Text 30"/>
          <p:cNvSpPr/>
          <p:nvPr/>
        </p:nvSpPr>
        <p:spPr>
          <a:xfrm>
            <a:off x="777240" y="5742432"/>
            <a:ext cx="11247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대시보드 · 운영 인사이트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Scenario  —  파트너 입점 자동화 흐름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-45720" y="777240"/>
            <a:ext cx="1554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-45720" y="777240"/>
            <a:ext cx="155448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73152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7830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" y="240487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 입점 신청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8600" y="3108960"/>
            <a:ext cx="100584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7432" y="3246120"/>
            <a:ext cx="1408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온라인 신청 폼 작성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사업자 정보 입력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715768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737360" y="777240"/>
            <a:ext cx="1554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737360" y="777240"/>
            <a:ext cx="155448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2"/>
          <p:cNvSpPr/>
          <p:nvPr/>
        </p:nvSpPr>
        <p:spPr>
          <a:xfrm>
            <a:off x="2148840" y="1005840"/>
            <a:ext cx="73152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214884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17830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10512" y="240487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 사업자 검증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011680" y="3108960"/>
            <a:ext cx="100584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1810512" y="3246120"/>
            <a:ext cx="1408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사업자등록번호 API 연동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서류 자동 확인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715768"/>
            <a:ext cx="201168" cy="20116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520440" y="777240"/>
            <a:ext cx="1554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520440" y="777240"/>
            <a:ext cx="1554480" cy="109728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25" name="Shape 19"/>
          <p:cNvSpPr/>
          <p:nvPr/>
        </p:nvSpPr>
        <p:spPr>
          <a:xfrm>
            <a:off x="3931920" y="1005840"/>
            <a:ext cx="731520" cy="594360"/>
          </a:xfrm>
          <a:prstGeom prst="rect">
            <a:avLst/>
          </a:prstGeom>
          <a:solidFill>
            <a:srgbClr val="48CAE4">
              <a:alpha val="15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393192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178308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93592" y="240487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위험도 평가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794760" y="3108960"/>
            <a:ext cx="1005840" cy="27432"/>
          </a:xfrm>
          <a:prstGeom prst="rect">
            <a:avLst/>
          </a:prstGeom>
          <a:solidFill>
            <a:srgbClr val="48CAE4">
              <a:alpha val="40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3593592" y="3246120"/>
            <a:ext cx="1408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기반 리스크 점수 산출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 등급 분류</a:t>
            </a:r>
            <a:endParaRPr lang="en-US" sz="10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2715768"/>
            <a:ext cx="201168" cy="20116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303520" y="777240"/>
            <a:ext cx="1554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5303520" y="777240"/>
            <a:ext cx="1554480" cy="109728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4" name="Shape 26"/>
          <p:cNvSpPr/>
          <p:nvPr/>
        </p:nvSpPr>
        <p:spPr>
          <a:xfrm>
            <a:off x="5715000" y="1005840"/>
            <a:ext cx="731520" cy="594360"/>
          </a:xfrm>
          <a:prstGeom prst="rect">
            <a:avLst/>
          </a:prstGeom>
          <a:solidFill>
            <a:srgbClr val="48CAE4">
              <a:alpha val="1500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571500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1783080"/>
            <a:ext cx="502920" cy="5029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76672" y="240487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승인 자동 실행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5577840" y="3108960"/>
            <a:ext cx="1005840" cy="27432"/>
          </a:xfrm>
          <a:prstGeom prst="rect">
            <a:avLst/>
          </a:prstGeom>
          <a:solidFill>
            <a:srgbClr val="48CAE4">
              <a:alpha val="40000"/>
            </a:srgbClr>
          </a:solidFill>
          <a:ln/>
        </p:spPr>
      </p:sp>
      <p:sp>
        <p:nvSpPr>
          <p:cNvPr id="39" name="Text 30"/>
          <p:cNvSpPr/>
          <p:nvPr/>
        </p:nvSpPr>
        <p:spPr>
          <a:xfrm>
            <a:off x="5376672" y="3246120"/>
            <a:ext cx="1408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정책 조건 충족 시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 승인 처리</a:t>
            </a:r>
            <a:endParaRPr lang="en-US" sz="105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6288" y="2715768"/>
            <a:ext cx="201168" cy="201168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7086600" y="777240"/>
            <a:ext cx="1554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7086600" y="777240"/>
            <a:ext cx="155448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3" name="Shape 33"/>
          <p:cNvSpPr/>
          <p:nvPr/>
        </p:nvSpPr>
        <p:spPr>
          <a:xfrm>
            <a:off x="7498080" y="1005840"/>
            <a:ext cx="731520" cy="59436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44" name="Text 34"/>
          <p:cNvSpPr/>
          <p:nvPr/>
        </p:nvSpPr>
        <p:spPr>
          <a:xfrm>
            <a:off x="749808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7808" y="1783080"/>
            <a:ext cx="502920" cy="50292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159752" y="240487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계정 생성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7360920" y="3108960"/>
            <a:ext cx="1005840" cy="27432"/>
          </a:xfrm>
          <a:prstGeom prst="rect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48" name="Text 37"/>
          <p:cNvSpPr/>
          <p:nvPr/>
        </p:nvSpPr>
        <p:spPr>
          <a:xfrm>
            <a:off x="7159752" y="3246120"/>
            <a:ext cx="1408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 포털 계정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권한 자동 부여</a:t>
            </a:r>
            <a:endParaRPr lang="en-US" sz="105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9368" y="2715768"/>
            <a:ext cx="201168" cy="201168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8869680" y="777240"/>
            <a:ext cx="1554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8869680" y="777240"/>
            <a:ext cx="155448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2" name="Shape 40"/>
          <p:cNvSpPr/>
          <p:nvPr/>
        </p:nvSpPr>
        <p:spPr>
          <a:xfrm>
            <a:off x="9281160" y="1005840"/>
            <a:ext cx="731520" cy="59436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53" name="Text 41"/>
          <p:cNvSpPr/>
          <p:nvPr/>
        </p:nvSpPr>
        <p:spPr>
          <a:xfrm>
            <a:off x="928116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0888" y="1783080"/>
            <a:ext cx="502920" cy="50292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8942832" y="240487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상품 등록</a:t>
            </a:r>
            <a:endParaRPr lang="en-US" sz="1200" dirty="0"/>
          </a:p>
        </p:txBody>
      </p:sp>
      <p:sp>
        <p:nvSpPr>
          <p:cNvPr id="56" name="Shape 43"/>
          <p:cNvSpPr/>
          <p:nvPr/>
        </p:nvSpPr>
        <p:spPr>
          <a:xfrm>
            <a:off x="9144000" y="3108960"/>
            <a:ext cx="1005840" cy="27432"/>
          </a:xfrm>
          <a:prstGeom prst="rect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7" name="Text 44"/>
          <p:cNvSpPr/>
          <p:nvPr/>
        </p:nvSpPr>
        <p:spPr>
          <a:xfrm>
            <a:off x="8942832" y="3246120"/>
            <a:ext cx="1408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상품 정보 입력 가이드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 검수 프로세스</a:t>
            </a:r>
            <a:endParaRPr lang="en-US" sz="105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2448" y="2715768"/>
            <a:ext cx="201168" cy="201168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10652760" y="777240"/>
            <a:ext cx="1554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0" name="Shape 46"/>
          <p:cNvSpPr/>
          <p:nvPr/>
        </p:nvSpPr>
        <p:spPr>
          <a:xfrm>
            <a:off x="10652760" y="777240"/>
            <a:ext cx="1554480" cy="10972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1" name="Shape 47"/>
          <p:cNvSpPr/>
          <p:nvPr/>
        </p:nvSpPr>
        <p:spPr>
          <a:xfrm>
            <a:off x="11064240" y="1005840"/>
            <a:ext cx="731520" cy="59436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</p:sp>
      <p:sp>
        <p:nvSpPr>
          <p:cNvPr id="62" name="Text 48"/>
          <p:cNvSpPr/>
          <p:nvPr/>
        </p:nvSpPr>
        <p:spPr>
          <a:xfrm>
            <a:off x="11064240" y="10058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73968" y="1783080"/>
            <a:ext cx="502920" cy="502920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10725912" y="240487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운영 시작</a:t>
            </a:r>
            <a:endParaRPr lang="en-US" sz="1200" dirty="0"/>
          </a:p>
        </p:txBody>
      </p:sp>
      <p:sp>
        <p:nvSpPr>
          <p:cNvPr id="65" name="Shape 50"/>
          <p:cNvSpPr/>
          <p:nvPr/>
        </p:nvSpPr>
        <p:spPr>
          <a:xfrm>
            <a:off x="10927080" y="3108960"/>
            <a:ext cx="1005840" cy="27432"/>
          </a:xfrm>
          <a:prstGeom prst="rect">
            <a:avLst/>
          </a:prstGeom>
          <a:solidFill>
            <a:srgbClr val="06D6A0">
              <a:alpha val="40000"/>
            </a:srgbClr>
          </a:solidFill>
          <a:ln/>
        </p:spPr>
      </p:sp>
      <p:sp>
        <p:nvSpPr>
          <p:cNvPr id="66" name="Text 51"/>
          <p:cNvSpPr/>
          <p:nvPr/>
        </p:nvSpPr>
        <p:spPr>
          <a:xfrm>
            <a:off x="10725912" y="3246120"/>
            <a:ext cx="1408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주문 수신 시작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실시간 현황 모니터링</a:t>
            </a:r>
            <a:endParaRPr lang="en-US" sz="1050" dirty="0"/>
          </a:p>
        </p:txBody>
      </p:sp>
      <p:sp>
        <p:nvSpPr>
          <p:cNvPr id="67" name="Shape 52"/>
          <p:cNvSpPr/>
          <p:nvPr/>
        </p:nvSpPr>
        <p:spPr>
          <a:xfrm>
            <a:off x="320040" y="5120640"/>
            <a:ext cx="11521440" cy="594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8" name="Text 53"/>
          <p:cNvSpPr/>
          <p:nvPr/>
        </p:nvSpPr>
        <p:spPr>
          <a:xfrm>
            <a:off x="320040" y="512064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전체 프로세스가 시스템에 자동 기록되어 감사 추적 및 SLA 측정에 활용됩니다.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Aftravel 파트너 온보딩 플랫폼 제안서</dc:title>
  <dc:subject>PptxGenJS Presentation</dc:subject>
  <dc:creator>PptxGenJS</dc:creator>
  <cp:lastModifiedBy>PptxGenJS</cp:lastModifiedBy>
  <cp:revision>1</cp:revision>
  <dcterms:created xsi:type="dcterms:W3CDTF">2026-02-20T13:55:33Z</dcterms:created>
  <dcterms:modified xsi:type="dcterms:W3CDTF">2026-02-20T13:55:33Z</dcterms:modified>
</cp:coreProperties>
</file>