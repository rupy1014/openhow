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B2BFB8-BA22-4FE2-B4B8-D0EDE6299CD4}">
  <a:tblStyle styleId="{8CB2BFB8-BA22-4FE2-B4B8-D0EDE6299C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 레이아웃">
  <p:cSld name="제목 및 내용 레이아웃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b="1"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7248789" y="116631"/>
            <a:ext cx="2376264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b="1" sz="14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" name="Google Shape;18;p2"/>
          <p:cNvCxnSpPr/>
          <p:nvPr/>
        </p:nvCxnSpPr>
        <p:spPr>
          <a:xfrm>
            <a:off x="272480" y="907133"/>
            <a:ext cx="9360000" cy="1587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272480" y="6461803"/>
            <a:ext cx="93600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/>
        </p:nvSpPr>
        <p:spPr>
          <a:xfrm>
            <a:off x="4617075" y="6543299"/>
            <a:ext cx="647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lgun Gothic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Ⅲ - </a:t>
            </a:r>
            <a:fld id="{00000000-1234-1234-1234-123412341234}" type="slidenum">
              <a:rPr b="0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14"/>
          <p:cNvGraphicFramePr/>
          <p:nvPr/>
        </p:nvGraphicFramePr>
        <p:xfrm>
          <a:off x="261838" y="16287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514700"/>
                <a:gridCol w="1440150"/>
                <a:gridCol w="7416825"/>
              </a:tblGrid>
              <a:tr h="14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중분류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중분류 정의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6-1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회원가입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쇼핑몰 회원가입을 위한 조건 및 인증 절차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 아이디 및 비밀번호 생성 규칙, 회원혜택 등 정의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6-2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소셜로그인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SNS계정을 이용한 쇼핑몰 회원가입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본인확인 인증서비스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휴대폰을 이용한 본인확인 인증 서비스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아이핀을 이용한 본인확인 인증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회원등급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쇼핑몰 회원의 등급에 따라 차등 혜택 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7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회원관리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휴면회원 전환 및 해제 관리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탈퇴회원 및 재가입 회원 관리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회원별 주문내역 연계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회원별 보유쿠폰 내역 연계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회원별 적립금 변동내역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6-6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회원정보 일괄처리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적립금 지급/차감 일괄처리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회원등급 일괄변경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6-7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SMS 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 설정 및 SMS 주소록 관리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 자동발송: 사전에 정해진 조건에 따라 자동으로 고객에게 발송되는 문자 서비스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6-8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메일 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파워메일 발송: 관리자가 조건부 검색으로 조회된 회원에게 메일을 일괄 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자동메일 발송: 사전에 정해진 이메일에 대하여 조건에 부합될 경우 자동 발송되는 메일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4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■ 회원정책 INDEX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7248789" y="116631"/>
            <a:ext cx="2376264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6-1. 회원가입(1/2)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15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회원유형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홈페이지 회원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일반회원: 만 14세 이상 개인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개인사업자: 개인이 운영하는 사업체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법인회원: 법인/기업체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홈페이지 정책에서 정의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4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쇼핑몰 회원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개인회원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설계에서 회원구분 칼럼 확보(개인/사업자)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275">
                <a:tc row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회원가입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가입절차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ko-KR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①약관동의 → ②회원 정보 입력 → 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③</a:t>
                      </a:r>
                      <a:r>
                        <a:rPr lang="ko-KR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회원가입 완료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회원가입항목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아이디, 비밀번호, 이름, 이메일, 주소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회원가입항목 상세 참고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회원가입승인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 승인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가입시 회원등급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기본등급 적용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sngStrike"/>
                        <a:t>만 14세 미만 가입 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 승인 후 가입</a:t>
                      </a:r>
                      <a:endParaRPr b="0" i="0" sz="1000" u="none" cap="none" strike="sng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1차 관리 안함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(이동준)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승인 없이 가입</a:t>
                      </a:r>
                      <a:endParaRPr b="0" i="0" sz="1000" u="none" cap="none" strike="sng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  <a:tc vMerge="1"/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가입불가</a:t>
                      </a:r>
                      <a:endParaRPr b="0" i="0" sz="1000" u="none" cap="none" strike="sng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  <a:tc vMerge="1"/>
              </a:tr>
              <a:tr h="12700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가입혜택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적립금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가입 시 적립금 </a:t>
                      </a: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?원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지급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?는 운영자 입력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쿠폰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회원가입쿠폰 지급 (쿠폰 금액은 쿠폰만들기에서 관리자 정의)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1717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sngStrike"/>
                        <a:t>추천인설정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신규가입 시 추천인을 기입하면 적립금 </a:t>
                      </a:r>
                      <a:r>
                        <a:rPr b="1" i="0" lang="ko-KR" sz="1000" u="none" cap="none" strike="sng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?원 </a:t>
                      </a: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지급</a:t>
                      </a:r>
                      <a:endParaRPr b="0" i="0" sz="1000" u="none" cap="none" strike="sng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1차 관리 안함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(이동준)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17175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ko-KR" sz="1000" u="none" cap="none" strike="sngStrike"/>
                        <a:t>신규가입고객이 기입한 추천인에게 </a:t>
                      </a: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적립금 </a:t>
                      </a:r>
                      <a:r>
                        <a:rPr b="1" i="0" lang="ko-KR" sz="1000" u="none" cap="none" strike="sng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?원 </a:t>
                      </a:r>
                      <a:r>
                        <a:rPr b="0" i="0" lang="ko-KR" sz="1000" u="none" cap="none" strike="sng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지급</a:t>
                      </a:r>
                      <a:endParaRPr b="0" i="0" sz="1000" u="none" cap="none" strike="sng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  <a:tc vMerge="1"/>
              </a:tr>
            </a:tbl>
          </a:graphicData>
        </a:graphic>
      </p:graphicFrame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7248789" y="116631"/>
            <a:ext cx="2376264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6-1. 회원가입(2/2)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16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아이디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등록 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영문, 숫자 사용가능하며, 6~20자 가능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사용불가 ID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admin, administration, administer, master, webmaster, manage, manager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비밀번호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자릿수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~ 16자리 (대소문자 구분 없음)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사용가능조합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영문,숫자,특수문자 중 2가지 이상 조합 필수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변경 주기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?개월 (6개월 권장)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사용불가 유형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변경전 비밀번호와 동일한 번호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등급표시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안전: 3가지 조합(영문,숫자,특수문자)</a:t>
                      </a:r>
                      <a:endParaRPr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보통: 2가지 조합(영문+숫자, 영문+특수문자)</a:t>
                      </a:r>
                      <a:endParaRPr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미흡: 2가지 조합(영문+숫자)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7248789" y="116631"/>
            <a:ext cx="2376264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17"/>
          <p:cNvGraphicFramePr/>
          <p:nvPr/>
        </p:nvGraphicFramePr>
        <p:xfrm>
          <a:off x="255535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967025"/>
                <a:gridCol w="1018925"/>
                <a:gridCol w="1018925"/>
                <a:gridCol w="5372525"/>
              </a:tblGrid>
              <a:tr h="20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입력항목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사용여부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rgbClr val="FF0000"/>
                          </a:solidFill>
                        </a:rPr>
                        <a:t>필수여부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아이디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영문, 숫자 사용가능하며, 6~20자 가능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중복체크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비밀번호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8~12자리, 영문, 숫자, 특수문자 중 2가지 조합 필수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비밀번호확인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이름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가입자 본인 이름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이메일(수신여부)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이메일 입력, 수신동의 체크, (중복여부 확인 적용여부 검토)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전화번호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전화번호 입력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핸드폰(수신여부)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핸드폰 입력, 수신동의 체크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주소(배송지주소)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우편번호, 주소입력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주소(해외배송지)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해외 구매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생년월일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생년월일 입력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성별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남/여 구분 체크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SMS 수신동의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자동발생 SMS는 수신여부와 상관없이 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이메일 수신동의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자동발생 이메일은 수신여부와 상관없이 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: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7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■ 회원가입 항목</a:t>
            </a:r>
            <a:r>
              <a:rPr b="1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(개인)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7248789" y="116631"/>
            <a:ext cx="2376264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18"/>
          <p:cNvGraphicFramePr/>
          <p:nvPr/>
        </p:nvGraphicFramePr>
        <p:xfrm>
          <a:off x="255535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967025"/>
                <a:gridCol w="1018925"/>
                <a:gridCol w="1018925"/>
                <a:gridCol w="5372525"/>
              </a:tblGrid>
              <a:tr h="20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입력항목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사용여부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rgbClr val="FF0000"/>
                          </a:solidFill>
                        </a:rPr>
                        <a:t>필수여부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아이디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>
                          <a:solidFill>
                            <a:schemeClr val="dk1"/>
                          </a:solidFill>
                        </a:rPr>
                        <a:t>영문, 숫자 사용가능하며, 6~20자 가능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비밀번호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8~12자리, 영문, 숫자, 특수문자 중 2가지 조합 필수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업체명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가입업체명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대표자명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대표자명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사업자등록번호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사업자등록번호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업태/종목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업태/종목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사업장 주소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사업장 주소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담당자명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쇼핑몰 담당자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담당자 부서명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담당자 부서명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담당자 전화번호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가입업체 담당자 전화번호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이메일(수신여부)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이메일 입력, 수신동의 체크, (중복여부 확인 적용여부 검토)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핸드폰(수신여부)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필수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핸드폰 입력, 수신동의 체크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: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8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■ 회원가입 항목</a:t>
            </a:r>
            <a:r>
              <a:rPr b="1" i="0" lang="ko-KR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(사업자)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41" name="Google Shape;141;p19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6-2. 소셜 로그인</a:t>
            </a:r>
            <a:endParaRPr/>
          </a:p>
        </p:txBody>
      </p:sp>
      <p:graphicFrame>
        <p:nvGraphicFramePr>
          <p:cNvPr id="142" name="Google Shape;142;p19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소셜 로그인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정의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SNS계정으로 로그인 하여 쇼핑몰에 바로 회원가입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로그인 절차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계정로그인 -&gt; 프로필연동 동의 -&gt; 약관동의 및 필수등록정보  확인 -&gt; 회원가입완료 -&gt; 마이페이지 SNS연결정보 확인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- 필수정보(팝업) = 전화번호, 배송지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사용여부</a:t>
                      </a:r>
                      <a:r>
                        <a:rPr b="0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(선택)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사용함 or 사용안함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로그인 대상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페이스북, 카카오톡, 네이버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SNS공유대상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페이스북, 카카오스토리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연계대상항목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ID, 이름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아이디 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쇼핑몰 아이디와 중복 방지를 위해 다음 규칙 적용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- 쇼핑몰ID = 소셜식별자 + (언더바) + 소셜ID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예) fb_testuser = fb(페이스북) + ‘_’ + testuser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소셜 식별자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- 카카오톡 = kt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- 페이스북 = fb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- 네이버 = nv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적용방식</a:t>
                      </a:r>
                      <a:r>
                        <a:rPr b="0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(선택)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간편설정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우리 솔루션에서 제공하는 기본 앱ID와 앱시크릿코드를 사용하여 연동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확인 후 재 논의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개별설정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페이스북의 앱ID와 앱시크릿코드를 우리 쇼핑몰에 입력하여 연동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20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6-3. 본인확인 인증서비스</a:t>
            </a:r>
            <a:endParaRPr/>
          </a:p>
        </p:txBody>
      </p:sp>
      <p:graphicFrame>
        <p:nvGraphicFramePr>
          <p:cNvPr id="151" name="Google Shape;151;p20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휴대폰 본인확인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서비스 안내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본인인증 서비스 업체에 서비스 신청 필요 (유료 서비스)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예) 드림시큐리티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서비스 신청절차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온라인 신청 or</a:t>
                      </a:r>
                      <a:endParaRPr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신청서작성 및 결제 🡪 신청서 전송 🡪 승인심사 🡪 서비스코드 발급 🡪 서비스 설정 및 적용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서비스 업체에 따라 다름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회원사 코드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본인인증 서비스 업체에서 발급한 아이디를 입력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사용여부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 or 사용안함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아이핀 본인확인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서비스 안내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가장 대표적인 주민등록번호 대체 수단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예) NICE신용평가정보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서비스 신청절차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서비스신청 🡪 서류제출 🡪 아이핀 계정 발급 🡪 설정페이지에서 회원사코드/패스워드 입력 🡪 서비스 이용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회원사 Code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ko-KR" sz="1000" u="none" cap="none" strike="noStrike"/>
                        <a:t>NICE신용평가정보와 계약 후 발급 받은 사이트 CODE 입력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회원사 Password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ko-KR" sz="1000" u="none" cap="none" strike="noStrike"/>
                        <a:t>NICE신용평가정보와 계약 후 발급 받은 사이트 패스워드 입력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아이핀 사용여부</a:t>
                      </a:r>
                      <a:r>
                        <a:rPr b="0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(선택)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 or 사용안함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성인인증여부 </a:t>
                      </a:r>
                      <a:r>
                        <a:rPr b="0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(선택)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 or 사용안함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59" name="Google Shape;159;p21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6-4. 회원등급(1/2)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21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2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992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등급종류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관리자가 직접 등록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예) 브론즈/ 실버/ 골드/ 플래티넘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등급표시</a:t>
                      </a:r>
                      <a:r>
                        <a:rPr b="0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(선택)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텍스트 or 아이콘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992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등급평가기준</a:t>
                      </a:r>
                      <a:r>
                        <a:rPr b="0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(선택)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자동평가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등급 산정일에 자동으로 평가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수동평가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관리자가 수동으로 평가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3548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등급산정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구매확정일 기준 최근 6개월 동안의 실적을 반영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계산식 = 구매금액 조건 &amp; 구매횟수 조건 or 포인트 조건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구매금액 </a:t>
                      </a: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 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구매횟수 </a:t>
                      </a: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포인트 </a:t>
                      </a: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?는 관리자 입력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992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간격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매월 1일 배치</a:t>
                      </a:r>
                      <a:endParaRPr b="0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등급유지기간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등급산정 배치 실행 시마다 적용</a:t>
                      </a:r>
                      <a:endParaRPr b="0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등급별할인혜택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할인혜택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판매금액의 </a:t>
                      </a: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할인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구매확정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(등급별혜택)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혜택기준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구매확정 시 마다 지급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할인혜택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적립금 지급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68" name="Google Shape;168;p22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6-4. 회원등급(2/2)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22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21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992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구매후기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(등급별혜택)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혜택기준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회 이상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할인혜택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포인트 지급</a:t>
                      </a:r>
                      <a:endParaRPr b="0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992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무료 배송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등급별혜택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(선택)</a:t>
                      </a:r>
                      <a:endParaRPr b="1" sz="1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해당없음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225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무료배송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모바일 동일 적용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77" name="Google Shape;177;p23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6-5. 회원관리(1/2)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23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휴면회원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휴면회원 정의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1년 동안 쇼핑몰에 로그인 하지 않은 회원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회원정보를 삭제하지 않고 별도 DB에 분리 보관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휴면회원 유지기간 1년 이후 해당 계정 삭제 처리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전환 방식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배치에 의한 자동 전환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휴면회원 해제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 요청 시 관리자가 휴면회원 해제 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 로그인 시 자동해제(휴면상태 안내 후 해제 동의시 해제)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비밀번호찾기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휴대폰 인증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이름, 생년월일, 휴대폰 번호를 통해 본인확인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임시번호 공지가 아닌 신규 비밀번호 설정 방식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아이폰 인증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주민번호 대신 본인확인기관이 공급하는 아이핀 ID/패스워드를 사용하여 본인확인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이메일인증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비밀번호 변경 URL을 전송하고 회원이 변경하는 방식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회원별 고유 URL을 전송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3/11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탈퇴회원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탈퇴 유형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일반탈퇴: 회원이 직접 자진 탈퇴한 경우(자동탈퇴회원)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강제탈퇴: 쇼핑몰운영 방침에 따라 관리자가 직접 탈퇴처리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탈퇴 사유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미리 설정된 탈퇴사유를 Select Box에서 선택하는 방식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예) 상품가격이 비싸다 / 배송이 느리다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적립금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탈퇴 시 고객이 보유한 적립금 소멸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포인트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탈퇴 시 고객이 보유한 포인트 소멸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 재가입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재가입 시점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탈퇴 전 사용 아이디 재사용 불가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86" name="Google Shape;186;p24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6-5. 회원관리(2/2)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24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3425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회원 이력정보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회원별 주문내역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주문내역 조회 버튼 클릭을 통해서 주문내역 조회 화면으로 이동하여 해당 회원의 주문내역 이력을 조회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2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회원별 보유쿠폰 내역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보유쿠폰 조회 버튼 클릭을 통해서 보유쿠폰내역 조회 화면으로 이동하여 해당 회원의 보유쿠폰 이력을 조회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312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회원별 적립금 변동내역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적립금 내역 조회 버튼 클릭을 통해서 적립금 변동내역 조회 화면으로 이동하여 해당 회원의 적립금 변동내역 이력을 조회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Block 기능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로그인 차단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특정회원의 로그인 차단 목적으로 ID 및 IP를 관리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포인트지급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지급조건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상품평 작성 시 </a:t>
                      </a: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포인트</a:t>
                      </a: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지급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95" name="Google Shape;195;p25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6-6. 회원정보 일괄처리</a:t>
            </a:r>
            <a:endParaRPr/>
          </a:p>
        </p:txBody>
      </p:sp>
      <p:graphicFrame>
        <p:nvGraphicFramePr>
          <p:cNvPr id="196" name="Google Shape;196;p25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적립금 지급/차감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대상선정조건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적립금 일괄지급 대상 회원 추출을 위한 검색조건 필요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예) 구매액 범위, 방문횟수 범위, 가입일, 연령층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지급 방법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 수동 지급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금액 구분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지급액 or 차감액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포인트 지급/차감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대상선정조건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포인트 일괄지급 대상 회원 추출을 위한 검색조건 필요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예) 구매액 범위, 방문횟수 범위, 가입일, 연령층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지급 방법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 수동 지급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금액 구분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지급액 &amp; 차감액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회원등급 변경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대상선정조건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일괄지급 대상 회원 추출을 위한 검색조건 필요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예) 구매액 범위, 방문횟수 범위, 가입일, 연령층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등급 구분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변경대상 등급 선정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FF0000"/>
                          </a:solidFill>
                        </a:rPr>
                        <a:t>SMS 일괄발송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대상선정조건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일괄지급 대상 회원 추출을 위한 검색조건 필요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예) 구매액 범위, 방문횟수 범위, 가입일, 연령층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SMS발송하기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SMS/LMS 선택 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04" name="Google Shape;204;p26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6-7. SMS 설정 - 기본설정</a:t>
            </a:r>
            <a:endParaRPr/>
          </a:p>
        </p:txBody>
      </p:sp>
      <p:graphicFrame>
        <p:nvGraphicFramePr>
          <p:cNvPr id="205" name="Google Shape;205;p26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SMS발신번호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등록절차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관리책임자등록 🡪 SMS발신번호등록 🡪 SMS발신번호연동 🡪 신청완료 및 승인대기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홈페이지 마이페이지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발신번호 사전등록제 의무 시행2015/10/16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 포인트 충전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신청절차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발신번호사전등록 🡪 관리자로그인 🡪 SMS포인트충전 서비스 신청 🡪 SMS포인트충전 결제 🡪 서비스 이용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포인트 충전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 솔루션 선정 시 정의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 발송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발송 대상 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쇼핑몰 회원 주소록에서 검색하여 대상 추가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SMS 주소록에서 검색하여 대상 추가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SMS주소록 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쇼핑몰 회원 이외 별도 주소록 관리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 발송내역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발송구분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발송결과 조회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예약발송 조회 (솔루션의 예약 발송 기능 활용할 경우)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13" name="Google Shape;213;p27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6-7. SMS 설정 - 자동발송설정</a:t>
            </a:r>
            <a:endParaRPr/>
          </a:p>
        </p:txBody>
      </p:sp>
      <p:graphicFrame>
        <p:nvGraphicFramePr>
          <p:cNvPr id="214" name="Google Shape;214;p27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127000">
                <a:tc row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 관리자 정보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 비밀번호 인증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홈페이지 마이페이지에서 등록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발신번호선택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발신번호 사전등록 된 번호 중 선택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관리자 핸드폰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관리자에게 메시지 통보할 때 필요한 연락처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메시지 전송방법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90Byte 초과 시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단문 발송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장문 발송(차감건수 추가)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메시지 전송방법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90Byte 까지만 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90Byte 초과 시 MMS/LMS발송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SMS자동발송 메시지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회원관련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회원가입, 적립금소멸안내, 회원탈퇴, 재입고알림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주문관련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신규주문안내, 입금안내, 주문결제완료,무통장입금완료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게시판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신규게시글통보, 게시물답변통보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프로모션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기념일(생일,결혼) 쿠폰발급 안내, 쿠폰발급 안내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2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관리자 임의 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272480" y="116632"/>
            <a:ext cx="6752742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/>
              <a:t>3.1 정책 정의</a:t>
            </a:r>
            <a:br>
              <a:rPr lang="ko-KR" sz="1800"/>
            </a:br>
            <a:r>
              <a:rPr lang="ko-KR" sz="1800"/>
              <a:t>3.1.6 회원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5736620" y="116631"/>
            <a:ext cx="3888433" cy="720081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0">
            <a:normAutofit/>
          </a:bodyPr>
          <a:lstStyle/>
          <a:p>
            <a:pPr indent="-180975" lvl="0" marL="18097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22" name="Google Shape;222;p28"/>
          <p:cNvSpPr txBox="1"/>
          <p:nvPr/>
        </p:nvSpPr>
        <p:spPr>
          <a:xfrm>
            <a:off x="273050" y="1052735"/>
            <a:ext cx="9352003" cy="43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0" spcFirstLastPara="1" rIns="103150" wrap="square" tIns="51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6-8. 메일관리</a:t>
            </a:r>
            <a:endParaRPr/>
          </a:p>
        </p:txBody>
      </p:sp>
      <p:graphicFrame>
        <p:nvGraphicFramePr>
          <p:cNvPr id="223" name="Google Shape;223;p28"/>
          <p:cNvGraphicFramePr/>
          <p:nvPr/>
        </p:nvGraphicFramePr>
        <p:xfrm>
          <a:off x="261838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{8CB2BFB8-BA22-4FE2-B4B8-D0EDE6299CD4}</a:tableStyleId>
              </a:tblPr>
              <a:tblGrid>
                <a:gridCol w="1018750"/>
                <a:gridCol w="1152125"/>
                <a:gridCol w="3816425"/>
                <a:gridCol w="1296150"/>
                <a:gridCol w="504050"/>
                <a:gridCol w="792100"/>
                <a:gridCol w="791525"/>
              </a:tblGrid>
              <a:tr h="21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정책내용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비고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정책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solidFill>
                            <a:schemeClr val="dk1"/>
                          </a:solidFill>
                        </a:rPr>
                        <a:t>확정일자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</a:tr>
              <a:tr h="2065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메일 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파워메일 설정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이름, 이메일, 휴대폰번호 등록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7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개별/전체 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솔루션에서 무료 제공하는 건수 내에 발송 가능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- 초과 시 파워메일 발송 이용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06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메일 발송내역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고객에게 발송한 메일 내역을 조회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0652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파워메일 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검색 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파워메일 발송 대상 회원을 검색 조건을 통하여 선정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525">
                <a:tc vMerge="1"/>
                <a:tc vMerge="1"/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구매액, 적립금, 성별, 휴면회원, 생년월일, 결혼기념일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06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파워메일 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검색 결과 회원을 대상으로 메일 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06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포인트 충전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이메일 솔루션 선정 시 정의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065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자동메일 발송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자동발송여부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자동으로 보냄 or 보내지 않음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5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자동발송 설정</a:t>
                      </a:r>
                      <a:endParaRPr b="1" i="0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별도 정의 (대상, 시간, 추출범위 등)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1281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(예시)</a:t>
                      </a:r>
                      <a:endParaRPr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회원가입 메일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주문확인 메일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입금확인 메일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배송/발송 메일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: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0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cap="none" strike="noStrike"/>
                        <a:t>수신거부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필수 항목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메일 수신을 원하지 않을 경우 수신 거부 링크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/>
                        <a:t>3/3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